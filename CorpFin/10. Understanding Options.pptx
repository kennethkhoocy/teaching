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7" r:id="rId1"/>
    <p:sldMasterId id="2147483842" r:id="rId2"/>
  </p:sldMasterIdLst>
  <p:notesMasterIdLst>
    <p:notesMasterId r:id="rId46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9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98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6" autoAdjust="0"/>
    <p:restoredTop sz="86093" autoAdjust="0"/>
  </p:normalViewPr>
  <p:slideViewPr>
    <p:cSldViewPr snapToGrid="0">
      <p:cViewPr varScale="1">
        <p:scale>
          <a:sx n="93" d="100"/>
          <a:sy n="93" d="100"/>
        </p:scale>
        <p:origin x="21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viewProps" Target="viewProp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62B2E0-41D4-4BD0-8F27-233CF851A423}" type="datetimeFigureOut">
              <a:rPr lang="en-US" smtClean="0"/>
              <a:t>3/20/2026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5CB39C3-7704-43B7-896D-E2F268455EE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24139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CB39C3-7704-43B7-896D-E2F268455EEA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72378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CB39C3-7704-43B7-896D-E2F268455EEA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70558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CB39C3-7704-43B7-896D-E2F268455EEA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83785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5D3966-DA23-FBD4-3E0D-ADE89AABB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31C531-A8DB-4A1B-1468-E34FC6ABB9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53558C-CDDA-6DB3-F607-47C24782BF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AD9053-06E0-B108-D28D-C8C0C4ACFD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CB39C3-7704-43B7-896D-E2F268455EEA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18320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CB39C3-7704-43B7-896D-E2F268455EEA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675571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CB39C3-7704-43B7-896D-E2F268455EEA}" type="slidenum">
              <a:rPr lang="en-US" smtClean="0"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38821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SG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C9AB8A9-18BE-4EDF-90DD-E48A588FE9E1}" type="datetime1">
              <a:rPr lang="en-US" smtClean="0"/>
              <a:t>3/20/2026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7128DA7F-F6FE-453F-B8BB-1900E7257DA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6799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SG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66308-2A9A-43A3-8189-DAED754C8691}" type="datetime1">
              <a:rPr lang="en-US" smtClean="0"/>
              <a:t>3/20/2026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7128DA7F-F6FE-453F-B8BB-1900E7257DA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89350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FC51178D-1D9D-49FF-BA4D-77D5F3F2ABE7}" type="datetime1">
              <a:rPr lang="en-US" smtClean="0"/>
              <a:t>3/20/2026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7128DA7F-F6FE-453F-B8BB-1900E7257DA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09607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SG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73D5F-7352-4D75-84BB-BEEE96694360}" type="datetime1">
              <a:rPr lang="en-US" smtClean="0"/>
              <a:t>3/20/2026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28DA7F-F6FE-453F-B8BB-1900E7257DA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6541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AEC2FA-EF00-4A47-8C60-11D9B66273AB}" type="datetime1">
              <a:rPr lang="en-US" smtClean="0"/>
              <a:t>3/20/2026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28DA7F-F6FE-453F-B8BB-1900E7257DA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16264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C03762-E4E4-41FB-87AC-4875A8A25370}" type="datetime1">
              <a:rPr lang="en-US" smtClean="0"/>
              <a:t>3/20/2026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28DA7F-F6FE-453F-B8BB-1900E7257DA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30672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3153EE-997E-48D6-BC05-B28D307B015C}" type="datetime1">
              <a:rPr lang="en-US" smtClean="0"/>
              <a:t>3/20/2026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28DA7F-F6FE-453F-B8BB-1900E7257DA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6849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E67CB83A-8CDA-4EB5-9F88-80628B7C644C}" type="datetime1">
              <a:rPr lang="en-US" smtClean="0"/>
              <a:t>3/20/2026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7128DA7F-F6FE-453F-B8BB-1900E7257DA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91122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FEB533-51F5-4A09-A69B-BDA5FA92A366}" type="datetime1">
              <a:rPr lang="en-US" smtClean="0"/>
              <a:t>3/20/2026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28DA7F-F6FE-453F-B8BB-1900E7257DA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20735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C11933-86B0-441A-B639-BD29FDFEFE70}" type="datetime1">
              <a:rPr lang="en-US" smtClean="0"/>
              <a:t>3/20/2026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28DA7F-F6FE-453F-B8BB-1900E7257DA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02138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74662F02-AFBF-41E7-AC4B-D00C212D7A74}" type="datetime1">
              <a:rPr lang="en-US" smtClean="0"/>
              <a:t>3/20/2026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7128DA7F-F6FE-453F-B8BB-1900E7257DA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933195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ne Main Placeho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D13536C2-DC17-4031-9948-17E37EF9911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57200" y="1276710"/>
            <a:ext cx="11277600" cy="4971691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Slide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Appendix Link">
            <a:extLst>
              <a:ext uri="{FF2B5EF4-FFF2-40B4-BE49-F238E27FC236}">
                <a16:creationId xmlns:a16="http://schemas.microsoft.com/office/drawing/2014/main" id="{B99614B3-68E1-0DE1-8128-450F1A4F372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98848" y="6336792"/>
            <a:ext cx="3206496" cy="192024"/>
          </a:xfrm>
        </p:spPr>
        <p:txBody>
          <a:bodyPr anchor="ctr">
            <a:noAutofit/>
          </a:bodyPr>
          <a:lstStyle>
            <a:lvl1pPr algn="ctr">
              <a:defRPr sz="900"/>
            </a:lvl1pPr>
            <a:lvl2pPr>
              <a:defRPr sz="900"/>
            </a:lvl2pPr>
            <a:lvl3pPr>
              <a:defRPr sz="900"/>
            </a:lvl3pPr>
            <a:lvl4pPr>
              <a:defRPr sz="900"/>
            </a:lvl4pPr>
            <a:lvl5pPr>
              <a:defRPr sz="900"/>
            </a:lvl5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Add text alternative link, if needed.</a:t>
            </a:r>
          </a:p>
        </p:txBody>
      </p:sp>
      <p:sp>
        <p:nvSpPr>
          <p:cNvPr id="10" name="Image Credit">
            <a:extLst>
              <a:ext uri="{FF2B5EF4-FFF2-40B4-BE49-F238E27FC236}">
                <a16:creationId xmlns:a16="http://schemas.microsoft.com/office/drawing/2014/main" id="{01A60C2A-770F-089E-ED18-3A2EE77616F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082800" y="6684264"/>
            <a:ext cx="9296400" cy="173736"/>
          </a:xfrm>
        </p:spPr>
        <p:txBody>
          <a:bodyPr anchor="ctr">
            <a:noAutofit/>
          </a:bodyPr>
          <a:lstStyle>
            <a:lvl1pPr algn="r">
              <a:defRPr sz="800"/>
            </a:lvl1pPr>
            <a:lvl2pPr algn="r">
              <a:defRPr sz="800"/>
            </a:lvl2pPr>
            <a:lvl3pPr algn="r">
              <a:defRPr sz="800"/>
            </a:lvl3pPr>
            <a:lvl4pPr algn="r">
              <a:defRPr sz="800"/>
            </a:lvl4pPr>
            <a:lvl5pPr algn="r">
              <a:defRPr sz="800"/>
            </a:lvl5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Insert Image Credit Here</a:t>
            </a:r>
          </a:p>
        </p:txBody>
      </p:sp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745DF60F-BF33-428F-883B-9C19F83780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8151E55-6873-49E2-B8D5-2F265E6F197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34220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360">
          <p15:clr>
            <a:srgbClr val="FBAE40"/>
          </p15:clr>
        </p15:guide>
        <p15:guide id="3" pos="264">
          <p15:clr>
            <a:srgbClr val="FBAE4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Main Placeho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>
            <a:extLst>
              <a:ext uri="{FF2B5EF4-FFF2-40B4-BE49-F238E27FC236}">
                <a16:creationId xmlns:a16="http://schemas.microsoft.com/office/drawing/2014/main" id="{A4407840-F6A4-4638-BB2F-9FBAA1A8146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4801"/>
            <a:ext cx="11277600" cy="678611"/>
          </a:xfrm>
          <a:prstGeom prst="rect">
            <a:avLst/>
          </a:prstGeom>
        </p:spPr>
        <p:txBody>
          <a:bodyPr anchor="ctr"/>
          <a:lstStyle>
            <a:lvl1pPr>
              <a:defRPr sz="2400"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D13536C2-DC17-4031-9948-17E37EF9911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57200" y="1276710"/>
            <a:ext cx="11277600" cy="4971691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Slide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Appendix Link">
            <a:extLst>
              <a:ext uri="{FF2B5EF4-FFF2-40B4-BE49-F238E27FC236}">
                <a16:creationId xmlns:a16="http://schemas.microsoft.com/office/drawing/2014/main" id="{B99614B3-68E1-0DE1-8128-450F1A4F372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98848" y="6336792"/>
            <a:ext cx="3206496" cy="192024"/>
          </a:xfrm>
        </p:spPr>
        <p:txBody>
          <a:bodyPr anchor="ctr">
            <a:noAutofit/>
          </a:bodyPr>
          <a:lstStyle>
            <a:lvl1pPr algn="ctr">
              <a:defRPr sz="900"/>
            </a:lvl1pPr>
            <a:lvl2pPr>
              <a:defRPr sz="900"/>
            </a:lvl2pPr>
            <a:lvl3pPr>
              <a:defRPr sz="900"/>
            </a:lvl3pPr>
            <a:lvl4pPr>
              <a:defRPr sz="900"/>
            </a:lvl4pPr>
            <a:lvl5pPr>
              <a:defRPr sz="900"/>
            </a:lvl5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Add text alternative link, if needed.</a:t>
            </a:r>
          </a:p>
        </p:txBody>
      </p:sp>
      <p:sp>
        <p:nvSpPr>
          <p:cNvPr id="10" name="Image Credit">
            <a:extLst>
              <a:ext uri="{FF2B5EF4-FFF2-40B4-BE49-F238E27FC236}">
                <a16:creationId xmlns:a16="http://schemas.microsoft.com/office/drawing/2014/main" id="{01A60C2A-770F-089E-ED18-3A2EE77616F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082800" y="6684264"/>
            <a:ext cx="9296400" cy="173736"/>
          </a:xfrm>
        </p:spPr>
        <p:txBody>
          <a:bodyPr anchor="ctr">
            <a:noAutofit/>
          </a:bodyPr>
          <a:lstStyle>
            <a:lvl1pPr algn="r">
              <a:defRPr sz="800"/>
            </a:lvl1pPr>
            <a:lvl2pPr algn="r">
              <a:defRPr sz="800"/>
            </a:lvl2pPr>
            <a:lvl3pPr algn="r">
              <a:defRPr sz="800"/>
            </a:lvl3pPr>
            <a:lvl4pPr algn="r">
              <a:defRPr sz="800"/>
            </a:lvl4pPr>
            <a:lvl5pPr algn="r">
              <a:defRPr sz="800"/>
            </a:lvl5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Insert Image Credit Here</a:t>
            </a:r>
          </a:p>
        </p:txBody>
      </p:sp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745DF60F-BF33-428F-883B-9C19F83780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8151E55-6873-49E2-B8D5-2F265E6F197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67267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360">
          <p15:clr>
            <a:srgbClr val="FBAE40"/>
          </p15:clr>
        </p15:guide>
        <p15:guide id="3" pos="264">
          <p15:clr>
            <a:srgbClr val="FBAE4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Horizontal Main Placehol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>
            <a:extLst>
              <a:ext uri="{FF2B5EF4-FFF2-40B4-BE49-F238E27FC236}">
                <a16:creationId xmlns:a16="http://schemas.microsoft.com/office/drawing/2014/main" id="{A4407840-F6A4-4638-BB2F-9FBAA1A8146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4801"/>
            <a:ext cx="11277600" cy="678611"/>
          </a:xfrm>
          <a:prstGeom prst="rect">
            <a:avLst/>
          </a:prstGeom>
        </p:spPr>
        <p:txBody>
          <a:bodyPr anchor="ctr"/>
          <a:lstStyle>
            <a:lvl1pPr>
              <a:defRPr sz="2400"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D13536C2-DC17-4031-9948-17E37EF9911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57200" y="1276710"/>
            <a:ext cx="11277600" cy="2838091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Slide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B2D170F-7AF9-40BB-A11B-08474DF5C3A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57200" y="4343400"/>
            <a:ext cx="11277600" cy="1905000"/>
          </a:xfrm>
        </p:spPr>
        <p:txBody>
          <a:bodyPr/>
          <a:lstStyle>
            <a:lvl1pPr>
              <a:defRPr/>
            </a:lvl1pPr>
            <a:lvl4pPr marL="455613" indent="0">
              <a:buNone/>
              <a:defRPr/>
            </a:lvl4pPr>
          </a:lstStyle>
          <a:p>
            <a:pPr lvl="0"/>
            <a:r>
              <a:rPr lang="en-US" dirty="0"/>
              <a:t>Slide Content 2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Appendix Link">
            <a:extLst>
              <a:ext uri="{FF2B5EF4-FFF2-40B4-BE49-F238E27FC236}">
                <a16:creationId xmlns:a16="http://schemas.microsoft.com/office/drawing/2014/main" id="{2D4455DD-B128-CECB-404F-2A75BE70BFF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498848" y="6336792"/>
            <a:ext cx="3206496" cy="192024"/>
          </a:xfrm>
        </p:spPr>
        <p:txBody>
          <a:bodyPr anchor="ctr">
            <a:noAutofit/>
          </a:bodyPr>
          <a:lstStyle>
            <a:lvl1pPr algn="ctr">
              <a:defRPr sz="900"/>
            </a:lvl1pPr>
            <a:lvl2pPr>
              <a:defRPr sz="900"/>
            </a:lvl2pPr>
            <a:lvl3pPr>
              <a:defRPr sz="900"/>
            </a:lvl3pPr>
            <a:lvl4pPr>
              <a:defRPr sz="900"/>
            </a:lvl4pPr>
            <a:lvl5pPr>
              <a:defRPr sz="900"/>
            </a:lvl5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Add text alternative link, if needed.</a:t>
            </a:r>
          </a:p>
        </p:txBody>
      </p:sp>
      <p:sp>
        <p:nvSpPr>
          <p:cNvPr id="8" name="Image Credit">
            <a:extLst>
              <a:ext uri="{FF2B5EF4-FFF2-40B4-BE49-F238E27FC236}">
                <a16:creationId xmlns:a16="http://schemas.microsoft.com/office/drawing/2014/main" id="{79309574-D610-BFFB-5373-96999640699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082800" y="6684264"/>
            <a:ext cx="9296400" cy="173736"/>
          </a:xfrm>
        </p:spPr>
        <p:txBody>
          <a:bodyPr anchor="ctr">
            <a:noAutofit/>
          </a:bodyPr>
          <a:lstStyle>
            <a:lvl1pPr algn="r">
              <a:defRPr sz="800"/>
            </a:lvl1pPr>
            <a:lvl2pPr algn="r">
              <a:defRPr sz="800"/>
            </a:lvl2pPr>
            <a:lvl3pPr algn="r">
              <a:defRPr sz="800"/>
            </a:lvl3pPr>
            <a:lvl4pPr algn="r">
              <a:defRPr sz="800"/>
            </a:lvl4pPr>
            <a:lvl5pPr algn="r">
              <a:defRPr sz="800"/>
            </a:lvl5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Insert Image Credit Here</a:t>
            </a:r>
          </a:p>
        </p:txBody>
      </p:sp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745DF60F-BF33-428F-883B-9C19F83780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8151E55-6873-49E2-B8D5-2F265E6F197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35221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92">
          <p15:clr>
            <a:srgbClr val="FBAE40"/>
          </p15:clr>
        </p15:guide>
        <p15:guide id="2" orient="horz" pos="2736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mparison Placehol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>
            <a:extLst>
              <a:ext uri="{FF2B5EF4-FFF2-40B4-BE49-F238E27FC236}">
                <a16:creationId xmlns:a16="http://schemas.microsoft.com/office/drawing/2014/main" id="{A4407840-F6A4-4638-BB2F-9FBAA1A8146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4801"/>
            <a:ext cx="11277600" cy="678611"/>
          </a:xfrm>
          <a:prstGeom prst="rect">
            <a:avLst/>
          </a:prstGeom>
        </p:spPr>
        <p:txBody>
          <a:bodyPr anchor="ctr"/>
          <a:lstStyle>
            <a:lvl1pPr>
              <a:defRPr sz="2400"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D13536C2-DC17-4031-9948-17E37EF9911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57200" y="1276710"/>
            <a:ext cx="5435600" cy="4971691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Slide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B2D170F-7AF9-40BB-A11B-08474DF5C3A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99200" y="1280160"/>
            <a:ext cx="5435600" cy="49911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Slide Content 2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Appendix Link">
            <a:extLst>
              <a:ext uri="{FF2B5EF4-FFF2-40B4-BE49-F238E27FC236}">
                <a16:creationId xmlns:a16="http://schemas.microsoft.com/office/drawing/2014/main" id="{68583DF4-3680-1BFA-EEF3-AB9E3536D2C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498848" y="6336792"/>
            <a:ext cx="3206496" cy="192024"/>
          </a:xfrm>
        </p:spPr>
        <p:txBody>
          <a:bodyPr anchor="ctr">
            <a:noAutofit/>
          </a:bodyPr>
          <a:lstStyle>
            <a:lvl1pPr algn="ctr">
              <a:defRPr sz="900"/>
            </a:lvl1pPr>
            <a:lvl2pPr>
              <a:defRPr sz="900"/>
            </a:lvl2pPr>
            <a:lvl3pPr>
              <a:defRPr sz="900"/>
            </a:lvl3pPr>
            <a:lvl4pPr>
              <a:defRPr sz="900"/>
            </a:lvl4pPr>
            <a:lvl5pPr>
              <a:defRPr sz="900"/>
            </a:lvl5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Add text alternative link, if needed.</a:t>
            </a:r>
          </a:p>
        </p:txBody>
      </p:sp>
      <p:sp>
        <p:nvSpPr>
          <p:cNvPr id="8" name="Image Credit">
            <a:extLst>
              <a:ext uri="{FF2B5EF4-FFF2-40B4-BE49-F238E27FC236}">
                <a16:creationId xmlns:a16="http://schemas.microsoft.com/office/drawing/2014/main" id="{D1776C0A-7638-5444-47F7-AC1D483DCB4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082800" y="6684264"/>
            <a:ext cx="9296400" cy="173736"/>
          </a:xfrm>
        </p:spPr>
        <p:txBody>
          <a:bodyPr anchor="ctr">
            <a:noAutofit/>
          </a:bodyPr>
          <a:lstStyle>
            <a:lvl1pPr algn="r">
              <a:defRPr sz="800"/>
            </a:lvl1pPr>
            <a:lvl2pPr algn="r">
              <a:defRPr sz="800"/>
            </a:lvl2pPr>
            <a:lvl3pPr algn="r">
              <a:defRPr sz="800"/>
            </a:lvl3pPr>
            <a:lvl4pPr algn="r">
              <a:defRPr sz="800"/>
            </a:lvl4pPr>
            <a:lvl5pPr algn="r">
              <a:defRPr sz="800"/>
            </a:lvl5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Insert Image Credit Here</a:t>
            </a:r>
          </a:p>
        </p:txBody>
      </p:sp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745DF60F-BF33-428F-883B-9C19F83780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8151E55-6873-49E2-B8D5-2F265E6F197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09699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92">
          <p15:clr>
            <a:srgbClr val="FBAE40"/>
          </p15:clr>
        </p15:guide>
        <p15:guide id="2" orient="horz" pos="2736">
          <p15:clr>
            <a:srgbClr val="FBAE40"/>
          </p15:clr>
        </p15:guide>
        <p15:guide id="3" pos="2880">
          <p15:clr>
            <a:srgbClr val="FBAE40"/>
          </p15:clr>
        </p15:guide>
        <p15:guide id="4" pos="2976">
          <p15:clr>
            <a:srgbClr val="FBAE40"/>
          </p15:clr>
        </p15:guide>
        <p15:guide id="5" pos="2784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Main One Second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>
            <a:extLst>
              <a:ext uri="{FF2B5EF4-FFF2-40B4-BE49-F238E27FC236}">
                <a16:creationId xmlns:a16="http://schemas.microsoft.com/office/drawing/2014/main" id="{A4407840-F6A4-4638-BB2F-9FBAA1A8146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4801"/>
            <a:ext cx="11277600" cy="678611"/>
          </a:xfrm>
          <a:prstGeom prst="rect">
            <a:avLst/>
          </a:prstGeom>
        </p:spPr>
        <p:txBody>
          <a:bodyPr anchor="ctr"/>
          <a:lstStyle>
            <a:lvl1pPr>
              <a:defRPr sz="2400"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D13536C2-DC17-4031-9948-17E37EF9911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57200" y="1280161"/>
            <a:ext cx="7721600" cy="4971691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Slide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B2D170F-7AF9-40BB-A11B-08474DF5C3A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557403" y="1280160"/>
            <a:ext cx="3177396" cy="49911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Slide Content 2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Appendix Link">
            <a:extLst>
              <a:ext uri="{FF2B5EF4-FFF2-40B4-BE49-F238E27FC236}">
                <a16:creationId xmlns:a16="http://schemas.microsoft.com/office/drawing/2014/main" id="{C7C4A88E-C6C1-9C26-54D3-56A7322E0B9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498848" y="6336792"/>
            <a:ext cx="3206496" cy="192024"/>
          </a:xfrm>
        </p:spPr>
        <p:txBody>
          <a:bodyPr anchor="ctr">
            <a:noAutofit/>
          </a:bodyPr>
          <a:lstStyle>
            <a:lvl1pPr algn="ctr">
              <a:defRPr sz="900"/>
            </a:lvl1pPr>
            <a:lvl2pPr>
              <a:defRPr sz="900"/>
            </a:lvl2pPr>
            <a:lvl3pPr>
              <a:defRPr sz="900"/>
            </a:lvl3pPr>
            <a:lvl4pPr>
              <a:defRPr sz="900"/>
            </a:lvl4pPr>
            <a:lvl5pPr>
              <a:defRPr sz="900"/>
            </a:lvl5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Add text alternative link, if needed.</a:t>
            </a:r>
          </a:p>
        </p:txBody>
      </p:sp>
      <p:sp>
        <p:nvSpPr>
          <p:cNvPr id="8" name="Image Credit">
            <a:extLst>
              <a:ext uri="{FF2B5EF4-FFF2-40B4-BE49-F238E27FC236}">
                <a16:creationId xmlns:a16="http://schemas.microsoft.com/office/drawing/2014/main" id="{4774A48E-4907-6467-DBA3-7082350CDF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082800" y="6684264"/>
            <a:ext cx="9296400" cy="173736"/>
          </a:xfrm>
        </p:spPr>
        <p:txBody>
          <a:bodyPr anchor="ctr">
            <a:noAutofit/>
          </a:bodyPr>
          <a:lstStyle>
            <a:lvl1pPr algn="r">
              <a:defRPr sz="800"/>
            </a:lvl1pPr>
            <a:lvl2pPr algn="r">
              <a:defRPr sz="800"/>
            </a:lvl2pPr>
            <a:lvl3pPr algn="r">
              <a:defRPr sz="800"/>
            </a:lvl3pPr>
            <a:lvl4pPr algn="r">
              <a:defRPr sz="800"/>
            </a:lvl4pPr>
            <a:lvl5pPr algn="r">
              <a:defRPr sz="800"/>
            </a:lvl5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Insert Image Credit Here</a:t>
            </a:r>
          </a:p>
        </p:txBody>
      </p:sp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745DF60F-BF33-428F-883B-9C19F83780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8151E55-6873-49E2-B8D5-2F265E6F197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52919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92">
          <p15:clr>
            <a:srgbClr val="FBAE40"/>
          </p15:clr>
        </p15:guide>
        <p15:guide id="2" orient="horz" pos="2736">
          <p15:clr>
            <a:srgbClr val="FBAE40"/>
          </p15:clr>
        </p15:guide>
        <p15:guide id="4" pos="4032">
          <p15:clr>
            <a:srgbClr val="FBAE40"/>
          </p15:clr>
        </p15:guide>
        <p15:guide id="5" pos="3864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with Third as Acc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>
            <a:extLst>
              <a:ext uri="{FF2B5EF4-FFF2-40B4-BE49-F238E27FC236}">
                <a16:creationId xmlns:a16="http://schemas.microsoft.com/office/drawing/2014/main" id="{A4407840-F6A4-4638-BB2F-9FBAA1A8146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4801"/>
            <a:ext cx="11277600" cy="678611"/>
          </a:xfrm>
          <a:prstGeom prst="rect">
            <a:avLst/>
          </a:prstGeom>
        </p:spPr>
        <p:txBody>
          <a:bodyPr anchor="ctr"/>
          <a:lstStyle>
            <a:lvl1pPr>
              <a:defRPr sz="2400"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D13536C2-DC17-4031-9948-17E37EF9911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57200" y="1276710"/>
            <a:ext cx="11277600" cy="2838091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Slide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B2D170F-7AF9-40BB-A11B-08474DF5C3A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57201" y="4343400"/>
            <a:ext cx="7721600" cy="1905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Slide Content 2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22432755-BCF5-451F-968D-CFFD10D87B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534400" y="4343400"/>
            <a:ext cx="3200400" cy="1905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Slide Content 3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Appendix Link">
            <a:extLst>
              <a:ext uri="{FF2B5EF4-FFF2-40B4-BE49-F238E27FC236}">
                <a16:creationId xmlns:a16="http://schemas.microsoft.com/office/drawing/2014/main" id="{440D52BF-78D2-BC33-D8BC-6EC31F5A606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498848" y="6336792"/>
            <a:ext cx="3206496" cy="192024"/>
          </a:xfrm>
        </p:spPr>
        <p:txBody>
          <a:bodyPr anchor="ctr">
            <a:noAutofit/>
          </a:bodyPr>
          <a:lstStyle>
            <a:lvl1pPr algn="ctr">
              <a:defRPr sz="900"/>
            </a:lvl1pPr>
            <a:lvl2pPr>
              <a:defRPr sz="900"/>
            </a:lvl2pPr>
            <a:lvl3pPr>
              <a:defRPr sz="900"/>
            </a:lvl3pPr>
            <a:lvl4pPr>
              <a:defRPr sz="900"/>
            </a:lvl4pPr>
            <a:lvl5pPr>
              <a:defRPr sz="900"/>
            </a:lvl5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Add text alternative link, if needed.</a:t>
            </a:r>
          </a:p>
        </p:txBody>
      </p:sp>
      <p:sp>
        <p:nvSpPr>
          <p:cNvPr id="10" name="Image Credit">
            <a:extLst>
              <a:ext uri="{FF2B5EF4-FFF2-40B4-BE49-F238E27FC236}">
                <a16:creationId xmlns:a16="http://schemas.microsoft.com/office/drawing/2014/main" id="{AE400176-E509-870D-D3BF-2E071B2553D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082800" y="6684264"/>
            <a:ext cx="9296400" cy="173736"/>
          </a:xfrm>
        </p:spPr>
        <p:txBody>
          <a:bodyPr anchor="ctr">
            <a:noAutofit/>
          </a:bodyPr>
          <a:lstStyle>
            <a:lvl1pPr algn="r">
              <a:defRPr sz="800"/>
            </a:lvl1pPr>
            <a:lvl2pPr algn="r">
              <a:defRPr sz="800"/>
            </a:lvl2pPr>
            <a:lvl3pPr algn="r">
              <a:defRPr sz="800"/>
            </a:lvl3pPr>
            <a:lvl4pPr algn="r">
              <a:defRPr sz="800"/>
            </a:lvl4pPr>
            <a:lvl5pPr algn="r">
              <a:defRPr sz="800"/>
            </a:lvl5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Insert Image Credit Here</a:t>
            </a:r>
          </a:p>
        </p:txBody>
      </p:sp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745DF60F-BF33-428F-883B-9C19F83780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8151E55-6873-49E2-B8D5-2F265E6F197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16880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92">
          <p15:clr>
            <a:srgbClr val="FBAE40"/>
          </p15:clr>
        </p15:guide>
        <p15:guide id="2" orient="horz" pos="2736">
          <p15:clr>
            <a:srgbClr val="FBAE40"/>
          </p15:clr>
        </p15:guide>
        <p15:guide id="4" pos="4032">
          <p15:clr>
            <a:srgbClr val="FBAE40"/>
          </p15:clr>
        </p15:guide>
        <p15:guide id="5" pos="3864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Main Placehol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>
            <a:extLst>
              <a:ext uri="{FF2B5EF4-FFF2-40B4-BE49-F238E27FC236}">
                <a16:creationId xmlns:a16="http://schemas.microsoft.com/office/drawing/2014/main" id="{A4407840-F6A4-4638-BB2F-9FBAA1A8146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4801"/>
            <a:ext cx="11277600" cy="678611"/>
          </a:xfrm>
          <a:prstGeom prst="rect">
            <a:avLst/>
          </a:prstGeom>
        </p:spPr>
        <p:txBody>
          <a:bodyPr anchor="ctr"/>
          <a:lstStyle>
            <a:lvl1pPr>
              <a:defRPr sz="2400"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D13536C2-DC17-4031-9948-17E37EF9911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57200" y="1276710"/>
            <a:ext cx="11277600" cy="612476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Slide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B2D170F-7AF9-40BB-A11B-08474DF5C3A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57200" y="2070496"/>
            <a:ext cx="11277600" cy="64913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Slide Content 2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3356A590-66B5-4770-8441-82DC031F56EA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57200" y="2900944"/>
            <a:ext cx="11277600" cy="6731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Slide Content 3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1" name="Content Placeholder 4">
            <a:extLst>
              <a:ext uri="{FF2B5EF4-FFF2-40B4-BE49-F238E27FC236}">
                <a16:creationId xmlns:a16="http://schemas.microsoft.com/office/drawing/2014/main" id="{30BD29E5-BD7B-4CD0-9B09-8F8B24F89FBE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57200" y="3755354"/>
            <a:ext cx="11277600" cy="6985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Slide Content 4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3" name="Content Placeholder 5">
            <a:extLst>
              <a:ext uri="{FF2B5EF4-FFF2-40B4-BE49-F238E27FC236}">
                <a16:creationId xmlns:a16="http://schemas.microsoft.com/office/drawing/2014/main" id="{E908CA92-5DB2-4DC0-937B-1B178AA91781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457200" y="4635164"/>
            <a:ext cx="11277600" cy="6985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Slide Content 5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5" name="Content Placeholder 6">
            <a:extLst>
              <a:ext uri="{FF2B5EF4-FFF2-40B4-BE49-F238E27FC236}">
                <a16:creationId xmlns:a16="http://schemas.microsoft.com/office/drawing/2014/main" id="{8B728CCD-2639-461B-9841-57505AC1346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5514976"/>
            <a:ext cx="11277600" cy="73342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Slide Content 6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Appendix Link">
            <a:extLst>
              <a:ext uri="{FF2B5EF4-FFF2-40B4-BE49-F238E27FC236}">
                <a16:creationId xmlns:a16="http://schemas.microsoft.com/office/drawing/2014/main" id="{9EC53C63-EC17-7106-362C-B3EB75D4B5F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498848" y="6336792"/>
            <a:ext cx="3206496" cy="192024"/>
          </a:xfrm>
        </p:spPr>
        <p:txBody>
          <a:bodyPr anchor="ctr">
            <a:noAutofit/>
          </a:bodyPr>
          <a:lstStyle>
            <a:lvl1pPr algn="ctr">
              <a:defRPr sz="900"/>
            </a:lvl1pPr>
            <a:lvl2pPr>
              <a:defRPr sz="900"/>
            </a:lvl2pPr>
            <a:lvl3pPr>
              <a:defRPr sz="900"/>
            </a:lvl3pPr>
            <a:lvl4pPr>
              <a:defRPr sz="900"/>
            </a:lvl4pPr>
            <a:lvl5pPr>
              <a:defRPr sz="900"/>
            </a:lvl5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Add text alternative link, if needed.</a:t>
            </a:r>
          </a:p>
        </p:txBody>
      </p:sp>
      <p:sp>
        <p:nvSpPr>
          <p:cNvPr id="10" name="Image Credit">
            <a:extLst>
              <a:ext uri="{FF2B5EF4-FFF2-40B4-BE49-F238E27FC236}">
                <a16:creationId xmlns:a16="http://schemas.microsoft.com/office/drawing/2014/main" id="{62AAB954-99EB-E7CF-6444-CABDCDE5BC7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082800" y="6684264"/>
            <a:ext cx="9296400" cy="173736"/>
          </a:xfrm>
        </p:spPr>
        <p:txBody>
          <a:bodyPr anchor="ctr">
            <a:noAutofit/>
          </a:bodyPr>
          <a:lstStyle>
            <a:lvl1pPr algn="r">
              <a:defRPr sz="800"/>
            </a:lvl1pPr>
            <a:lvl2pPr algn="r">
              <a:defRPr sz="800"/>
            </a:lvl2pPr>
            <a:lvl3pPr algn="r">
              <a:defRPr sz="800"/>
            </a:lvl3pPr>
            <a:lvl4pPr algn="r">
              <a:defRPr sz="800"/>
            </a:lvl4pPr>
            <a:lvl5pPr algn="r">
              <a:defRPr sz="800"/>
            </a:lvl5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Insert Image Credit Here</a:t>
            </a:r>
          </a:p>
        </p:txBody>
      </p:sp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745DF60F-BF33-428F-883B-9C19F83780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8151E55-6873-49E2-B8D5-2F265E6F197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11821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92">
          <p15:clr>
            <a:srgbClr val="FBAE40"/>
          </p15:clr>
        </p15:guide>
        <p15:guide id="2" orient="horz" pos="2736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One Main Placeho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MGH Shape">
            <a:extLst>
              <a:ext uri="{FF2B5EF4-FFF2-40B4-BE49-F238E27FC236}">
                <a16:creationId xmlns:a16="http://schemas.microsoft.com/office/drawing/2014/main" id="{7270E885-EF49-1A67-8A6F-D8E31640E4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8830323" y="1"/>
            <a:ext cx="3361677" cy="6623843"/>
            <a:chOff x="3491346" y="0"/>
            <a:chExt cx="2508933" cy="6367263"/>
          </a:xfrm>
        </p:grpSpPr>
        <p:sp>
          <p:nvSpPr>
            <p:cNvPr id="7" name="Freeform 11">
              <a:extLst>
                <a:ext uri="{FF2B5EF4-FFF2-40B4-BE49-F238E27FC236}">
                  <a16:creationId xmlns:a16="http://schemas.microsoft.com/office/drawing/2014/main" id="{1527B357-5D9A-BEAB-AA19-315A33642D17}"/>
                </a:ext>
              </a:extLst>
            </p:cNvPr>
            <p:cNvSpPr/>
            <p:nvPr/>
          </p:nvSpPr>
          <p:spPr>
            <a:xfrm rot="10800000">
              <a:off x="5468761" y="1352709"/>
              <a:ext cx="531517" cy="1821241"/>
            </a:xfrm>
            <a:custGeom>
              <a:avLst/>
              <a:gdLst>
                <a:gd name="connsiteX0" fmla="*/ 0 w 531517"/>
                <a:gd name="connsiteY0" fmla="*/ 1821241 h 1821241"/>
                <a:gd name="connsiteX1" fmla="*/ 0 w 531517"/>
                <a:gd name="connsiteY1" fmla="*/ 0 h 1821241"/>
                <a:gd name="connsiteX2" fmla="*/ 531517 w 531517"/>
                <a:gd name="connsiteY2" fmla="*/ 672400 h 1821241"/>
                <a:gd name="connsiteX3" fmla="*/ 0 w 531517"/>
                <a:gd name="connsiteY3" fmla="*/ 1821241 h 18212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1517" h="1821241">
                  <a:moveTo>
                    <a:pt x="0" y="1821241"/>
                  </a:moveTo>
                  <a:lnTo>
                    <a:pt x="0" y="0"/>
                  </a:lnTo>
                  <a:lnTo>
                    <a:pt x="531517" y="672400"/>
                  </a:lnTo>
                  <a:lnTo>
                    <a:pt x="0" y="1821241"/>
                  </a:lnTo>
                  <a:close/>
                </a:path>
              </a:pathLst>
            </a:custGeom>
            <a:solidFill>
              <a:srgbClr val="9F22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2"/>
                </a:solidFill>
              </a:endParaRPr>
            </a:p>
          </p:txBody>
        </p:sp>
        <p:sp>
          <p:nvSpPr>
            <p:cNvPr id="8" name="Freeform 12">
              <a:extLst>
                <a:ext uri="{FF2B5EF4-FFF2-40B4-BE49-F238E27FC236}">
                  <a16:creationId xmlns:a16="http://schemas.microsoft.com/office/drawing/2014/main" id="{13789522-1B9E-0A06-3374-29C8718672C2}"/>
                </a:ext>
              </a:extLst>
            </p:cNvPr>
            <p:cNvSpPr/>
            <p:nvPr/>
          </p:nvSpPr>
          <p:spPr>
            <a:xfrm rot="10800000">
              <a:off x="3491346" y="0"/>
              <a:ext cx="2508932" cy="2501550"/>
            </a:xfrm>
            <a:custGeom>
              <a:avLst/>
              <a:gdLst>
                <a:gd name="connsiteX0" fmla="*/ 2508932 w 2508932"/>
                <a:gd name="connsiteY0" fmla="*/ 2501550 h 2501550"/>
                <a:gd name="connsiteX1" fmla="*/ 0 w 2508932"/>
                <a:gd name="connsiteY1" fmla="*/ 2501550 h 2501550"/>
                <a:gd name="connsiteX2" fmla="*/ 0 w 2508932"/>
                <a:gd name="connsiteY2" fmla="*/ 1148841 h 2501550"/>
                <a:gd name="connsiteX3" fmla="*/ 531517 w 2508932"/>
                <a:gd name="connsiteY3" fmla="*/ 0 h 2501550"/>
                <a:gd name="connsiteX4" fmla="*/ 2508932 w 2508932"/>
                <a:gd name="connsiteY4" fmla="*/ 2501550 h 2501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08932" h="2501550">
                  <a:moveTo>
                    <a:pt x="2508932" y="2501550"/>
                  </a:moveTo>
                  <a:lnTo>
                    <a:pt x="0" y="2501550"/>
                  </a:lnTo>
                  <a:lnTo>
                    <a:pt x="0" y="1148841"/>
                  </a:lnTo>
                  <a:lnTo>
                    <a:pt x="531517" y="0"/>
                  </a:lnTo>
                  <a:lnTo>
                    <a:pt x="2508932" y="2501550"/>
                  </a:lnTo>
                  <a:close/>
                </a:path>
              </a:pathLst>
            </a:custGeom>
            <a:solidFill>
              <a:srgbClr val="E2DFC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2"/>
                </a:solidFill>
              </a:endParaRPr>
            </a:p>
          </p:txBody>
        </p:sp>
        <p:sp>
          <p:nvSpPr>
            <p:cNvPr id="9" name="Freeform 13">
              <a:extLst>
                <a:ext uri="{FF2B5EF4-FFF2-40B4-BE49-F238E27FC236}">
                  <a16:creationId xmlns:a16="http://schemas.microsoft.com/office/drawing/2014/main" id="{2F359338-0AA2-A49E-B0A1-A042CE3D667B}"/>
                </a:ext>
              </a:extLst>
            </p:cNvPr>
            <p:cNvSpPr/>
            <p:nvPr/>
          </p:nvSpPr>
          <p:spPr>
            <a:xfrm rot="10800000">
              <a:off x="3680272" y="1352707"/>
              <a:ext cx="2320007" cy="5014556"/>
            </a:xfrm>
            <a:custGeom>
              <a:avLst/>
              <a:gdLst>
                <a:gd name="connsiteX0" fmla="*/ 0 w 2320007"/>
                <a:gd name="connsiteY0" fmla="*/ 5014556 h 5014556"/>
                <a:gd name="connsiteX1" fmla="*/ 0 w 2320007"/>
                <a:gd name="connsiteY1" fmla="*/ 0 h 5014556"/>
                <a:gd name="connsiteX2" fmla="*/ 2320007 w 2320007"/>
                <a:gd name="connsiteY2" fmla="*/ 0 h 5014556"/>
                <a:gd name="connsiteX3" fmla="*/ 531518 w 2320007"/>
                <a:gd name="connsiteY3" fmla="*/ 3865713 h 5014556"/>
                <a:gd name="connsiteX4" fmla="*/ 1 w 2320007"/>
                <a:gd name="connsiteY4" fmla="*/ 3193313 h 5014556"/>
                <a:gd name="connsiteX5" fmla="*/ 1 w 2320007"/>
                <a:gd name="connsiteY5" fmla="*/ 5014554 h 5014556"/>
                <a:gd name="connsiteX6" fmla="*/ 0 w 2320007"/>
                <a:gd name="connsiteY6" fmla="*/ 5014556 h 5014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20007" h="5014556">
                  <a:moveTo>
                    <a:pt x="0" y="5014556"/>
                  </a:moveTo>
                  <a:lnTo>
                    <a:pt x="0" y="0"/>
                  </a:lnTo>
                  <a:lnTo>
                    <a:pt x="2320007" y="0"/>
                  </a:lnTo>
                  <a:lnTo>
                    <a:pt x="531518" y="3865713"/>
                  </a:lnTo>
                  <a:lnTo>
                    <a:pt x="1" y="3193313"/>
                  </a:lnTo>
                  <a:lnTo>
                    <a:pt x="1" y="5014554"/>
                  </a:lnTo>
                  <a:lnTo>
                    <a:pt x="0" y="501455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2"/>
                </a:solidFill>
              </a:endParaRPr>
            </a:p>
          </p:txBody>
        </p:sp>
      </p:grpSp>
      <p:sp>
        <p:nvSpPr>
          <p:cNvPr id="2" name="Slide Title">
            <a:extLst>
              <a:ext uri="{FF2B5EF4-FFF2-40B4-BE49-F238E27FC236}">
                <a16:creationId xmlns:a16="http://schemas.microsoft.com/office/drawing/2014/main" id="{A4407840-F6A4-4638-BB2F-9FBAA1A8146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4801"/>
            <a:ext cx="11277600" cy="678611"/>
          </a:xfrm>
          <a:prstGeom prst="rect">
            <a:avLst/>
          </a:prstGeom>
        </p:spPr>
        <p:txBody>
          <a:bodyPr anchor="ctr"/>
          <a:lstStyle>
            <a:lvl1pPr>
              <a:defRPr sz="2400"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D13536C2-DC17-4031-9948-17E37EF9911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57200" y="1276710"/>
            <a:ext cx="11277600" cy="4971691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Slide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Appendix Link">
            <a:extLst>
              <a:ext uri="{FF2B5EF4-FFF2-40B4-BE49-F238E27FC236}">
                <a16:creationId xmlns:a16="http://schemas.microsoft.com/office/drawing/2014/main" id="{B99614B3-68E1-0DE1-8128-450F1A4F372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98848" y="6336792"/>
            <a:ext cx="3206496" cy="192024"/>
          </a:xfrm>
        </p:spPr>
        <p:txBody>
          <a:bodyPr anchor="ctr">
            <a:noAutofit/>
          </a:bodyPr>
          <a:lstStyle>
            <a:lvl1pPr algn="ctr">
              <a:defRPr sz="900"/>
            </a:lvl1pPr>
            <a:lvl2pPr>
              <a:defRPr sz="900"/>
            </a:lvl2pPr>
            <a:lvl3pPr>
              <a:defRPr sz="900"/>
            </a:lvl3pPr>
            <a:lvl4pPr>
              <a:defRPr sz="900"/>
            </a:lvl4pPr>
            <a:lvl5pPr>
              <a:defRPr sz="900"/>
            </a:lvl5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Add text alternative link, if needed.</a:t>
            </a:r>
          </a:p>
        </p:txBody>
      </p:sp>
      <p:sp>
        <p:nvSpPr>
          <p:cNvPr id="10" name="Image Credit">
            <a:extLst>
              <a:ext uri="{FF2B5EF4-FFF2-40B4-BE49-F238E27FC236}">
                <a16:creationId xmlns:a16="http://schemas.microsoft.com/office/drawing/2014/main" id="{01A60C2A-770F-089E-ED18-3A2EE77616F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082800" y="6684264"/>
            <a:ext cx="9296400" cy="173736"/>
          </a:xfrm>
        </p:spPr>
        <p:txBody>
          <a:bodyPr anchor="ctr">
            <a:noAutofit/>
          </a:bodyPr>
          <a:lstStyle>
            <a:lvl1pPr algn="r">
              <a:defRPr sz="800"/>
            </a:lvl1pPr>
            <a:lvl2pPr algn="r">
              <a:defRPr sz="800"/>
            </a:lvl2pPr>
            <a:lvl3pPr algn="r">
              <a:defRPr sz="800"/>
            </a:lvl3pPr>
            <a:lvl4pPr algn="r">
              <a:defRPr sz="800"/>
            </a:lvl4pPr>
            <a:lvl5pPr algn="r">
              <a:defRPr sz="800"/>
            </a:lvl5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Insert Image Credit Here</a:t>
            </a:r>
          </a:p>
        </p:txBody>
      </p:sp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745DF60F-BF33-428F-883B-9C19F83780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8151E55-6873-49E2-B8D5-2F265E6F197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20801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360">
          <p15:clr>
            <a:srgbClr val="FBAE40"/>
          </p15:clr>
        </p15:guide>
        <p15:guide id="3" pos="264">
          <p15:clr>
            <a:srgbClr val="FBAE4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idden Slide Title">
            <a:extLst>
              <a:ext uri="{FF2B5EF4-FFF2-40B4-BE49-F238E27FC236}">
                <a16:creationId xmlns:a16="http://schemas.microsoft.com/office/drawing/2014/main" id="{D3229D0C-04EF-482F-B26C-8D49CD33DB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67933" y="418392"/>
            <a:ext cx="3056137" cy="2918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Add hidden title here </a:t>
            </a:r>
          </a:p>
        </p:txBody>
      </p:sp>
      <p:pic>
        <p:nvPicPr>
          <p:cNvPr id="6" name="MGH Logo">
            <a:extLst>
              <a:ext uri="{FF2B5EF4-FFF2-40B4-BE49-F238E27FC236}">
                <a16:creationId xmlns:a16="http://schemas.microsoft.com/office/drawing/2014/main" id="{60DCFDF5-2A5B-440E-888A-BC0BFEF9FF5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6949" y="1005698"/>
            <a:ext cx="3258105" cy="2443579"/>
          </a:xfrm>
          <a:prstGeom prst="rect">
            <a:avLst/>
          </a:prstGeom>
        </p:spPr>
      </p:pic>
      <p:sp>
        <p:nvSpPr>
          <p:cNvPr id="9" name="MGH Tagline">
            <a:extLst>
              <a:ext uri="{FF2B5EF4-FFF2-40B4-BE49-F238E27FC236}">
                <a16:creationId xmlns:a16="http://schemas.microsoft.com/office/drawing/2014/main" id="{F040BF5C-A78D-440C-93DF-72F3F641F3F1}"/>
              </a:ext>
            </a:extLst>
          </p:cNvPr>
          <p:cNvSpPr txBox="1"/>
          <p:nvPr userDrawn="1"/>
        </p:nvSpPr>
        <p:spPr>
          <a:xfrm>
            <a:off x="2307662" y="3796683"/>
            <a:ext cx="7576677" cy="4690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Calibri" panose="020F0502020204030204" pitchFamily="34" charset="0"/>
                <a:cs typeface="+mn-cs"/>
              </a:rPr>
              <a:t>Because learning changes everything.</a:t>
            </a:r>
            <a:r>
              <a:rPr kumimoji="0" lang="en-US" sz="1400" b="0" i="0" u="none" strike="noStrike" kern="1200" cap="none" spc="40" normalizeH="0" baseline="6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Calibri" panose="020F0502020204030204" pitchFamily="34" charset="0"/>
                <a:cs typeface="+mn-cs"/>
              </a:rPr>
              <a:t>®</a:t>
            </a:r>
            <a:endParaRPr kumimoji="0" lang="en-US" sz="2400" b="0" i="0" u="none" strike="noStrike" kern="1200" cap="none" spc="40" normalizeH="0" baseline="6000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0" name="MGH URL">
            <a:extLst>
              <a:ext uri="{FF2B5EF4-FFF2-40B4-BE49-F238E27FC236}">
                <a16:creationId xmlns:a16="http://schemas.microsoft.com/office/drawing/2014/main" id="{2215B5DD-E18E-478F-81B9-79BA83A9A251}"/>
              </a:ext>
            </a:extLst>
          </p:cNvPr>
          <p:cNvSpPr txBox="1"/>
          <p:nvPr userDrawn="1"/>
        </p:nvSpPr>
        <p:spPr>
          <a:xfrm>
            <a:off x="4358781" y="5329121"/>
            <a:ext cx="347444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www.mheducation.com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91892E2-935E-4CF8-A8C9-889BC59AE0F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45533" y="6551614"/>
            <a:ext cx="11745384" cy="17938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076648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6.xml"/><Relationship Id="rId9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64819377-49A4-4FAF-9376-1B9935A96765}" type="datetime1">
              <a:rPr lang="en-US" smtClean="0"/>
              <a:t>3/20/2026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7128DA7F-F6FE-453F-B8BB-1900E7257DA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SG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SG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452266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8" r:id="rId1"/>
    <p:sldLayoutId id="2147483829" r:id="rId2"/>
    <p:sldLayoutId id="2147483830" r:id="rId3"/>
    <p:sldLayoutId id="2147483831" r:id="rId4"/>
    <p:sldLayoutId id="2147483832" r:id="rId5"/>
    <p:sldLayoutId id="2147483833" r:id="rId6"/>
    <p:sldLayoutId id="2147483834" r:id="rId7"/>
    <p:sldLayoutId id="2147483835" r:id="rId8"/>
    <p:sldLayoutId id="2147483836" r:id="rId9"/>
    <p:sldLayoutId id="2147483837" r:id="rId10"/>
    <p:sldLayoutId id="2147483838" r:id="rId11"/>
    <p:sldLayoutId id="2147483839" r:id="rId12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">
            <a:extLst>
              <a:ext uri="{FF2B5EF4-FFF2-40B4-BE49-F238E27FC236}">
                <a16:creationId xmlns:a16="http://schemas.microsoft.com/office/drawing/2014/main" id="{881C4C4E-EEEF-442A-AE3B-63C7E062F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36257"/>
            <a:ext cx="11277600" cy="685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Title goes here</a:t>
            </a:r>
          </a:p>
        </p:txBody>
      </p:sp>
      <p:sp>
        <p:nvSpPr>
          <p:cNvPr id="5" name="Text Placeholder">
            <a:extLst>
              <a:ext uri="{FF2B5EF4-FFF2-40B4-BE49-F238E27FC236}">
                <a16:creationId xmlns:a16="http://schemas.microsoft.com/office/drawing/2014/main" id="{4F2C87DD-ADFA-433D-B7C8-4E9E42BC9E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273877"/>
            <a:ext cx="11277600" cy="49443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C2E4AF62-4201-4F5D-966F-4A59CD13C9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1883" y="6673531"/>
            <a:ext cx="474453" cy="161396"/>
          </a:xfrm>
          <a:prstGeom prst="rect">
            <a:avLst/>
          </a:prstGeom>
        </p:spPr>
        <p:txBody>
          <a:bodyPr vert="horz" lIns="45720" tIns="45720" rIns="4572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68151E55-6873-49E2-B8D5-2F265E6F197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Short Copyright">
            <a:extLst>
              <a:ext uri="{FF2B5EF4-FFF2-40B4-BE49-F238E27FC236}">
                <a16:creationId xmlns:a16="http://schemas.microsoft.com/office/drawing/2014/main" id="{286672F0-EFBD-F477-833D-074BA85D520A}"/>
              </a:ext>
            </a:extLst>
          </p:cNvPr>
          <p:cNvSpPr txBox="1"/>
          <p:nvPr userDrawn="1"/>
        </p:nvSpPr>
        <p:spPr>
          <a:xfrm>
            <a:off x="287544" y="6619890"/>
            <a:ext cx="1644771" cy="215444"/>
          </a:xfrm>
          <a:prstGeom prst="rect">
            <a:avLst/>
          </a:prstGeom>
          <a:noFill/>
        </p:spPr>
        <p:txBody>
          <a:bodyPr wrap="square" lIns="45720" rIns="45720" rtlCol="0" anchor="ctr">
            <a:spAutoFit/>
          </a:bodyPr>
          <a:lstStyle/>
          <a:p>
            <a:r>
              <a:rPr lang="en-US" sz="800" b="0" dirty="0">
                <a:solidFill>
                  <a:schemeClr val="tx1"/>
                </a:solidFill>
              </a:rPr>
              <a:t>© McGraw Hill LLC</a:t>
            </a:r>
          </a:p>
        </p:txBody>
      </p:sp>
    </p:spTree>
    <p:extLst>
      <p:ext uri="{BB962C8B-B14F-4D97-AF65-F5344CB8AC3E}">
        <p14:creationId xmlns:p14="http://schemas.microsoft.com/office/powerpoint/2010/main" val="36835048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3" r:id="rId1"/>
    <p:sldLayoutId id="2147483844" r:id="rId2"/>
    <p:sldLayoutId id="2147483845" r:id="rId3"/>
    <p:sldLayoutId id="2147483846" r:id="rId4"/>
    <p:sldLayoutId id="2147483847" r:id="rId5"/>
    <p:sldLayoutId id="2147483848" r:id="rId6"/>
    <p:sldLayoutId id="2147483849" r:id="rId7"/>
    <p:sldLayoutId id="2147483850" r:id="rId8"/>
  </p:sldLayoutIdLst>
  <p:hf hdr="0" dt="0"/>
  <p:txStyles>
    <p:titleStyle>
      <a:lvl1pPr algn="ctr" defTabSz="914400" rtl="0" eaLnBrk="1" latinLnBrk="0" hangingPunct="1">
        <a:lnSpc>
          <a:spcPct val="100000"/>
        </a:lnSpc>
        <a:spcBef>
          <a:spcPct val="0"/>
        </a:spcBef>
        <a:buNone/>
        <a:defRPr sz="24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marR="0" indent="0" algn="l" defTabSz="914400" rtl="0" eaLnBrk="1" fontAlgn="auto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Tx/>
        <a:buFont typeface="Arial" panose="020B0604020202020204" pitchFamily="34" charset="0"/>
        <a:buNone/>
        <a:tabLst/>
        <a:defRPr sz="2000" kern="1200">
          <a:solidFill>
            <a:schemeClr val="tx2"/>
          </a:solidFill>
          <a:latin typeface="+mn-lt"/>
          <a:ea typeface="+mn-ea"/>
          <a:cs typeface="+mn-cs"/>
        </a:defRPr>
      </a:lvl1pPr>
      <a:lvl2pPr marL="344488" indent="-342900" algn="l" defTabSz="914400" rtl="0" eaLnBrk="1" latinLnBrk="0" hangingPunct="1">
        <a:lnSpc>
          <a:spcPct val="100000"/>
        </a:lnSpc>
        <a:spcBef>
          <a:spcPts val="800"/>
        </a:spcBef>
        <a:spcAft>
          <a:spcPts val="800"/>
        </a:spcAft>
        <a:buClrTx/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2pPr>
      <a:lvl3pPr marL="517525" indent="-285750" algn="l" defTabSz="914400" rtl="0" eaLnBrk="1" latinLnBrk="0" hangingPunct="1">
        <a:lnSpc>
          <a:spcPct val="100000"/>
        </a:lnSpc>
        <a:spcBef>
          <a:spcPts val="800"/>
        </a:spcBef>
        <a:spcAft>
          <a:spcPts val="800"/>
        </a:spcAft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3pPr>
      <a:lvl4pPr marL="741363" indent="-285750" algn="l" defTabSz="914400" rtl="0" eaLnBrk="1" latinLnBrk="0" hangingPunct="1">
        <a:lnSpc>
          <a:spcPct val="100000"/>
        </a:lnSpc>
        <a:spcBef>
          <a:spcPts val="800"/>
        </a:spcBef>
        <a:spcAft>
          <a:spcPts val="8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971550" indent="-285750" algn="l" defTabSz="914400" rtl="0" eaLnBrk="1" latinLnBrk="0" hangingPunct="1">
        <a:lnSpc>
          <a:spcPct val="100000"/>
        </a:lnSpc>
        <a:spcBef>
          <a:spcPts val="8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orient="horz" pos="192">
          <p15:clr>
            <a:srgbClr val="F26B43"/>
          </p15:clr>
        </p15:guide>
        <p15:guide id="6" pos="216">
          <p15:clr>
            <a:srgbClr val="F26B43"/>
          </p15:clr>
        </p15:guide>
        <p15:guide id="7" pos="5544">
          <p15:clr>
            <a:srgbClr val="F26B43"/>
          </p15:clr>
        </p15:guide>
        <p15:guide id="9" orient="horz" pos="4211">
          <p15:clr>
            <a:srgbClr val="F26B43"/>
          </p15:clr>
        </p15:guide>
        <p15:guide id="10" orient="horz" pos="624">
          <p15:clr>
            <a:srgbClr val="F26B43"/>
          </p15:clr>
        </p15:guide>
        <p15:guide id="11" orient="horz" pos="4104">
          <p15:clr>
            <a:srgbClr val="F26B43"/>
          </p15:clr>
        </p15:guide>
        <p15:guide id="12" orient="horz" pos="864">
          <p15:clr>
            <a:srgbClr val="F26B43"/>
          </p15:clr>
        </p15:guide>
        <p15:guide id="13" orient="horz" pos="360">
          <p15:clr>
            <a:srgbClr val="F26B43"/>
          </p15:clr>
        </p15:guide>
        <p15:guide id="14" orient="horz" pos="3936">
          <p15:clr>
            <a:srgbClr val="F26B43"/>
          </p15:clr>
        </p15:guide>
        <p15:guide id="15" pos="984">
          <p15:clr>
            <a:srgbClr val="F26B43"/>
          </p15:clr>
        </p15:guide>
        <p15:guide id="16" pos="5376">
          <p15:clr>
            <a:srgbClr val="F26B43"/>
          </p15:clr>
        </p15:guide>
        <p15:guide id="17" pos="2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sj.com/business/media/prediction-markets-campus-e57cd19f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0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3" name="Rectangle 46">
            <a:extLst>
              <a:ext uri="{FF2B5EF4-FFF2-40B4-BE49-F238E27FC236}">
                <a16:creationId xmlns:a16="http://schemas.microsoft.com/office/drawing/2014/main" id="{4B526CBF-0AA4-49A9-B305-EE0AF3AF6D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9" name="Graphic 6">
            <a:extLst>
              <a:ext uri="{FF2B5EF4-FFF2-40B4-BE49-F238E27FC236}">
                <a16:creationId xmlns:a16="http://schemas.microsoft.com/office/drawing/2014/main" id="{D0C97962-9B04-4057-B188-11149357C5A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410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grpSp>
        <p:nvGrpSpPr>
          <p:cNvPr id="54" name="Group 48">
            <a:extLst>
              <a:ext uri="{FF2B5EF4-FFF2-40B4-BE49-F238E27FC236}">
                <a16:creationId xmlns:a16="http://schemas.microsoft.com/office/drawing/2014/main" id="{CC8B5139-02E6-4DEA-9CCE-962CAF0AFB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38068" y="457200"/>
            <a:ext cx="3703320" cy="5935132"/>
            <a:chOff x="438068" y="457200"/>
            <a:chExt cx="3703320" cy="5935132"/>
          </a:xfrm>
        </p:grpSpPr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C0470BC0-AB0D-4A03-B4F1-5DDA9A31C1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8" y="618067"/>
              <a:ext cx="3702134" cy="5774265"/>
            </a:xfrm>
            <a:prstGeom prst="rect">
              <a:avLst/>
            </a:prstGeom>
            <a:solidFill>
              <a:schemeClr val="accent1">
                <a:alpha val="97000"/>
              </a:schemeClr>
            </a:solidFill>
            <a:ln w="6350" cmpd="sng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SG"/>
            </a:p>
          </p:txBody>
        </p:sp>
        <p:sp>
          <p:nvSpPr>
            <p:cNvPr id="55" name="Rectangle 50">
              <a:extLst>
                <a:ext uri="{FF2B5EF4-FFF2-40B4-BE49-F238E27FC236}">
                  <a16:creationId xmlns:a16="http://schemas.microsoft.com/office/drawing/2014/main" id="{724A08B2-EC2C-4641-81BE-FE8B068BE1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8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SG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D45297A-70E3-4F5C-AA43-1D8C6B3C17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4200" y="2142067"/>
            <a:ext cx="3412067" cy="2971801"/>
          </a:xfrm>
        </p:spPr>
        <p:txBody>
          <a:bodyPr>
            <a:normAutofit fontScale="90000"/>
          </a:bodyPr>
          <a:lstStyle/>
          <a:p>
            <a:pPr>
              <a:lnSpc>
                <a:spcPct val="90000"/>
              </a:lnSpc>
            </a:pPr>
            <a:r>
              <a:rPr lang="en-US" sz="2800" dirty="0">
                <a:solidFill>
                  <a:srgbClr val="FFFFFF"/>
                </a:solidFill>
              </a:rPr>
              <a:t>Advanced Corporate Finance (LL4554V/LL5554V/LLJ5554V/LL6554V)</a:t>
            </a:r>
            <a:br>
              <a:rPr lang="en-US" sz="2800" dirty="0">
                <a:solidFill>
                  <a:srgbClr val="FFFFFF"/>
                </a:solidFill>
              </a:rPr>
            </a:br>
            <a:r>
              <a:rPr lang="en-US" sz="2800" dirty="0">
                <a:solidFill>
                  <a:srgbClr val="FFFFFF"/>
                </a:solidFill>
              </a:rPr>
              <a:t>10. understanding options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F399D7-8786-400E-A7D4-C11F30DD6F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4200" y="5145513"/>
            <a:ext cx="3412067" cy="73882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000" cap="none" dirty="0">
                <a:solidFill>
                  <a:srgbClr val="EBEBEB"/>
                </a:solidFill>
              </a:rPr>
              <a:t>Kenneth Khoo</a:t>
            </a:r>
          </a:p>
          <a:p>
            <a:pPr>
              <a:lnSpc>
                <a:spcPct val="90000"/>
              </a:lnSpc>
            </a:pPr>
            <a:r>
              <a:rPr lang="en-US" sz="1000" cap="none" dirty="0">
                <a:solidFill>
                  <a:srgbClr val="EBEBEB"/>
                </a:solidFill>
              </a:rPr>
              <a:t>kenneth.khoo@nus.edu.sg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9180A0-7C01-47B5-8308-3D0F8B7C1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28DA7F-F6FE-453F-B8BB-1900E7257DA6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41499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Today’s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dirty="0"/>
              <a:t>Calls and Puts (Ch. 21-1)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Call and put options: definitions, payoffs, and profit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American vs. European options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Payoff diagrams vs. profit diagrams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Selling (writing) calls and puts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dirty="0"/>
              <a:t>Financial Engineering with Options (Ch. 21-2)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Downside protection with puts and calls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Put-call parity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Replicating payoffs and the replication principle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dirty="0"/>
              <a:t>What Determines Option Values? (Ch. 21-3)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Upper and lower bounds on option value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Five determinants of option value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Why volatility increases option value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n-SG">
                <a:solidFill>
                  <a:srgbClr val="FFFFFF"/>
                </a:solidFill>
              </a:rPr>
              <a:t>What Is an Option?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7225075" cy="3678303"/>
          </a:xfrm>
        </p:spPr>
        <p:txBody>
          <a:bodyPr>
            <a:norm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en-US" dirty="0"/>
              <a:t>An option gives its owner the right, but not the obligation, to buy or sell an asset at a pre-specified price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en-US" dirty="0"/>
              <a:t>Options are derivative instruments: their payoff is derived from the price of the underlying asset</a:t>
            </a:r>
          </a:p>
          <a:p>
            <a:pPr>
              <a:spcBef>
                <a:spcPts val="200"/>
              </a:spcBef>
              <a:spcAft>
                <a:spcPts val="200"/>
              </a:spcAft>
              <a:buNone/>
            </a:pPr>
            <a:r>
              <a:rPr lang="en-US" b="1" dirty="0"/>
              <a:t>Two basic types: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lang="en-US" dirty="0"/>
              <a:t>Call option: right to BUY at the exercise (strike) price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lang="en-US" dirty="0"/>
              <a:t>Put option: right to SELL at the exercise (strike) price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en-US" b="1" dirty="0"/>
              <a:t>American option:</a:t>
            </a:r>
            <a:r>
              <a:rPr lang="en-US" dirty="0"/>
              <a:t> can be exercised on or before the maturity date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en-US" b="1" dirty="0"/>
              <a:t>European option:</a:t>
            </a:r>
            <a:r>
              <a:rPr lang="en-US" dirty="0"/>
              <a:t> can be exercised only at the maturity date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en-US" dirty="0"/>
              <a:t>These terms imply nothing about geography — European options trade in the US and vice versa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rcRect l="12913" r="5322" b="3"/>
          <a:stretch>
            <a:fillRect/>
          </a:stretch>
        </p:blipFill>
        <p:spPr>
          <a:xfrm>
            <a:off x="8051799" y="1871133"/>
            <a:ext cx="3683001" cy="450426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dirty="0"/>
              <a:t>Why Financial Managers Need to Understand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6653" y="2041794"/>
            <a:ext cx="11174155" cy="4210030"/>
          </a:xfrm>
        </p:spPr>
        <p:txBody>
          <a:bodyPr>
            <a:norm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Companies use commodity, currency, and interest-rate options to manage risk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Hershey buys options to cap future cocoa prices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Airlines buy options to cap jet fuel costs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Executive compensation frequently includes stock options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Shopify offers its CEO a bonus if stock exceeds $128 by March 2031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Corporate securities often embed options: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Convertible bonds give holders the option to exchange bonds for stock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Limited liability gives shareholders the option to walk away from debts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Real options arise in capital budgeting: option to expand, delay, or abandon projects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Understanding traded options is the foundation for all of these applications</a:t>
            </a:r>
            <a:endParaRPr lang="en-US" sz="2000" dirty="0"/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en-SG" sz="2000" dirty="0"/>
              <a:t>NB: There is always a counterparty in an option contract. Q: Who are the counterparties here?</a:t>
            </a:r>
            <a:endParaRPr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Reading Option Quotes: Amazon (Table 21.1)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/>
              <a:t>Amazon share price: ~$140 in August 2023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/>
              <a:t>Option prices depend on at least two factors:</a:t>
            </a:r>
          </a:p>
          <a:p>
            <a:pPr>
              <a:spcBef>
                <a:spcPts val="200"/>
              </a:spcBef>
              <a:spcAft>
                <a:spcPts val="200"/>
              </a:spcAft>
              <a:buNone/>
            </a:pPr>
            <a:r>
              <a:rPr sz="2000" b="1"/>
              <a:t>1. Exercise price: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2000"/>
              <a:t>Nov 2023 call at $110: costs $33.25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2000"/>
              <a:t>Nov 2023 call at $130: costs $20.88 (higher X → lower call value)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2000"/>
              <a:t>Nov 2023 call at $150: costs $5.95</a:t>
            </a:r>
          </a:p>
          <a:p>
            <a:pPr>
              <a:spcBef>
                <a:spcPts val="200"/>
              </a:spcBef>
              <a:spcAft>
                <a:spcPts val="200"/>
              </a:spcAft>
              <a:buNone/>
            </a:pPr>
            <a:r>
              <a:rPr sz="2000" b="1"/>
              <a:t>2. Time to maturity: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2000"/>
              <a:t>At X = $140: Nov call $10.45, Feb call $15.39, May call $17.50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2000"/>
              <a:t>Longer maturity → higher option value (more time for price to move favorably)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/>
              <a:t>Options trade in multiples of 100 contracts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Call Option Payoff at Maturity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Consider the Amazon Feb 2024 call with exercise price X = $140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b="1"/>
                  <a:t>If S &lt; X:</a:t>
                </a:r>
                <a:r>
                  <a:rPr sz="2000"/>
                  <a:t> share price is below $140 → no point exercising → payoff = 0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Why pay $140 for a share worth less?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b="1"/>
                  <a:t>If S &gt; X:</a:t>
                </a:r>
                <a:r>
                  <a:rPr sz="2000"/>
                  <a:t> share price exceeds $140 → exercise the option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Payoff = share price received minus exercise price paid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  <a:buNone/>
                </a:pPr>
                <a:r>
                  <a:rPr sz="2000" b="1"/>
                  <a:t>Call value at maturity: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>
                        <a:latin typeface="Cambria Math" panose="02040503050406030204"/>
                      </a:rPr>
                      <m:t>Call</m:t>
                    </m:r>
                    <m:r>
                      <m:rPr>
                        <m:nor/>
                      </m:rPr>
                      <a:rPr lang="en-US">
                        <a:latin typeface="Cambria Math" panose="02040503050406030204"/>
                      </a:rPr>
                      <m:t> </m:t>
                    </m:r>
                    <m:r>
                      <m:rPr>
                        <m:nor/>
                      </m:rPr>
                      <a:rPr lang="en-US">
                        <a:latin typeface="Cambria Math" panose="02040503050406030204"/>
                      </a:rPr>
                      <m:t>value</m:t>
                    </m:r>
                    <m:r>
                      <a:rPr lang="en-US">
                        <a:latin typeface="Cambria Math" panose="02040503050406030204"/>
                      </a:rPr>
                      <m:t>=</m:t>
                    </m:r>
                    <m:r>
                      <a:rPr lang="en-US">
                        <a:latin typeface="Cambria Math" panose="02040503050406030204"/>
                      </a:rPr>
                      <m:t>𝑚𝑎𝑥</m:t>
                    </m:r>
                    <m:r>
                      <a:rPr lang="en-US">
                        <a:latin typeface="Cambria Math" panose="02040503050406030204"/>
                      </a:rPr>
                      <m:t>(</m:t>
                    </m:r>
                    <m:r>
                      <a:rPr lang="en-US">
                        <a:latin typeface="Cambria Math" panose="02040503050406030204"/>
                      </a:rPr>
                      <m:t>𝑆</m:t>
                    </m:r>
                    <m:r>
                      <a:rPr lang="en-US">
                        <a:latin typeface="Cambria Math" panose="02040503050406030204"/>
                      </a:rPr>
                      <m:t>−</m:t>
                    </m:r>
                    <m:r>
                      <a:rPr lang="en-US">
                        <a:latin typeface="Cambria Math" panose="02040503050406030204"/>
                      </a:rPr>
                      <m:t>𝑋</m:t>
                    </m:r>
                    <m:r>
                      <a:rPr lang="en-US">
                        <a:latin typeface="Cambria Math" panose="02040503050406030204"/>
                      </a:rPr>
                      <m:t>,0)</m:t>
                    </m:r>
                  </m:oMath>
                </a14:m>
                <a:endParaRPr sz="2000" b="1"/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The payoff is never negative — the owner simply lets the option expire worthless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This asymmetric payoff is the defining feature of all options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52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Payoff Diagram: Buying a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/>
              <a:t>Exercise price X = $140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2000"/>
              <a:t>Below $140: option worthless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2000"/>
              <a:t>Above $140: payoff rises $1 for $1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/>
              <a:t>Payoff = max(S – X, 0)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/>
              <a:t>The kink at X creates the asymmetric payoff structure that makes options valuable</a:t>
            </a:r>
          </a:p>
        </p:txBody>
      </p:sp>
      <p:pic>
        <p:nvPicPr>
          <p:cNvPr id="4" name="Picture 3" descr="slide7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353" y="2228003"/>
            <a:ext cx="4046519" cy="363304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Payoff Diagram: Buying a 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/>
              <a:t>A put gives the right to SELL at the exercise price X = $140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/>
              <a:t>If S &gt; X: no point selling at $140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2000"/>
              <a:t>Payoff = 0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/>
              <a:t>If S &lt; X: buy share cheaply, sell at $140 via the put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2000"/>
              <a:t>Payoff = X – 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/>
              <a:t>Put value = max(X – S, 0)</a:t>
            </a:r>
          </a:p>
        </p:txBody>
      </p:sp>
      <p:pic>
        <p:nvPicPr>
          <p:cNvPr id="4" name="Picture 3" descr="slide8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3345" y="2228003"/>
            <a:ext cx="4012535" cy="363304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n-SG">
                <a:solidFill>
                  <a:srgbClr val="FFFFFF"/>
                </a:solidFill>
              </a:rPr>
              <a:t>Moneyness of an Option</a:t>
            </a:r>
          </a:p>
        </p:txBody>
      </p:sp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0137588-E70B-486E-AFA8-21B0111C46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2180496"/>
            <a:ext cx="3703320" cy="4045683"/>
          </a:xfrm>
          <a:prstGeom prst="rect">
            <a:avLst/>
          </a:prstGeom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" y="2533078"/>
            <a:ext cx="3305175" cy="3305175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5325" y="2180496"/>
            <a:ext cx="7105481" cy="4045683"/>
          </a:xfrm>
        </p:spPr>
        <p:txBody>
          <a:bodyPr>
            <a:norm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en-US" b="1" dirty="0"/>
              <a:t>Moneyness</a:t>
            </a:r>
            <a:r>
              <a:rPr lang="en-US" dirty="0"/>
              <a:t> describes whether exercising the option now would produce a positive payoff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en-US" b="1" dirty="0"/>
              <a:t>In the money:</a:t>
            </a:r>
            <a:r>
              <a:rPr lang="en-US" dirty="0"/>
              <a:t> exercising now gives a positive payoff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lang="en-US" dirty="0"/>
              <a:t>Call: S &gt; X (e.g., Amazon calls with X &lt; $140 were in the money)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lang="en-US" dirty="0"/>
              <a:t>Put: S &lt; X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en-US" b="1" dirty="0"/>
              <a:t>At the money:</a:t>
            </a:r>
            <a:r>
              <a:rPr lang="en-US" dirty="0"/>
              <a:t> S = X, payoff would be zero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lang="en-US" dirty="0"/>
              <a:t>Amazon calls with X = $140 were at the money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en-US" b="1" dirty="0"/>
              <a:t>Out of the money:</a:t>
            </a:r>
            <a:r>
              <a:rPr lang="en-US" dirty="0"/>
              <a:t> exercising now gives a negative payoff (so you would not exercise)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lang="en-US" dirty="0"/>
              <a:t>Call: S &lt; X (e.g., Amazon calls with X &gt; $140 were out of the money)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lang="en-US" dirty="0"/>
              <a:t>Put: S &gt; X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en-US" dirty="0"/>
              <a:t>An option’s moneyness changes as the stock price moves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Profit from Buying a Call (Example 21.1)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You buy an Amazon call with X = $140, maturing Feb 2024, for $15.39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Suppose Amazon’s stock price rises to $200 by maturity: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Payoff: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/>
                      </a:rPr>
                      <m:t>𝑆</m:t>
                    </m:r>
                    <m:r>
                      <a:rPr lang="en-US">
                        <a:latin typeface="Cambria Math" panose="02040503050406030204"/>
                      </a:rPr>
                      <m:t>−</m:t>
                    </m:r>
                    <m:r>
                      <a:rPr lang="en-US">
                        <a:latin typeface="Cambria Math" panose="02040503050406030204"/>
                      </a:rPr>
                      <m:t>𝑋</m:t>
                    </m:r>
                    <m:r>
                      <a:rPr lang="en-US">
                        <a:latin typeface="Cambria Math" panose="02040503050406030204"/>
                      </a:rPr>
                      <m:t>=$200−$140=$60</m:t>
                    </m:r>
                  </m:oMath>
                </a14:m>
                <a:endParaRPr sz="2000"/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Cost of option: $15.39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Profit: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/>
                      </a:rPr>
                      <m:t>$60−$15.39=$44.61</m:t>
                    </m:r>
                  </m:oMath>
                </a14:m>
                <a:endParaRPr sz="2000"/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Suppose Amazon’s stock price falls to $120 by maturity: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Call is out of the money → payoff = $0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Profit: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/>
                      </a:rPr>
                      <m:t>$0−$15.39=−$15.39</m:t>
                    </m:r>
                  </m:oMath>
                </a14:m>
                <a:endParaRPr sz="2000"/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You lose 100% of your investment if the option expires worthless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Breakeven: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/>
                      </a:rPr>
                      <m:t>𝑆</m:t>
                    </m:r>
                    <m:r>
                      <a:rPr lang="en-US">
                        <a:latin typeface="Cambria Math" panose="02040503050406030204"/>
                      </a:rPr>
                      <m:t>=</m:t>
                    </m:r>
                    <m:r>
                      <a:rPr lang="en-US">
                        <a:latin typeface="Cambria Math" panose="02040503050406030204"/>
                      </a:rPr>
                      <m:t>𝑋</m:t>
                    </m:r>
                    <m:r>
                      <a:rPr lang="en-US">
                        <a:latin typeface="Cambria Math" panose="02040503050406030204"/>
                      </a:rPr>
                      <m:t>+</m:t>
                    </m:r>
                    <m:r>
                      <m:rPr>
                        <m:nor/>
                      </m:rPr>
                      <a:rPr lang="en-US">
                        <a:latin typeface="Cambria Math" panose="02040503050406030204"/>
                      </a:rPr>
                      <m:t>premium</m:t>
                    </m:r>
                    <m:r>
                      <a:rPr lang="en-US">
                        <a:latin typeface="Cambria Math" panose="02040503050406030204"/>
                      </a:rPr>
                      <m:t>=$140+$15.39=$155.39</m:t>
                    </m:r>
                  </m:oMath>
                </a14:m>
                <a:endParaRPr sz="200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76" b="-1824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Profit from Buying a Put (Example 21.2)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You buy an Amazon put with X = $140, maturing Feb 2024, for $11.50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Suppose Amazon’s stock price falls to $80 by maturity: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Payoff: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/>
                      </a:rPr>
                      <m:t>𝑋</m:t>
                    </m:r>
                    <m:r>
                      <a:rPr lang="en-US">
                        <a:latin typeface="Cambria Math" panose="02040503050406030204"/>
                      </a:rPr>
                      <m:t>−</m:t>
                    </m:r>
                    <m:r>
                      <a:rPr lang="en-US">
                        <a:latin typeface="Cambria Math" panose="02040503050406030204"/>
                      </a:rPr>
                      <m:t>𝑆</m:t>
                    </m:r>
                    <m:r>
                      <a:rPr lang="en-US">
                        <a:latin typeface="Cambria Math" panose="02040503050406030204"/>
                      </a:rPr>
                      <m:t>=$140−$80=$60</m:t>
                    </m:r>
                  </m:oMath>
                </a14:m>
                <a:endParaRPr sz="2000"/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Cost of option: $11.50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Profit: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/>
                      </a:rPr>
                      <m:t>$60−$11.50=$48.50</m:t>
                    </m:r>
                  </m:oMath>
                </a14:m>
                <a:endParaRPr sz="2000"/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Suppose Amazon’s stock price rises to $180: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Put is out of the money → payoff = $0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Profit: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/>
                      </a:rPr>
                      <m:t>$0−$11.50=−$11.50</m:t>
                    </m:r>
                  </m:oMath>
                </a14:m>
                <a:endParaRPr sz="2000"/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Put buyer profits when the stock price falls — the opposite of a call buyer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Breakeven: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/>
                      </a:rPr>
                      <m:t>𝑆</m:t>
                    </m:r>
                    <m:r>
                      <a:rPr lang="en-US">
                        <a:latin typeface="Cambria Math" panose="02040503050406030204"/>
                      </a:rPr>
                      <m:t>=</m:t>
                    </m:r>
                    <m:r>
                      <a:rPr lang="en-US">
                        <a:latin typeface="Cambria Math" panose="02040503050406030204"/>
                      </a:rPr>
                      <m:t>𝑋</m:t>
                    </m:r>
                    <m:r>
                      <a:rPr lang="en-US">
                        <a:latin typeface="Cambria Math" panose="02040503050406030204"/>
                      </a:rPr>
                      <m:t>−</m:t>
                    </m:r>
                    <m:r>
                      <m:rPr>
                        <m:nor/>
                      </m:rPr>
                      <a:rPr lang="en-US">
                        <a:latin typeface="Cambria Math" panose="02040503050406030204"/>
                      </a:rPr>
                      <m:t>premium</m:t>
                    </m:r>
                    <m:r>
                      <a:rPr lang="en-US">
                        <a:latin typeface="Cambria Math" panose="02040503050406030204"/>
                      </a:rPr>
                      <m:t>=$140−$11.50=$128.50</m:t>
                    </m:r>
                  </m:oMath>
                </a14:m>
                <a:endParaRPr sz="200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76" b="-1824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dirty="0"/>
              <a:t>Selling (Writing) a Call Option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Options are side bets between two investors: buyer and seller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The seller (writer) must deliver shares if the buyer exercises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If S &lt; X: buyer won’t exercise, seller’s liability is zero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If S &gt; X: seller loses S – X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Seller’s payoff = –max(S–X, 0)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2000" b="1" dirty="0"/>
              <a:t>Mirror image of buyer’s payoff</a:t>
            </a:r>
          </a:p>
        </p:txBody>
      </p:sp>
      <p:pic>
        <p:nvPicPr>
          <p:cNvPr id="5" name="Picture 4" descr="slide9_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726" y="2228003"/>
            <a:ext cx="4547323" cy="363304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B63BCD-3BBB-5AE5-2BCB-84F015033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B11DC-C018-AF38-ED69-9C0110C35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3000" dirty="0"/>
              <a:t>Prediction Markets as Binary Options (</a:t>
            </a:r>
            <a:r>
              <a:rPr lang="en-US" sz="3000" dirty="0" err="1"/>
              <a:t>Polymarket</a:t>
            </a:r>
            <a:r>
              <a:rPr lang="en-US" sz="3000" dirty="0"/>
              <a:t>, Kalshi)</a:t>
            </a:r>
            <a:endParaRPr sz="30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A3C08C-6B4F-53A4-21DB-6647EBC27C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337" y="2070243"/>
            <a:ext cx="11148472" cy="924674"/>
          </a:xfrm>
        </p:spPr>
        <p:txBody>
          <a:bodyPr>
            <a:normAutofit fontScale="92500" lnSpcReduction="10000"/>
          </a:bodyPr>
          <a:lstStyle/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SG" sz="2000" dirty="0">
                <a:hlinkClick r:id="rId3"/>
              </a:rPr>
              <a:t>https://www.wsj.com/business/media/prediction-markets-campus-e57cd19f</a:t>
            </a:r>
            <a:endParaRPr lang="en-SG" sz="2000" dirty="0"/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en-US" sz="2000" dirty="0"/>
              <a:t>Prediction markets are fundamentally structured as binary options—one person’s gain is another person’s loss. </a:t>
            </a:r>
            <a:r>
              <a:rPr lang="en-US" sz="2000" dirty="0" err="1"/>
              <a:t>Polymarket</a:t>
            </a:r>
            <a:r>
              <a:rPr lang="en-US" sz="2000" dirty="0"/>
              <a:t> takes a cut via transaction fees.</a:t>
            </a:r>
            <a:endParaRPr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6900880-BC8B-BB60-A970-1B349B195D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49173" y="3099877"/>
            <a:ext cx="7616068" cy="3573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0200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Selling (Writing) a Put Option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/>
              <a:t>Seller agrees to buy the share at X = $140 if buyer exercises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2000"/>
              <a:t>If S &gt; X: buyer won’t exercise, seller’s liability is zero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2000"/>
              <a:t>If S &lt; X: seller must pay $140 for a share worth less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2000"/>
              <a:t>Worst case: stock goes to $0, seller loses $140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/>
              <a:t>Seller’s payoff = –max(X–S, 0)</a:t>
            </a:r>
          </a:p>
        </p:txBody>
      </p:sp>
      <p:pic>
        <p:nvPicPr>
          <p:cNvPr id="4" name="Picture 3" descr="slide10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3815" y="2228003"/>
            <a:ext cx="4391595" cy="363304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Counterparty Risk in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/>
              <a:t>For every option buyer there is a seller — the buyer’s gain is the seller’s loss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/>
              <a:t>The buyer of any option (calls and puts) bears counterparty risk: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2000"/>
              <a:t>If the option ends up in the money and the buyer exercises, the seller must pay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2000"/>
              <a:t>If the seller is bankrupt, the buyer may not receive what is owed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/>
              <a:t>Exchange-traded options reduce this risk through a clearinghouse that guarantees performance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b="1"/>
              <a:t>Key insight:</a:t>
            </a:r>
            <a:r>
              <a:rPr sz="2000"/>
              <a:t> the buyer’s payoff is always non-negative; the seller’s is always non-positive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2000"/>
              <a:t>It is the buyer who always has the option to exercise — sellers simply do as they are told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Payoff Diagrams vs. Profit Diagrams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/>
              <a:t>Payoff diagrams: show value at maturity only (ignoring cost)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/>
              <a:t>Profit diagrams: subtract initial option cost from the payoff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2000"/>
              <a:t>Call buyer breakeven: S = $140 + $15.39 = $155.39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/>
              <a:t>Payoff diagram makes a call look like a sure thing — profit diagram corrects this</a:t>
            </a:r>
          </a:p>
        </p:txBody>
      </p:sp>
      <p:pic>
        <p:nvPicPr>
          <p:cNvPr id="4" name="Picture 3" descr="slide11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8059" y="2228003"/>
            <a:ext cx="4283107" cy="363304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Profit Diagram: Selling a 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/>
              <a:t>Selling a put looks like a sure loss in the payoff diagram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2000"/>
              <a:t>But the seller received $11.50 upfront from selling the put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2000"/>
              <a:t>Seller gains at prices above: S = $140 – $11.50 = $128.50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/>
              <a:t>Profit diagram adds back the $11.50 premium received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/>
              <a:t>Experts use payoff diagrams, not profit diagrams</a:t>
            </a:r>
          </a:p>
        </p:txBody>
      </p:sp>
      <p:pic>
        <p:nvPicPr>
          <p:cNvPr id="4" name="Picture 3" descr="slide12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7975" y="2228003"/>
            <a:ext cx="4063276" cy="363304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The Downside Protection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/>
              <a:t>Buy one Amazon share at $140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2000"/>
              <a:t>If price rises: you gain $1 for each $1 increase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2000"/>
              <a:t>If price falls: you lose $1 for each $1 decrease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/>
              <a:t>Can we keep the upside but eliminate the downside?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2000"/>
              <a:t>Yes — using options!</a:t>
            </a:r>
          </a:p>
        </p:txBody>
      </p:sp>
      <p:pic>
        <p:nvPicPr>
          <p:cNvPr id="4" name="Picture 3" descr="slide13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2988" y="2228003"/>
            <a:ext cx="4013249" cy="3633047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Downside Protection: The Protected Payoff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/>
              <a:t>Strategy: buy share + buy put with X = $140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2000"/>
              <a:t>If S &gt; $140: put is worthless, you keep all the upside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2000"/>
              <a:t>If S &lt; $140: exercise the put, sell your share for $140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/>
              <a:t>Payoff stays at $140 no matter how far the stock falls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2000"/>
              <a:t>Cost of protection: $11.50 (the price of the put option)</a:t>
            </a:r>
          </a:p>
        </p:txBody>
      </p:sp>
      <p:pic>
        <p:nvPicPr>
          <p:cNvPr id="4" name="Picture 3" descr="slide14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2738" y="2228003"/>
            <a:ext cx="4033750" cy="3633047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Two Ways to Create Downside Protection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/>
              <a:t>Row 1: Buy share + buy put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2000"/>
              <a:t>Upside: keep stock gains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2000"/>
              <a:t>Downside: put protects at X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/>
              <a:t>Row 2: Bank deposit + buy call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2000"/>
              <a:t>Deposit PV($140) in bank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2000"/>
              <a:t>Buy call with X = $140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2000"/>
              <a:t>Upside: call captures gains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2000"/>
              <a:t>Downside: bank pays $140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/>
              <a:t>Both strategies give identical payoffs in all scenarios</a:t>
            </a:r>
          </a:p>
        </p:txBody>
      </p:sp>
      <p:pic>
        <p:nvPicPr>
          <p:cNvPr id="5" name="Picture 4" descr="slide15_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193" y="2381922"/>
            <a:ext cx="5422390" cy="3325209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n-SG">
                <a:solidFill>
                  <a:srgbClr val="FFFFFF"/>
                </a:solidFill>
              </a:rPr>
              <a:t>Put-Call Parity</a:t>
            </a:r>
          </a:p>
        </p:txBody>
      </p:sp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0137588-E70B-486E-AFA8-21B0111C46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2180496"/>
            <a:ext cx="3703320" cy="4045683"/>
          </a:xfrm>
          <a:prstGeom prst="rect">
            <a:avLst/>
          </a:prstGeom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" y="2533078"/>
            <a:ext cx="3305175" cy="330517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05325" y="2180496"/>
                <a:ext cx="7105481" cy="4045683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0000"/>
                  </a:lnSpc>
                  <a:spcBef>
                    <a:spcPts val="200"/>
                  </a:spcBef>
                  <a:spcAft>
                    <a:spcPts val="200"/>
                  </a:spcAft>
                </a:pPr>
                <a:r>
                  <a:rPr lang="en-US"/>
                  <a:t>Since both strategies give identical payoffs, they must have the same cost</a:t>
                </a:r>
              </a:p>
              <a:p>
                <a:pPr>
                  <a:lnSpc>
                    <a:spcPct val="90000"/>
                  </a:lnSpc>
                  <a:spcBef>
                    <a:spcPts val="200"/>
                  </a:spcBef>
                  <a:spcAft>
                    <a:spcPts val="200"/>
                  </a:spcAft>
                </a:pPr>
                <a:r>
                  <a:rPr lang="en-US" b="1"/>
                  <a:t>Put-call parity</a:t>
                </a:r>
                <a:r>
                  <a:rPr lang="en-US"/>
                  <a:t> (for European options):</a:t>
                </a:r>
              </a:p>
              <a:p>
                <a:pPr lvl="1">
                  <a:lnSpc>
                    <a:spcPct val="90000"/>
                  </a:lnSpc>
                  <a:spcBef>
                    <a:spcPts val="200"/>
                  </a:spcBef>
                  <a:spcAft>
                    <a:spcPts val="200"/>
                  </a:spcAft>
                </a:pPr>
                <a14:m>
                  <m:oMath xmlns:m="http://schemas.openxmlformats.org/officeDocument/2006/math">
                    <m:r>
                      <a:rPr lang="en-US">
                        <a:latin typeface="Cambria Math" panose="02040503050406030204"/>
                      </a:rPr>
                      <m:t>𝐶</m:t>
                    </m:r>
                    <m:r>
                      <a:rPr lang="en-US">
                        <a:latin typeface="Cambria Math" panose="02040503050406030204"/>
                      </a:rPr>
                      <m:t>+</m:t>
                    </m:r>
                    <m:r>
                      <a:rPr lang="en-US">
                        <a:latin typeface="Cambria Math" panose="02040503050406030204"/>
                      </a:rPr>
                      <m:t>𝑃𝑉</m:t>
                    </m:r>
                    <m:r>
                      <a:rPr lang="en-US">
                        <a:latin typeface="Cambria Math" panose="02040503050406030204"/>
                      </a:rPr>
                      <m:t>(</m:t>
                    </m:r>
                    <m:r>
                      <a:rPr lang="en-US">
                        <a:latin typeface="Cambria Math" panose="02040503050406030204"/>
                      </a:rPr>
                      <m:t>𝑋</m:t>
                    </m:r>
                    <m:r>
                      <a:rPr lang="en-US">
                        <a:latin typeface="Cambria Math" panose="02040503050406030204"/>
                      </a:rPr>
                      <m:t>)=</m:t>
                    </m:r>
                    <m:r>
                      <a:rPr lang="en-US">
                        <a:latin typeface="Cambria Math" panose="02040503050406030204"/>
                      </a:rPr>
                      <m:t>𝑃</m:t>
                    </m:r>
                    <m:r>
                      <a:rPr lang="en-US">
                        <a:latin typeface="Cambria Math" panose="02040503050406030204"/>
                      </a:rPr>
                      <m:t>+</m:t>
                    </m:r>
                    <m:r>
                      <a:rPr lang="en-US">
                        <a:latin typeface="Cambria Math" panose="02040503050406030204"/>
                      </a:rPr>
                      <m:t>𝑆</m:t>
                    </m:r>
                  </m:oMath>
                </a14:m>
                <a:endParaRPr lang="en-US"/>
              </a:p>
              <a:p>
                <a:pPr>
                  <a:lnSpc>
                    <a:spcPct val="90000"/>
                  </a:lnSpc>
                  <a:spcBef>
                    <a:spcPts val="200"/>
                  </a:spcBef>
                  <a:spcAft>
                    <a:spcPts val="200"/>
                  </a:spcAft>
                </a:pPr>
                <a:r>
                  <a:rPr lang="en-US"/>
                  <a:t>Where:</a:t>
                </a:r>
              </a:p>
              <a:p>
                <a:pPr lvl="1">
                  <a:lnSpc>
                    <a:spcPct val="90000"/>
                  </a:lnSpc>
                  <a:spcBef>
                    <a:spcPts val="200"/>
                  </a:spcBef>
                  <a:spcAft>
                    <a:spcPts val="200"/>
                  </a:spcAft>
                </a:pPr>
                <a:r>
                  <a:rPr lang="en-US"/>
                  <a:t>C = call price, P = put price, S = share price</a:t>
                </a:r>
              </a:p>
              <a:p>
                <a:pPr lvl="1">
                  <a:lnSpc>
                    <a:spcPct val="90000"/>
                  </a:lnSpc>
                  <a:spcBef>
                    <a:spcPts val="200"/>
                  </a:spcBef>
                  <a:spcAft>
                    <a:spcPts val="200"/>
                  </a:spcAft>
                </a:pPr>
                <a:r>
                  <a:rPr lang="en-US"/>
                  <a:t>PV(X) = present value of the exercise price (discounted at the risk-free rate)</a:t>
                </a:r>
              </a:p>
              <a:p>
                <a:pPr>
                  <a:lnSpc>
                    <a:spcPct val="90000"/>
                  </a:lnSpc>
                  <a:spcBef>
                    <a:spcPts val="200"/>
                  </a:spcBef>
                  <a:spcAft>
                    <a:spcPts val="200"/>
                  </a:spcAft>
                </a:pPr>
                <a:r>
                  <a:rPr lang="en-US" b="1"/>
                  <a:t>In words:</a:t>
                </a:r>
                <a:r>
                  <a:rPr lang="en-US"/>
                  <a:t> value of call + present value of exercise price = value of put + share price</a:t>
                </a:r>
              </a:p>
              <a:p>
                <a:pPr>
                  <a:lnSpc>
                    <a:spcPct val="90000"/>
                  </a:lnSpc>
                  <a:spcBef>
                    <a:spcPts val="200"/>
                  </a:spcBef>
                  <a:spcAft>
                    <a:spcPts val="200"/>
                  </a:spcAft>
                </a:pPr>
                <a:r>
                  <a:rPr lang="en-US"/>
                  <a:t>This is a fundamental relationship — if you know any three of the four values, you can find the fourth</a:t>
                </a:r>
              </a:p>
              <a:p>
                <a:pPr>
                  <a:lnSpc>
                    <a:spcPct val="90000"/>
                  </a:lnSpc>
                  <a:spcBef>
                    <a:spcPts val="200"/>
                  </a:spcBef>
                  <a:spcAft>
                    <a:spcPts val="200"/>
                  </a:spcAft>
                </a:pPr>
                <a:r>
                  <a:rPr lang="en-US" b="1"/>
                  <a:t>Important:</a:t>
                </a:r>
                <a:r>
                  <a:rPr lang="en-US"/>
                  <a:t> holds for European options only (American options can be exercised early)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05325" y="2180496"/>
                <a:ext cx="7105481" cy="4045683"/>
              </a:xfrm>
              <a:blipFill>
                <a:blip r:embed="rId3"/>
                <a:stretch>
                  <a:fillRect l="-343" r="-686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Put-Call Parity: Numerical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>
                  <a:spcBef>
                    <a:spcPts val="200"/>
                  </a:spcBef>
                  <a:spcAft>
                    <a:spcPts val="200"/>
                  </a:spcAft>
                  <a:buNone/>
                </a:pPr>
                <a:r>
                  <a:rPr sz="2000" b="1"/>
                  <a:t>Amazon options, Feb 2024, X = $140: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Call price C = $15.39, share price S = $140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Interest rate = 2% for six months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Use put-call parity to find the theoretical put price: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14:m>
                  <m:oMath xmlns:m="http://schemas.openxmlformats.org/officeDocument/2006/math">
                    <m:r>
                      <a:rPr lang="en-US">
                        <a:latin typeface="Cambria Math" panose="02040503050406030204"/>
                      </a:rPr>
                      <m:t>𝑃</m:t>
                    </m:r>
                    <m:r>
                      <a:rPr lang="en-US">
                        <a:latin typeface="Cambria Math" panose="02040503050406030204"/>
                      </a:rPr>
                      <m:t>=</m:t>
                    </m:r>
                    <m:r>
                      <a:rPr lang="en-US">
                        <a:latin typeface="Cambria Math" panose="02040503050406030204"/>
                      </a:rPr>
                      <m:t>𝐶</m:t>
                    </m:r>
                    <m:r>
                      <a:rPr lang="en-US">
                        <a:latin typeface="Cambria Math" panose="02040503050406030204"/>
                      </a:rPr>
                      <m:t>+</m:t>
                    </m:r>
                    <m:r>
                      <a:rPr lang="en-US">
                        <a:latin typeface="Cambria Math" panose="02040503050406030204"/>
                      </a:rPr>
                      <m:t>𝑃𝑉</m:t>
                    </m:r>
                    <m:r>
                      <a:rPr lang="en-US">
                        <a:latin typeface="Cambria Math" panose="02040503050406030204"/>
                      </a:rPr>
                      <m:t>(</m:t>
                    </m:r>
                    <m:r>
                      <a:rPr lang="en-US">
                        <a:latin typeface="Cambria Math" panose="02040503050406030204"/>
                      </a:rPr>
                      <m:t>𝑋</m:t>
                    </m:r>
                    <m:r>
                      <a:rPr lang="en-US">
                        <a:latin typeface="Cambria Math" panose="02040503050406030204"/>
                      </a:rPr>
                      <m:t>)−</m:t>
                    </m:r>
                    <m:r>
                      <a:rPr lang="en-US">
                        <a:latin typeface="Cambria Math" panose="02040503050406030204"/>
                      </a:rPr>
                      <m:t>𝑆</m:t>
                    </m:r>
                  </m:oMath>
                </a14:m>
                <a:endParaRPr sz="2000"/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14:m>
                  <m:oMath xmlns:m="http://schemas.openxmlformats.org/officeDocument/2006/math">
                    <m:r>
                      <a:rPr lang="en-US">
                        <a:latin typeface="Cambria Math" panose="02040503050406030204"/>
                      </a:rPr>
                      <m:t>𝑃</m:t>
                    </m:r>
                    <m:r>
                      <a:rPr lang="en-US">
                        <a:latin typeface="Cambria Math" panose="02040503050406030204"/>
                      </a:rPr>
                      <m:t>=15.39+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>
                            <a:latin typeface="Cambria Math" panose="02040503050406030204"/>
                          </a:rPr>
                          <m:t>140</m:t>
                        </m:r>
                      </m:num>
                      <m:den>
                        <m:r>
                          <a:rPr lang="en-US">
                            <a:latin typeface="Cambria Math" panose="02040503050406030204"/>
                          </a:rPr>
                          <m:t>1.02</m:t>
                        </m:r>
                      </m:den>
                    </m:f>
                    <m:r>
                      <a:rPr lang="en-US">
                        <a:latin typeface="Cambria Math" panose="02040503050406030204"/>
                      </a:rPr>
                      <m:t>−140=$12.64</m:t>
                    </m:r>
                  </m:oMath>
                </a14:m>
                <a:endParaRPr sz="2000"/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Actual market put price: $11.50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Difference: $1.14 — small discrepancy due to stale prices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b="1"/>
                  <a:t>Warning:</a:t>
                </a:r>
                <a:r>
                  <a:rPr sz="2000"/>
                  <a:t> options with low trading volume may have out-of-date prices, so apparent arbitrage may be illusory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52" r="-829" b="-995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Rearranging Put-Call Parity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Put-call parity can be rearranged to replicate any position: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b="1"/>
                  <a:t>Create a homemade put:</a:t>
                </a:r>
                <a:r>
                  <a:rPr sz="2000"/>
                  <a:t>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/>
                      </a:rPr>
                      <m:t>𝑃</m:t>
                    </m:r>
                    <m:r>
                      <a:rPr lang="en-US">
                        <a:latin typeface="Cambria Math" panose="02040503050406030204"/>
                      </a:rPr>
                      <m:t>=</m:t>
                    </m:r>
                    <m:r>
                      <a:rPr lang="en-US">
                        <a:latin typeface="Cambria Math" panose="02040503050406030204"/>
                      </a:rPr>
                      <m:t>𝐶</m:t>
                    </m:r>
                    <m:r>
                      <a:rPr lang="en-US">
                        <a:latin typeface="Cambria Math" panose="02040503050406030204"/>
                      </a:rPr>
                      <m:t>+</m:t>
                    </m:r>
                    <m:r>
                      <a:rPr lang="en-US">
                        <a:latin typeface="Cambria Math" panose="02040503050406030204"/>
                      </a:rPr>
                      <m:t>𝑃𝑉</m:t>
                    </m:r>
                    <m:r>
                      <a:rPr lang="en-US">
                        <a:latin typeface="Cambria Math" panose="02040503050406030204"/>
                      </a:rPr>
                      <m:t>(</m:t>
                    </m:r>
                    <m:r>
                      <a:rPr lang="en-US">
                        <a:latin typeface="Cambria Math" panose="02040503050406030204"/>
                      </a:rPr>
                      <m:t>𝑋</m:t>
                    </m:r>
                    <m:r>
                      <a:rPr lang="en-US">
                        <a:latin typeface="Cambria Math" panose="02040503050406030204"/>
                      </a:rPr>
                      <m:t>)−</m:t>
                    </m:r>
                    <m:r>
                      <a:rPr lang="en-US">
                        <a:latin typeface="Cambria Math" panose="02040503050406030204"/>
                      </a:rPr>
                      <m:t>𝑆</m:t>
                    </m:r>
                  </m:oMath>
                </a14:m>
                <a:endParaRPr sz="2000"/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Buy call + save PV(X) in bank + sell (short) the share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b="1"/>
                  <a:t>Create a homemade call:</a:t>
                </a:r>
                <a:r>
                  <a:rPr sz="2000"/>
                  <a:t>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/>
                      </a:rPr>
                      <m:t>𝐶</m:t>
                    </m:r>
                    <m:r>
                      <a:rPr lang="en-US">
                        <a:latin typeface="Cambria Math" panose="02040503050406030204"/>
                      </a:rPr>
                      <m:t>=</m:t>
                    </m:r>
                    <m:r>
                      <a:rPr lang="en-US">
                        <a:latin typeface="Cambria Math" panose="02040503050406030204"/>
                      </a:rPr>
                      <m:t>𝑃</m:t>
                    </m:r>
                    <m:r>
                      <a:rPr lang="en-US">
                        <a:latin typeface="Cambria Math" panose="02040503050406030204"/>
                      </a:rPr>
                      <m:t>+</m:t>
                    </m:r>
                    <m:r>
                      <a:rPr lang="en-US">
                        <a:latin typeface="Cambria Math" panose="02040503050406030204"/>
                      </a:rPr>
                      <m:t>𝑆</m:t>
                    </m:r>
                    <m:r>
                      <a:rPr lang="en-US">
                        <a:latin typeface="Cambria Math" panose="02040503050406030204"/>
                      </a:rPr>
                      <m:t>−</m:t>
                    </m:r>
                    <m:r>
                      <a:rPr lang="en-US">
                        <a:latin typeface="Cambria Math" panose="02040503050406030204"/>
                      </a:rPr>
                      <m:t>𝑃𝑉</m:t>
                    </m:r>
                    <m:r>
                      <a:rPr lang="en-US">
                        <a:latin typeface="Cambria Math" panose="02040503050406030204"/>
                      </a:rPr>
                      <m:t>(</m:t>
                    </m:r>
                    <m:r>
                      <a:rPr lang="en-US">
                        <a:latin typeface="Cambria Math" panose="02040503050406030204"/>
                      </a:rPr>
                      <m:t>𝑋</m:t>
                    </m:r>
                    <m:r>
                      <a:rPr lang="en-US">
                        <a:latin typeface="Cambria Math" panose="02040503050406030204"/>
                      </a:rPr>
                      <m:t>)</m:t>
                    </m:r>
                  </m:oMath>
                </a14:m>
                <a:endParaRPr sz="2000"/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Buy put + buy share + borrow PV(X)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b="1"/>
                  <a:t>Create a risk-free bond:</a:t>
                </a:r>
                <a:r>
                  <a:rPr sz="2000"/>
                  <a:t>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/>
                      </a:rPr>
                      <m:t>𝑃𝑉</m:t>
                    </m:r>
                    <m:r>
                      <a:rPr lang="en-US">
                        <a:latin typeface="Cambria Math" panose="02040503050406030204"/>
                      </a:rPr>
                      <m:t>(</m:t>
                    </m:r>
                    <m:r>
                      <a:rPr lang="en-US">
                        <a:latin typeface="Cambria Math" panose="02040503050406030204"/>
                      </a:rPr>
                      <m:t>𝑋</m:t>
                    </m:r>
                    <m:r>
                      <a:rPr lang="en-US">
                        <a:latin typeface="Cambria Math" panose="02040503050406030204"/>
                      </a:rPr>
                      <m:t>)=</m:t>
                    </m:r>
                    <m:r>
                      <a:rPr lang="en-US">
                        <a:latin typeface="Cambria Math" panose="02040503050406030204"/>
                      </a:rPr>
                      <m:t>𝑃</m:t>
                    </m:r>
                    <m:r>
                      <a:rPr lang="en-US">
                        <a:latin typeface="Cambria Math" panose="02040503050406030204"/>
                      </a:rPr>
                      <m:t>+</m:t>
                    </m:r>
                    <m:r>
                      <a:rPr lang="en-US">
                        <a:latin typeface="Cambria Math" panose="02040503050406030204"/>
                      </a:rPr>
                      <m:t>𝑆</m:t>
                    </m:r>
                    <m:r>
                      <a:rPr lang="en-US">
                        <a:latin typeface="Cambria Math" panose="02040503050406030204"/>
                      </a:rPr>
                      <m:t>−</m:t>
                    </m:r>
                    <m:r>
                      <a:rPr lang="en-US">
                        <a:latin typeface="Cambria Math" panose="02040503050406030204"/>
                      </a:rPr>
                      <m:t>𝐶</m:t>
                    </m:r>
                  </m:oMath>
                </a14:m>
                <a:endParaRPr sz="2000"/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Buy put + buy share + sell call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Each equation implies two strategies with identical payoffs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If one security is mispriced relative to the others, there is an arbitrage opportunity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76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Replicating a Put Option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/>
              <a:t>Buy call (X = $140) + deposit PV($140) in bank + sell (short) the stock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/>
              <a:t>Example: S = $120 at maturity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2000"/>
              <a:t>Call = $0, bank = $140, cost to buy back = $120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2000"/>
              <a:t>Total = $20 = put payoff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/>
              <a:t>Law of one price: if payoffs are identical, prices must be equal today</a:t>
            </a:r>
          </a:p>
        </p:txBody>
      </p:sp>
      <p:pic>
        <p:nvPicPr>
          <p:cNvPr id="4" name="Picture 3" descr="slide17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8417" y="3058132"/>
            <a:ext cx="5422392" cy="197278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Spotting the Option: Ms. Higden’s Capped Bonus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F9644DA-21E4-4D4B-B872-F14551490E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2180496"/>
            <a:ext cx="3703320" cy="4045683"/>
          </a:xfrm>
          <a:prstGeom prst="rect">
            <a:avLst/>
          </a:prstGeom>
          <a:solidFill>
            <a:srgbClr val="FFFFFF"/>
          </a:solidFill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rcRect l="2714" r="6713" b="-1"/>
          <a:stretch>
            <a:fillRect/>
          </a:stretch>
        </p:blipFill>
        <p:spPr>
          <a:xfrm>
            <a:off x="657225" y="2361056"/>
            <a:ext cx="3305175" cy="3649219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5325" y="2180496"/>
            <a:ext cx="7105481" cy="4045683"/>
          </a:xfrm>
        </p:spPr>
        <p:txBody>
          <a:bodyPr>
            <a:norm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en-US" sz="2000" dirty="0"/>
              <a:t>Robots &amp; Drones Corp. offers its president a bonus: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lang="en-US" sz="1800" dirty="0"/>
              <a:t>$50,000 for every $1 the stock price exceeds $120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lang="en-US" sz="1800" dirty="0"/>
              <a:t>Maximum bonus: $2,000,000 (cap at stock price = $160)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en-US" sz="2000" dirty="0"/>
              <a:t>Think of this as 50,000 “tickets”, each paying: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lang="en-US" sz="1800" dirty="0"/>
              <a:t>$0 if S &lt; $120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lang="en-US" sz="1800" dirty="0"/>
              <a:t>$1 for each $1 above $120, up to max of $40</a:t>
            </a:r>
          </a:p>
          <a:p>
            <a:pPr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2000" b="1" dirty="0"/>
              <a:t>How to replicate one ticket: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lang="en-US" sz="1800" dirty="0"/>
              <a:t>Buy a call with X = $120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lang="en-US" sz="1800" dirty="0"/>
              <a:t>Sell a call with X = $160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en-US" sz="2000" dirty="0"/>
              <a:t>The purchase and sale together replicate the capped bonus payoff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The Replication Principle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200"/>
              </a:spcBef>
              <a:spcAft>
                <a:spcPts val="200"/>
              </a:spcAft>
              <a:buNone/>
            </a:pPr>
            <a:r>
              <a:rPr sz="2000" b="1"/>
              <a:t>The Replication Principle: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2000"/>
              <a:t>Any set of contingent payoffs — payoffs that depend on the value of an underlying asset — can be replicated with a mixture of simple options on that asset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2000"/>
              <a:t>You can create any payoff diagram — with as many ups, downs, peaks, and valleys as you wish — by buying or selling puts and calls with different exercise prices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b="1"/>
              <a:t>Financial engineering</a:t>
            </a:r>
            <a:r>
              <a:rPr sz="2000"/>
              <a:t> is the practice of packaging different investments to create new tailor-made instruments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2000"/>
              <a:t>A Peruvian company can cap its dollar purchase cost with options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2000"/>
              <a:t>A solar company can link its debt interest to electricity prices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/>
              <a:t>Options are the essential building blocks for creating these structures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Option Value Before Maturity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At maturity, a call is worth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/>
                      </a:rPr>
                      <m:t>𝑚𝑎𝑥</m:t>
                    </m:r>
                    <m:r>
                      <a:rPr lang="en-US">
                        <a:latin typeface="Cambria Math" panose="02040503050406030204"/>
                      </a:rPr>
                      <m:t>(</m:t>
                    </m:r>
                    <m:r>
                      <a:rPr lang="en-US">
                        <a:latin typeface="Cambria Math" panose="02040503050406030204"/>
                      </a:rPr>
                      <m:t>𝑆</m:t>
                    </m:r>
                    <m:r>
                      <a:rPr lang="en-US">
                        <a:latin typeface="Cambria Math" panose="02040503050406030204"/>
                      </a:rPr>
                      <m:t>−</m:t>
                    </m:r>
                    <m:r>
                      <a:rPr lang="en-US">
                        <a:latin typeface="Cambria Math" panose="02040503050406030204"/>
                      </a:rPr>
                      <m:t>𝑋</m:t>
                    </m:r>
                    <m:r>
                      <a:rPr lang="en-US">
                        <a:latin typeface="Cambria Math" panose="02040503050406030204"/>
                      </a:rPr>
                      <m:t>,0)</m:t>
                    </m:r>
                  </m:oMath>
                </a14:m>
                <a:r>
                  <a:rPr sz="2000"/>
                  <a:t> — this is exact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Before maturity, the question is: what is the option worth today?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The exact answer requires the Black-Scholes formula (Chapter 22)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For now, we establish bounds and use common sense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  <a:buNone/>
                </a:pPr>
                <a:r>
                  <a:rPr sz="2000" b="1"/>
                  <a:t>Option value = Intrinsic value + Time value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Intrinsic value: value if exercised right now =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/>
                      </a:rPr>
                      <m:t>𝑚𝑎𝑥</m:t>
                    </m:r>
                    <m:r>
                      <a:rPr lang="en-US">
                        <a:latin typeface="Cambria Math" panose="02040503050406030204"/>
                      </a:rPr>
                      <m:t>(</m:t>
                    </m:r>
                    <m:r>
                      <a:rPr lang="en-US">
                        <a:latin typeface="Cambria Math" panose="02040503050406030204"/>
                      </a:rPr>
                      <m:t>𝑆</m:t>
                    </m:r>
                    <m:r>
                      <a:rPr lang="en-US">
                        <a:latin typeface="Cambria Math" panose="02040503050406030204"/>
                      </a:rPr>
                      <m:t>−</m:t>
                    </m:r>
                    <m:r>
                      <a:rPr lang="en-US">
                        <a:latin typeface="Cambria Math" panose="02040503050406030204"/>
                      </a:rPr>
                      <m:t>𝑋</m:t>
                    </m:r>
                    <m:r>
                      <a:rPr lang="en-US">
                        <a:latin typeface="Cambria Math" panose="02040503050406030204"/>
                      </a:rPr>
                      <m:t>,0)</m:t>
                    </m:r>
                  </m:oMath>
                </a14:m>
                <a:endParaRPr sz="2000"/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Time value: additional value because the option does not need to be exercised today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Time value is always non-negative for American options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52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Bounds on the Value of a Call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Lower bound: intrinsic value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/>
                      </a:rPr>
                      <m:t>𝑚𝑎𝑥</m:t>
                    </m:r>
                    <m:r>
                      <a:rPr lang="en-US">
                        <a:latin typeface="Cambria Math" panose="02040503050406030204"/>
                      </a:rPr>
                      <m:t>(</m:t>
                    </m:r>
                    <m:r>
                      <a:rPr lang="en-US">
                        <a:latin typeface="Cambria Math" panose="02040503050406030204"/>
                      </a:rPr>
                      <m:t>𝑆</m:t>
                    </m:r>
                    <m:r>
                      <a:rPr lang="en-US">
                        <a:latin typeface="Cambria Math" panose="02040503050406030204"/>
                      </a:rPr>
                      <m:t>−</m:t>
                    </m:r>
                    <m:r>
                      <a:rPr lang="en-US">
                        <a:latin typeface="Cambria Math" panose="02040503050406030204"/>
                      </a:rPr>
                      <m:t>𝑋</m:t>
                    </m:r>
                    <m:r>
                      <a:rPr lang="en-US">
                        <a:latin typeface="Cambria Math" panose="02040503050406030204"/>
                      </a:rPr>
                      <m:t>,0)</m:t>
                    </m:r>
                  </m:oMath>
                </a14:m>
                <a:endParaRPr sz="2000"/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Cannot be cheaper or you could exercise for arbitrage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Upper bound: the share price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Option cannot pay more than the share itself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True value lies on a curve between these two bounds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562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slide19_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8417" y="2525531"/>
            <a:ext cx="5422392" cy="3037991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Understanding the Option Value Curve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b="1"/>
                  <a:t>Point A (S = 0):</a:t>
                </a:r>
                <a:r>
                  <a:rPr sz="2000"/>
                  <a:t> if the share is worthless, the option is worthless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A zero stock price means zero probability of any future value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b="1"/>
                  <a:t>Point B (S very high):</a:t>
                </a:r>
                <a:r>
                  <a:rPr sz="2000"/>
                  <a:t> option price approaches S – PV(X)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Exercise is virtually certain; buying the call is like buying the share on credit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You defer payment of X until maturity → the interest saved is part of the option’s time value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Option value &gt; intrinsic value </a:t>
                </a:r>
                <a14:m>
                  <m:oMath xmlns:m="http://schemas.openxmlformats.org/officeDocument/2006/math">
                    <m:d>
                      <m:dPr>
                        <m:sepChr m:val="−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>
                            <a:latin typeface="Cambria Math" panose="02040503050406030204"/>
                          </a:rPr>
                          <m:t>𝑆</m:t>
                        </m:r>
                      </m:e>
                      <m:e>
                        <m:r>
                          <a:rPr lang="en-US">
                            <a:latin typeface="Cambria Math" panose="02040503050406030204"/>
                          </a:rPr>
                          <m:t>𝑋</m:t>
                        </m:r>
                      </m:e>
                    </m:d>
                  </m:oMath>
                </a14:m>
                <a:r>
                  <a:rPr sz="2000"/>
                  <a:t> because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/>
                      </a:rPr>
                      <m:t>𝑃𝑉</m:t>
                    </m:r>
                    <m:r>
                      <a:rPr lang="en-US">
                        <a:latin typeface="Cambria Math" panose="02040503050406030204"/>
                      </a:rPr>
                      <m:t>(</m:t>
                    </m:r>
                    <m:r>
                      <a:rPr lang="en-US">
                        <a:latin typeface="Cambria Math" panose="02040503050406030204"/>
                      </a:rPr>
                      <m:t>𝑋</m:t>
                    </m:r>
                    <m:r>
                      <a:rPr lang="en-US">
                        <a:latin typeface="Cambria Math" panose="02040503050406030204"/>
                      </a:rPr>
                      <m:t>)&lt;</m:t>
                    </m:r>
                    <m:r>
                      <a:rPr lang="en-US">
                        <a:latin typeface="Cambria Math" panose="02040503050406030204"/>
                      </a:rPr>
                      <m:t>𝑋</m:t>
                    </m:r>
                  </m:oMath>
                </a14:m>
                <a:endParaRPr sz="2000"/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b="1"/>
                  <a:t>Point C (S = X, at the money):</a:t>
                </a:r>
                <a:r>
                  <a:rPr sz="2000"/>
                  <a:t> intrinsic value = 0, but option is still valuable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50% chance stock rises above X → positive payoff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50% chance stock falls below X → payoff is zero (not negative)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This asymmetry gives the option positive time value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76" b="-1824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Call Value Increases with Share Price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This should be intuitive: call owners benefit when the stock price rises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As S increases: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Probability of exercise increases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Expected payoff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/>
                      </a:rPr>
                      <m:t>𝑚𝑎𝑥</m:t>
                    </m:r>
                    <m:r>
                      <a:rPr lang="en-US">
                        <a:latin typeface="Cambria Math" panose="02040503050406030204"/>
                      </a:rPr>
                      <m:t>(</m:t>
                    </m:r>
                    <m:r>
                      <a:rPr lang="en-US">
                        <a:latin typeface="Cambria Math" panose="02040503050406030204"/>
                      </a:rPr>
                      <m:t>𝑆</m:t>
                    </m:r>
                    <m:r>
                      <a:rPr lang="en-US">
                        <a:latin typeface="Cambria Math" panose="02040503050406030204"/>
                      </a:rPr>
                      <m:t>−</m:t>
                    </m:r>
                    <m:r>
                      <a:rPr lang="en-US">
                        <a:latin typeface="Cambria Math" panose="02040503050406030204"/>
                      </a:rPr>
                      <m:t>𝑋</m:t>
                    </m:r>
                    <m:r>
                      <a:rPr lang="en-US">
                        <a:latin typeface="Cambria Math" panose="02040503050406030204"/>
                      </a:rPr>
                      <m:t>,0)</m:t>
                    </m:r>
                  </m:oMath>
                </a14:m>
                <a:r>
                  <a:rPr sz="2000"/>
                  <a:t> increases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The option price curve rises from point A to point B: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At low S: curve is nearly flat (exercise unlikely)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At high S: curve is nearly parallel to the lower bound (exercise almost certain)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The slope of the option value curve is always between 0 and 1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76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Interest Rate and Time to Maturity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>
                  <a:spcBef>
                    <a:spcPts val="200"/>
                  </a:spcBef>
                  <a:spcAft>
                    <a:spcPts val="200"/>
                  </a:spcAft>
                  <a:buNone/>
                </a:pPr>
                <a:r>
                  <a:rPr sz="2000" b="1" dirty="0"/>
                  <a:t>Interest rate effect on calls (+):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Buying a call is like buying on credit — you defer paying X until exercise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Higher interest rate → greater value of this implicit interest-free loan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At point B: call value =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/>
                      </a:rPr>
                      <m:t>𝑆</m:t>
                    </m:r>
                    <m:r>
                      <a:rPr lang="en-US">
                        <a:latin typeface="Cambria Math" panose="02040503050406030204"/>
                      </a:rPr>
                      <m:t>−</m:t>
                    </m:r>
                    <m:r>
                      <a:rPr lang="en-US">
                        <a:latin typeface="Cambria Math" panose="02040503050406030204"/>
                      </a:rPr>
                      <m:t>𝑃𝑉</m:t>
                    </m:r>
                    <m:r>
                      <a:rPr lang="en-US">
                        <a:latin typeface="Cambria Math" panose="02040503050406030204"/>
                      </a:rPr>
                      <m:t>(</m:t>
                    </m:r>
                    <m:r>
                      <a:rPr lang="en-US">
                        <a:latin typeface="Cambria Math" panose="02040503050406030204"/>
                      </a:rPr>
                      <m:t>𝑋</m:t>
                    </m:r>
                    <m:r>
                      <a:rPr lang="en-US">
                        <a:latin typeface="Cambria Math" panose="02040503050406030204"/>
                      </a:rPr>
                      <m:t>)</m:t>
                    </m:r>
                  </m:oMath>
                </a14:m>
                <a:r>
                  <a:rPr sz="2000" dirty="0"/>
                  <a:t>; higher r → lower PV(X) → higher call value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  <a:buNone/>
                </a:pPr>
                <a:r>
                  <a:rPr sz="2000" b="1" dirty="0"/>
                  <a:t>Time to maturity effect on calls (+):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Longer time to expiry means: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1. More time for favorable price movements (more time value)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2. Longer deferral of the exercise price payment (more loan value)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Amazon at X = $140: Nov call $10.45, Feb call $15.39, May call $17.50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Both effects increase the call option’s value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52" b="-1824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70C807-DCBD-1B25-6C0B-24F5007D4A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B5CA7-D7E8-5D06-DCD8-18E5F9036A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The Rise of 0DTE (Zero-Days-To-Expiration) Options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9E1A40-8370-33A7-5260-D426314F0B5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3564" y="1715956"/>
                <a:ext cx="3699935" cy="4910875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0000"/>
                  </a:lnSpc>
                  <a:spcBef>
                    <a:spcPts val="200"/>
                  </a:spcBef>
                  <a:spcAft>
                    <a:spcPts val="200"/>
                  </a:spcAft>
                </a:pPr>
                <a:r>
                  <a:rPr lang="en-US" sz="1700" dirty="0"/>
                  <a:t>In recent years, retail and institutional trading of 0DTE options tied to the S&amp;P 500 has surged, fundamentally changing market dynamics.</a:t>
                </a:r>
              </a:p>
              <a:p>
                <a:pPr lvl="1">
                  <a:lnSpc>
                    <a:spcPct val="90000"/>
                  </a:lnSpc>
                  <a:spcBef>
                    <a:spcPts val="200"/>
                  </a:spcBef>
                  <a:spcAft>
                    <a:spcPts val="200"/>
                  </a:spcAft>
                </a:pPr>
                <a:r>
                  <a:rPr lang="en-US" sz="1700" dirty="0"/>
                  <a:t>The 0DTE phenomenon is the ultimate real-world case study in time value.</a:t>
                </a:r>
              </a:p>
              <a:p>
                <a:pPr lvl="1">
                  <a:lnSpc>
                    <a:spcPct val="90000"/>
                  </a:lnSpc>
                  <a:spcBef>
                    <a:spcPts val="200"/>
                  </a:spcBef>
                  <a:spcAft>
                    <a:spcPts val="200"/>
                  </a:spcAft>
                </a:pPr>
                <a:r>
                  <a:rPr lang="en-US" sz="1700" dirty="0"/>
                  <a:t>Because </a:t>
                </a:r>
                <a14:m>
                  <m:oMath xmlns:m="http://schemas.openxmlformats.org/officeDocument/2006/math">
                    <m:r>
                      <a:rPr lang="en-US" sz="17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700" dirty="0"/>
                  <a:t> (time to maturity) is practically zero, the time value decays rapidly throughout a single trading day.</a:t>
                </a:r>
              </a:p>
              <a:p>
                <a:pPr lvl="1">
                  <a:lnSpc>
                    <a:spcPct val="90000"/>
                  </a:lnSpc>
                  <a:spcBef>
                    <a:spcPts val="200"/>
                  </a:spcBef>
                  <a:spcAft>
                    <a:spcPts val="200"/>
                  </a:spcAft>
                </a:pPr>
                <a:r>
                  <a:rPr lang="en-US" sz="1700" dirty="0"/>
                  <a:t>This isolates the volatility and intrinsic value components, demonstrating why these extremely short-dated options are incredibly sensitive to sudden market moves.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9E1A40-8370-33A7-5260-D426314F0B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564" y="1715956"/>
                <a:ext cx="3699935" cy="4910875"/>
              </a:xfrm>
              <a:blipFill>
                <a:blip r:embed="rId3"/>
                <a:stretch>
                  <a:fillRect l="-494" r="-2636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8954F333-E6D1-A0D8-B600-4CA9E5B6AE3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6706" r="24683" b="-2"/>
          <a:stretch>
            <a:fillRect/>
          </a:stretch>
        </p:blipFill>
        <p:spPr>
          <a:xfrm>
            <a:off x="8042494" y="1892627"/>
            <a:ext cx="3699935" cy="449793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8048EDB-C419-F483-B496-0A2A7960BF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13499" y="2041056"/>
            <a:ext cx="4252491" cy="4201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45571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Volatility: Why Risk Is Good for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/>
              <a:t>In most finance settings, higher risk = lower value (you must be compensated)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/>
              <a:t>For options, it’s the opposite: higher volatility = higher value</a:t>
            </a:r>
          </a:p>
          <a:p>
            <a:pPr>
              <a:spcBef>
                <a:spcPts val="200"/>
              </a:spcBef>
              <a:spcAft>
                <a:spcPts val="200"/>
              </a:spcAft>
              <a:buNone/>
            </a:pPr>
            <a:r>
              <a:rPr sz="2000" b="1"/>
              <a:t>The key is asymmetric payoffs: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2000"/>
              <a:t>If S falls below X, the option is worthless — whether S is $1 or $100 below X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2000"/>
              <a:t>If S rises above X, the call gains $1 for every $1 above X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/>
              <a:t>The option holder gains from upside volatility but does not lose more on the downside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b="1"/>
              <a:t>Analogy:</a:t>
            </a:r>
            <a:r>
              <a:rPr sz="2000"/>
              <a:t> you have a floor on losses (zero) but no ceiling on gains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/>
              <a:t>An option on a share that may halve or double is far more valuable than one on a share that moves by 1%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Volatility Example: Firm X vs. Firm 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Two shares, each priced at $100. Call option exercise price = $100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b="1"/>
                  <a:t>Firm X (low volatility):</a:t>
                </a:r>
                <a:r>
                  <a:rPr sz="2000"/>
                  <a:t> 50% chance of $130, 50% chance of $90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Call payoff if up: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/>
                      </a:rPr>
                      <m:t>$130−$100=$30</m:t>
                    </m:r>
                  </m:oMath>
                </a14:m>
                <a:endParaRPr sz="2000"/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Call payoff if down: $0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Expected call payoff: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/>
                      </a:rPr>
                      <m:t>0.5×$30+0.5×$0=$15</m:t>
                    </m:r>
                  </m:oMath>
                </a14:m>
                <a:endParaRPr sz="2000"/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b="1"/>
                  <a:t>Firm Y (high volatility):</a:t>
                </a:r>
                <a:r>
                  <a:rPr sz="2000"/>
                  <a:t> 50% chance of $150, 50% chance of $70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Call payoff if up: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/>
                      </a:rPr>
                      <m:t>$150−$100=$50</m:t>
                    </m:r>
                  </m:oMath>
                </a14:m>
                <a:endParaRPr sz="2000"/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Call payoff if down: $0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Expected call payoff: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/>
                      </a:rPr>
                      <m:t>0.5×$50+0.5×$0=$25</m:t>
                    </m:r>
                  </m:oMath>
                </a14:m>
                <a:endParaRPr sz="2000"/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Same probability of zero payoff, but Y has a larger upside → Y’s option is worth more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76" b="-1824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Volatility and the Probability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/>
              <a:t>Firm Y has a wider distribution of future share prices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2000"/>
              <a:t>Greater spread = more upside potential for the option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/>
              <a:t>Firm X: narrow distribution, small chance of large payoff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/>
              <a:t>Firm Y: wide distribution, bigger chance of large payoff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/>
              <a:t>Both have same probability of ending worthless (50%)</a:t>
            </a:r>
          </a:p>
        </p:txBody>
      </p:sp>
      <p:pic>
        <p:nvPicPr>
          <p:cNvPr id="4" name="Picture 3" descr="slide21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8745" y="2228003"/>
            <a:ext cx="3181736" cy="3633047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Effect of Volatility on Call Value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Upper curve: high volatility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Lower curve: low volatility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At every share price, the high-volatility option is worth more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The gap is largest when the option is at the money (where time value is highest)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Total variance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>
                            <a:latin typeface="Cambria Math" panose="02040503050406030204"/>
                          </a:rPr>
                          <m:t>𝜎</m:t>
                        </m:r>
                      </m:e>
                      <m:sup>
                        <m:r>
                          <a:rPr lang="en-US">
                            <a:latin typeface="Cambria Math" panose="02040503050406030204"/>
                          </a:rPr>
                          <m:t>2</m:t>
                        </m:r>
                      </m:sup>
                    </m:sSup>
                    <m:r>
                      <a:rPr lang="en-US">
                        <a:latin typeface="Cambria Math" panose="02040503050406030204"/>
                      </a:rPr>
                      <m:t>𝑡</m:t>
                    </m:r>
                  </m:oMath>
                </a14:m>
                <a:endParaRPr sz="200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562" r="-2247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slide22_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9673" y="2228003"/>
            <a:ext cx="5279879" cy="3633047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Five Determinants of Call Option Value</a:t>
            </a:r>
          </a:p>
        </p:txBody>
      </p:sp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0137588-E70B-486E-AFA8-21B0111C46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2180496"/>
            <a:ext cx="3703320" cy="4045683"/>
          </a:xfrm>
          <a:prstGeom prst="rect">
            <a:avLst/>
          </a:prstGeom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" y="2533078"/>
            <a:ext cx="3305175" cy="330517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05325" y="2180496"/>
                <a:ext cx="7105481" cy="4045683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spcBef>
                    <a:spcPts val="200"/>
                  </a:spcBef>
                  <a:spcAft>
                    <a:spcPts val="200"/>
                  </a:spcAft>
                  <a:buFont typeface="+mj-lt"/>
                  <a:buAutoNum type="arabicPeriod"/>
                </a:pPr>
                <a:r>
                  <a:rPr lang="en-US" b="1" dirty="0"/>
                  <a:t>Share price S (+):</a:t>
                </a:r>
                <a:r>
                  <a:rPr lang="en-US" dirty="0"/>
                  <a:t> higher stock price → higher call value</a:t>
                </a:r>
              </a:p>
              <a:p>
                <a:pPr marL="342900" indent="-342900">
                  <a:spcBef>
                    <a:spcPts val="200"/>
                  </a:spcBef>
                  <a:spcAft>
                    <a:spcPts val="200"/>
                  </a:spcAft>
                  <a:buFont typeface="+mj-lt"/>
                  <a:buAutoNum type="arabicPeriod"/>
                </a:pPr>
                <a:r>
                  <a:rPr lang="en-US" b="1" dirty="0"/>
                  <a:t>Exercise price X (–):</a:t>
                </a:r>
                <a:r>
                  <a:rPr lang="en-US" dirty="0"/>
                  <a:t> higher exercise price → lower call value (more expensive to exercise)</a:t>
                </a:r>
              </a:p>
              <a:p>
                <a:pPr marL="342900" indent="-342900">
                  <a:spcBef>
                    <a:spcPts val="200"/>
                  </a:spcBef>
                  <a:spcAft>
                    <a:spcPts val="200"/>
                  </a:spcAft>
                  <a:buFont typeface="+mj-lt"/>
                  <a:buAutoNum type="arabicPeriod"/>
                </a:pPr>
                <a:r>
                  <a:rPr lang="en-US" b="1" dirty="0"/>
                  <a:t>Interest rate r (+):</a:t>
                </a:r>
                <a:r>
                  <a:rPr lang="en-US" dirty="0"/>
                  <a:t> higher rate → PV(X) lower → call more valuable (bigger implicit loan)</a:t>
                </a:r>
              </a:p>
              <a:p>
                <a:pPr marL="342900" indent="-342900">
                  <a:spcBef>
                    <a:spcPts val="200"/>
                  </a:spcBef>
                  <a:spcAft>
                    <a:spcPts val="200"/>
                  </a:spcAft>
                  <a:buFont typeface="+mj-lt"/>
                  <a:buAutoNum type="arabicPeriod"/>
                </a:pPr>
                <a:r>
                  <a:rPr lang="en-US" b="1" dirty="0"/>
                  <a:t>Time to maturity t (+):</a:t>
                </a:r>
                <a:r>
                  <a:rPr lang="en-US" dirty="0"/>
                  <a:t> longer time → more chance of favorable moves + longer deferral of X</a:t>
                </a:r>
              </a:p>
              <a:p>
                <a:pPr marL="342900" indent="-342900">
                  <a:spcBef>
                    <a:spcPts val="200"/>
                  </a:spcBef>
                  <a:spcAft>
                    <a:spcPts val="200"/>
                  </a:spcAft>
                  <a:buFont typeface="+mj-lt"/>
                  <a:buAutoNum type="arabicPeriod"/>
                </a:pPr>
                <a:r>
                  <a:rPr lang="en-US" b="1" dirty="0"/>
                  <a:t>Volatility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/>
                      </a:rPr>
                      <m:t>𝜎</m:t>
                    </m:r>
                  </m:oMath>
                </a14:m>
                <a:r>
                  <a:rPr lang="en-US" b="1" dirty="0"/>
                  <a:t> (+):</a:t>
                </a:r>
                <a:r>
                  <a:rPr lang="en-US" dirty="0"/>
                  <a:t> higher volatility → more upside potential with limited downside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lang="en-US" dirty="0"/>
                  <a:t>Option value depends on cumulative variance: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>
                            <a:latin typeface="Cambria Math" panose="02040503050406030204"/>
                          </a:rPr>
                          <m:t>𝜎</m:t>
                        </m:r>
                      </m:e>
                      <m:sup>
                        <m:r>
                          <a:rPr lang="en-US">
                            <a:latin typeface="Cambria Math" panose="02040503050406030204"/>
                          </a:rPr>
                          <m:t>2</m:t>
                        </m:r>
                      </m:sup>
                    </m:sSup>
                    <m:r>
                      <a:rPr lang="en-US">
                        <a:latin typeface="Cambria Math" panose="02040503050406030204"/>
                      </a:rPr>
                      <m:t>×</m:t>
                    </m:r>
                    <m:r>
                      <a:rPr lang="en-US">
                        <a:latin typeface="Cambria Math" panose="02040503050406030204"/>
                      </a:rPr>
                      <m:t>𝑡</m:t>
                    </m:r>
                  </m:oMath>
                </a14:m>
                <a:endParaRPr lang="en-SG" dirty="0"/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lang="en-SG" dirty="0"/>
                  <a:t>High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/>
                      </a:rPr>
                      <m:t>𝜎</m:t>
                    </m:r>
                  </m:oMath>
                </a14:m>
                <a:r>
                  <a:rPr lang="en-US" dirty="0"/>
                  <a:t> or large t both increase the chance of large price movements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05325" y="2180496"/>
                <a:ext cx="7105481" cy="4045683"/>
              </a:xfrm>
              <a:blipFill>
                <a:blip r:embed="rId3"/>
                <a:stretch>
                  <a:fillRect l="-515" r="-1372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Determinants of Put Option Value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457200" indent="-457200">
                  <a:spcBef>
                    <a:spcPts val="200"/>
                  </a:spcBef>
                  <a:spcAft>
                    <a:spcPts val="200"/>
                  </a:spcAft>
                  <a:buFont typeface="+mj-lt"/>
                  <a:buAutoNum type="arabicPeriod"/>
                </a:pPr>
                <a:r>
                  <a:rPr sz="2000" b="1" dirty="0"/>
                  <a:t>Share price S (–):</a:t>
                </a:r>
                <a:r>
                  <a:rPr sz="2000" dirty="0"/>
                  <a:t> higher stock price → lower put value (opposite of call)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Intrinsic value of put =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/>
                      </a:rPr>
                      <m:t>𝑚𝑎𝑥</m:t>
                    </m:r>
                    <m:r>
                      <a:rPr lang="en-US">
                        <a:latin typeface="Cambria Math" panose="02040503050406030204"/>
                      </a:rPr>
                      <m:t>(</m:t>
                    </m:r>
                    <m:r>
                      <a:rPr lang="en-US">
                        <a:latin typeface="Cambria Math" panose="02040503050406030204"/>
                      </a:rPr>
                      <m:t>𝑋</m:t>
                    </m:r>
                    <m:r>
                      <a:rPr lang="en-US">
                        <a:latin typeface="Cambria Math" panose="02040503050406030204"/>
                      </a:rPr>
                      <m:t>−</m:t>
                    </m:r>
                    <m:r>
                      <a:rPr lang="en-US">
                        <a:latin typeface="Cambria Math" panose="02040503050406030204"/>
                      </a:rPr>
                      <m:t>𝑆</m:t>
                    </m:r>
                    <m:r>
                      <a:rPr lang="en-US">
                        <a:latin typeface="Cambria Math" panose="02040503050406030204"/>
                      </a:rPr>
                      <m:t>,0)</m:t>
                    </m:r>
                  </m:oMath>
                </a14:m>
                <a:r>
                  <a:rPr sz="2000" dirty="0"/>
                  <a:t> decreases with S</a:t>
                </a:r>
              </a:p>
              <a:p>
                <a:pPr marL="457200" indent="-457200">
                  <a:spcBef>
                    <a:spcPts val="200"/>
                  </a:spcBef>
                  <a:spcAft>
                    <a:spcPts val="200"/>
                  </a:spcAft>
                  <a:buFont typeface="+mj-lt"/>
                  <a:buAutoNum type="arabicPeriod"/>
                </a:pPr>
                <a:r>
                  <a:rPr sz="2000" b="1" dirty="0"/>
                  <a:t>Exercise price X (+):</a:t>
                </a:r>
                <a:r>
                  <a:rPr sz="2000" dirty="0"/>
                  <a:t> higher exercise price → higher put value</a:t>
                </a:r>
              </a:p>
              <a:p>
                <a:pPr marL="457200" indent="-457200">
                  <a:spcBef>
                    <a:spcPts val="200"/>
                  </a:spcBef>
                  <a:spcAft>
                    <a:spcPts val="200"/>
                  </a:spcAft>
                  <a:buFont typeface="+mj-lt"/>
                  <a:buAutoNum type="arabicPeriod"/>
                </a:pPr>
                <a:r>
                  <a:rPr sz="2000" b="1" dirty="0"/>
                  <a:t>Interest rate r (–):</a:t>
                </a:r>
                <a:r>
                  <a:rPr sz="2000" dirty="0"/>
                  <a:t> higher rate → PV(X) lower → put worth less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Put owner receives X at exercise; PV of that receipt is lower when r is higher</a:t>
                </a:r>
              </a:p>
              <a:p>
                <a:pPr marL="457200" indent="-457200">
                  <a:spcBef>
                    <a:spcPts val="200"/>
                  </a:spcBef>
                  <a:spcAft>
                    <a:spcPts val="200"/>
                  </a:spcAft>
                  <a:buFont typeface="+mj-lt"/>
                  <a:buAutoNum type="arabicPeriod"/>
                </a:pPr>
                <a:r>
                  <a:rPr sz="2000" b="1" dirty="0"/>
                  <a:t>Time to maturity t (+):</a:t>
                </a:r>
                <a:r>
                  <a:rPr sz="2000" dirty="0"/>
                  <a:t> longer time → more time value (generally)</a:t>
                </a:r>
              </a:p>
              <a:p>
                <a:pPr marL="457200" indent="-457200">
                  <a:spcBef>
                    <a:spcPts val="200"/>
                  </a:spcBef>
                  <a:spcAft>
                    <a:spcPts val="200"/>
                  </a:spcAft>
                  <a:buFont typeface="+mj-lt"/>
                  <a:buAutoNum type="arabicPeriod"/>
                </a:pPr>
                <a:r>
                  <a:rPr sz="2000" b="1" dirty="0"/>
                  <a:t>Volatility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/>
                      </a:rPr>
                      <m:t>𝜎</m:t>
                    </m:r>
                  </m:oMath>
                </a14:m>
                <a:r>
                  <a:rPr sz="2000" b="1" dirty="0"/>
                  <a:t> (+):</a:t>
                </a:r>
                <a:r>
                  <a:rPr sz="2000" dirty="0"/>
                  <a:t> higher volatility → higher put value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Same asymmetric payoff logic: the floor is zero, the gain is X – S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S and X effects are opposite to a call; r is also opposite; t and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/>
                      </a:rPr>
                      <m:t>𝜎</m:t>
                    </m:r>
                  </m:oMath>
                </a14:m>
                <a:r>
                  <a:rPr sz="2000" dirty="0"/>
                  <a:t> are the same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387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Risk and Option Values: A Counterintuitive Result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/>
              <a:t>In most of finance, higher risk = lower value (you demand a risk premium)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/>
              <a:t>For options, higher risk = HIGHER value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b="1"/>
              <a:t>Why?</a:t>
            </a:r>
            <a:r>
              <a:rPr sz="2000"/>
              <a:t> Options give the holder a one-way bet: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2000"/>
              <a:t>You exercise if the outcome is favorable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2000"/>
              <a:t>You walk away if it is not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2000"/>
              <a:t>Your loss is capped at the premium paid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/>
              <a:t>More risk (volatility) increases the probability of extreme outcomes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2000"/>
              <a:t>Extreme positive outcomes increase your payoff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2000"/>
              <a:t>Extreme negative outcomes do not hurt you further (payoff is already zero)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b="1"/>
              <a:t>Always remember:</a:t>
            </a:r>
            <a:r>
              <a:rPr sz="2000"/>
              <a:t> an option on a risky asset is worth more than an option on a safe asset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Executive Stock Options: Risk Is Good!</a:t>
            </a:r>
          </a:p>
        </p:txBody>
      </p:sp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0137588-E70B-486E-AFA8-21B0111C46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2180496"/>
            <a:ext cx="3703320" cy="4045683"/>
          </a:xfrm>
          <a:prstGeom prst="rect">
            <a:avLst/>
          </a:prstGeom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" y="2533078"/>
            <a:ext cx="3305175" cy="330517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05325" y="2180496"/>
                <a:ext cx="7105481" cy="4045683"/>
              </a:xfrm>
            </p:spPr>
            <p:txBody>
              <a:bodyPr>
                <a:normAutofit/>
              </a:bodyPr>
              <a:lstStyle/>
              <a:p>
                <a:pPr marL="0" indent="0">
                  <a:spcBef>
                    <a:spcPts val="200"/>
                  </a:spcBef>
                  <a:spcAft>
                    <a:spcPts val="200"/>
                  </a:spcAft>
                  <a:buNone/>
                </a:pPr>
                <a:r>
                  <a:rPr lang="en-US" sz="2000" b="1" dirty="0"/>
                  <a:t>Example (Example 21.6):</a:t>
                </a:r>
                <a:r>
                  <a:rPr lang="en-US" sz="2000" dirty="0"/>
                  <a:t> Two CFO job offers with identical stock option packages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  <a:buNone/>
                </a:pPr>
                <a:r>
                  <a:rPr lang="en-US" sz="2000" b="1" dirty="0"/>
                  <a:t>Establishment Electronics: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lang="en-US" sz="1800" dirty="0"/>
                  <a:t>100,000 options, X = $25, maturity = 5 years, S = $22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lang="en-US" sz="1800" dirty="0"/>
                  <a:t>Volatility: </a:t>
                </a:r>
                <a14:m>
                  <m:oMath xmlns:m="http://schemas.openxmlformats.org/officeDocument/2006/math">
                    <m:r>
                      <a:rPr lang="en-US" sz="1800">
                        <a:latin typeface="Cambria Math" panose="02040503050406030204"/>
                      </a:rPr>
                      <m:t>𝜎</m:t>
                    </m:r>
                    <m:r>
                      <a:rPr lang="en-US" sz="1800">
                        <a:latin typeface="Cambria Math" panose="02040503050406030204"/>
                      </a:rPr>
                      <m:t>=24%</m:t>
                    </m:r>
                  </m:oMath>
                </a14:m>
                <a:r>
                  <a:rPr lang="en-US" sz="1800" dirty="0"/>
                  <a:t> per year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  <a:buNone/>
                </a:pPr>
                <a:r>
                  <a:rPr lang="en-US" sz="2000" b="1" dirty="0"/>
                  <a:t>Digital Organics: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lang="en-US" sz="1800" dirty="0"/>
                  <a:t>100,000 options, X = $25, maturity = 5 years, S = $22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lang="en-US" sz="1800" dirty="0"/>
                  <a:t>Volatility: </a:t>
                </a:r>
                <a14:m>
                  <m:oMath xmlns:m="http://schemas.openxmlformats.org/officeDocument/2006/math">
                    <m:r>
                      <a:rPr lang="en-US" sz="1800">
                        <a:latin typeface="Cambria Math" panose="02040503050406030204"/>
                      </a:rPr>
                      <m:t>𝜎</m:t>
                    </m:r>
                    <m:r>
                      <a:rPr lang="en-US" sz="1800">
                        <a:latin typeface="Cambria Math" panose="02040503050406030204"/>
                      </a:rPr>
                      <m:t>=36%</m:t>
                    </m:r>
                  </m:oMath>
                </a14:m>
                <a:r>
                  <a:rPr lang="en-US" sz="1800" dirty="0"/>
                  <a:t> per year (50% more volatile)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lang="en-US" sz="2000" dirty="0"/>
                  <a:t>Every parameter is the same except volatility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lang="en-US" sz="1800" dirty="0"/>
                  <a:t>The Digital Organics options are written on the more volatile stock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lang="en-US" sz="1800" dirty="0"/>
                  <a:t>→ they are worth MORE → take the Digital Organics offer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05325" y="2180496"/>
                <a:ext cx="7105481" cy="4045683"/>
              </a:xfrm>
              <a:blipFill>
                <a:blip r:embed="rId3"/>
                <a:stretch>
                  <a:fillRect l="-858" r="-686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Key Takeaways: Calls and Puts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b="1"/>
                  <a:t>Call:</a:t>
                </a:r>
                <a:r>
                  <a:rPr sz="2000"/>
                  <a:t> right to buy at X; payoff =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/>
                      </a:rPr>
                      <m:t>𝑚𝑎𝑥</m:t>
                    </m:r>
                    <m:r>
                      <a:rPr lang="en-US">
                        <a:latin typeface="Cambria Math" panose="02040503050406030204"/>
                      </a:rPr>
                      <m:t>(</m:t>
                    </m:r>
                    <m:r>
                      <a:rPr lang="en-US">
                        <a:latin typeface="Cambria Math" panose="02040503050406030204"/>
                      </a:rPr>
                      <m:t>𝑆</m:t>
                    </m:r>
                    <m:r>
                      <a:rPr lang="en-US">
                        <a:latin typeface="Cambria Math" panose="02040503050406030204"/>
                      </a:rPr>
                      <m:t>−</m:t>
                    </m:r>
                    <m:r>
                      <a:rPr lang="en-US">
                        <a:latin typeface="Cambria Math" panose="02040503050406030204"/>
                      </a:rPr>
                      <m:t>𝑋</m:t>
                    </m:r>
                    <m:r>
                      <a:rPr lang="en-US">
                        <a:latin typeface="Cambria Math" panose="02040503050406030204"/>
                      </a:rPr>
                      <m:t>,0)</m:t>
                    </m:r>
                  </m:oMath>
                </a14:m>
                <a:endParaRPr sz="2000"/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b="1"/>
                  <a:t>Put:</a:t>
                </a:r>
                <a:r>
                  <a:rPr sz="2000"/>
                  <a:t> right to sell at X; payoff =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/>
                      </a:rPr>
                      <m:t>𝑚𝑎𝑥</m:t>
                    </m:r>
                    <m:r>
                      <a:rPr lang="en-US">
                        <a:latin typeface="Cambria Math" panose="02040503050406030204"/>
                      </a:rPr>
                      <m:t>(</m:t>
                    </m:r>
                    <m:r>
                      <a:rPr lang="en-US">
                        <a:latin typeface="Cambria Math" panose="02040503050406030204"/>
                      </a:rPr>
                      <m:t>𝑋</m:t>
                    </m:r>
                    <m:r>
                      <a:rPr lang="en-US">
                        <a:latin typeface="Cambria Math" panose="02040503050406030204"/>
                      </a:rPr>
                      <m:t>−</m:t>
                    </m:r>
                    <m:r>
                      <a:rPr lang="en-US">
                        <a:latin typeface="Cambria Math" panose="02040503050406030204"/>
                      </a:rPr>
                      <m:t>𝑆</m:t>
                    </m:r>
                    <m:r>
                      <a:rPr lang="en-US">
                        <a:latin typeface="Cambria Math" panose="02040503050406030204"/>
                      </a:rPr>
                      <m:t>,0)</m:t>
                    </m:r>
                  </m:oMath>
                </a14:m>
                <a:endParaRPr sz="2000"/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American: exercise on or before maturity; European: only at maturity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Options are derivatives — their payoff derives from the underlying asset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Payoff diagrams show value at maturity; profit diagrams subtract the option premium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/>
                  <a:t>The seller’s payoff is the mirror image (negative) of the buyer’s payoff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76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Key Takeaways: Financial Engineering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Downside protection can be achieved two equivalent ways:</a:t>
                </a:r>
              </a:p>
              <a:p>
                <a:pPr marL="781200" lvl="1" indent="-457200">
                  <a:spcBef>
                    <a:spcPts val="200"/>
                  </a:spcBef>
                  <a:spcAft>
                    <a:spcPts val="200"/>
                  </a:spcAft>
                  <a:buFont typeface="+mj-lt"/>
                  <a:buAutoNum type="arabicPeriod"/>
                </a:pPr>
                <a:r>
                  <a:rPr sz="2000" dirty="0"/>
                  <a:t>Buy share + buy put</a:t>
                </a:r>
              </a:p>
              <a:p>
                <a:pPr marL="781200" lvl="1" indent="-457200">
                  <a:spcBef>
                    <a:spcPts val="200"/>
                  </a:spcBef>
                  <a:spcAft>
                    <a:spcPts val="200"/>
                  </a:spcAft>
                  <a:buFont typeface="+mj-lt"/>
                  <a:buAutoNum type="arabicPeriod"/>
                </a:pPr>
                <a:r>
                  <a:rPr sz="2000" dirty="0"/>
                  <a:t>Deposit PV(X) in bank + buy call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b="1" dirty="0"/>
                  <a:t>Put-call parity:</a:t>
                </a:r>
                <a:r>
                  <a:rPr sz="2000" dirty="0"/>
                  <a:t>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/>
                      </a:rPr>
                      <m:t>𝐶</m:t>
                    </m:r>
                    <m:r>
                      <a:rPr lang="en-US">
                        <a:latin typeface="Cambria Math" panose="02040503050406030204"/>
                      </a:rPr>
                      <m:t>+</m:t>
                    </m:r>
                    <m:r>
                      <a:rPr lang="en-US">
                        <a:latin typeface="Cambria Math" panose="02040503050406030204"/>
                      </a:rPr>
                      <m:t>𝑃𝑉</m:t>
                    </m:r>
                    <m:r>
                      <a:rPr lang="en-US">
                        <a:latin typeface="Cambria Math" panose="02040503050406030204"/>
                      </a:rPr>
                      <m:t>(</m:t>
                    </m:r>
                    <m:r>
                      <a:rPr lang="en-US">
                        <a:latin typeface="Cambria Math" panose="02040503050406030204"/>
                      </a:rPr>
                      <m:t>𝑋</m:t>
                    </m:r>
                    <m:r>
                      <a:rPr lang="en-US">
                        <a:latin typeface="Cambria Math" panose="02040503050406030204"/>
                      </a:rPr>
                      <m:t>)=</m:t>
                    </m:r>
                    <m:r>
                      <a:rPr lang="en-US">
                        <a:latin typeface="Cambria Math" panose="02040503050406030204"/>
                      </a:rPr>
                      <m:t>𝑃</m:t>
                    </m:r>
                    <m:r>
                      <a:rPr lang="en-US">
                        <a:latin typeface="Cambria Math" panose="02040503050406030204"/>
                      </a:rPr>
                      <m:t>+</m:t>
                    </m:r>
                    <m:r>
                      <a:rPr lang="en-US">
                        <a:latin typeface="Cambria Math" panose="02040503050406030204"/>
                      </a:rPr>
                      <m:t>𝑆</m:t>
                    </m:r>
                  </m:oMath>
                </a14:m>
                <a:endParaRPr sz="2000" dirty="0"/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Holds for European options with same X and maturity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Rearrange to replicate any one instrument from the other three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b="1" dirty="0"/>
                  <a:t>The Replication Principle:</a:t>
                </a:r>
                <a:r>
                  <a:rPr sz="2000" dirty="0"/>
                  <a:t> any contingent payoff can be constructed from simple options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Options are the building blocks of financial engineering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76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Key Takeaways: What Determines Option Values?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Option value = intrinsic value + time value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  <a:buNone/>
                </a:pPr>
                <a:r>
                  <a:rPr sz="2000" b="1" dirty="0"/>
                  <a:t>Bounds on a call: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Lower: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/>
                      </a:rPr>
                      <m:t>𝑚𝑎𝑥</m:t>
                    </m:r>
                    <m:r>
                      <a:rPr lang="en-US">
                        <a:latin typeface="Cambria Math" panose="02040503050406030204"/>
                      </a:rPr>
                      <m:t>(</m:t>
                    </m:r>
                    <m:r>
                      <a:rPr lang="en-US">
                        <a:latin typeface="Cambria Math" panose="02040503050406030204"/>
                      </a:rPr>
                      <m:t>𝑆</m:t>
                    </m:r>
                    <m:r>
                      <a:rPr lang="en-US">
                        <a:latin typeface="Cambria Math" panose="02040503050406030204"/>
                      </a:rPr>
                      <m:t>−</m:t>
                    </m:r>
                    <m:r>
                      <a:rPr lang="en-US">
                        <a:latin typeface="Cambria Math" panose="02040503050406030204"/>
                      </a:rPr>
                      <m:t>𝑋</m:t>
                    </m:r>
                    <m:r>
                      <a:rPr lang="en-US">
                        <a:latin typeface="Cambria Math" panose="02040503050406030204"/>
                      </a:rPr>
                      <m:t>,0)</m:t>
                    </m:r>
                  </m:oMath>
                </a14:m>
                <a:r>
                  <a:rPr sz="2000" dirty="0"/>
                  <a:t> (intrinsic value)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Upper: S (the share price itself)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  <a:buNone/>
                </a:pPr>
                <a:r>
                  <a:rPr sz="2000" b="1" dirty="0"/>
                  <a:t>Five determinants of a call’s value:</a:t>
                </a:r>
              </a:p>
              <a:p>
                <a:pPr marL="781200" lvl="1" indent="-457200">
                  <a:spcBef>
                    <a:spcPts val="200"/>
                  </a:spcBef>
                  <a:spcAft>
                    <a:spcPts val="200"/>
                  </a:spcAft>
                  <a:buFont typeface="+mj-lt"/>
                  <a:buAutoNum type="arabicPeriod"/>
                </a:pPr>
                <a:r>
                  <a:rPr sz="2000" dirty="0"/>
                  <a:t>Share price S (+)</a:t>
                </a:r>
              </a:p>
              <a:p>
                <a:pPr marL="781200" lvl="1" indent="-457200">
                  <a:spcBef>
                    <a:spcPts val="200"/>
                  </a:spcBef>
                  <a:spcAft>
                    <a:spcPts val="200"/>
                  </a:spcAft>
                  <a:buFont typeface="+mj-lt"/>
                  <a:buAutoNum type="arabicPeriod"/>
                </a:pPr>
                <a:r>
                  <a:rPr sz="2000" dirty="0"/>
                  <a:t>Exercise price X (–)</a:t>
                </a:r>
              </a:p>
              <a:p>
                <a:pPr marL="781200" lvl="1" indent="-457200">
                  <a:spcBef>
                    <a:spcPts val="200"/>
                  </a:spcBef>
                  <a:spcAft>
                    <a:spcPts val="200"/>
                  </a:spcAft>
                  <a:buFont typeface="+mj-lt"/>
                  <a:buAutoNum type="arabicPeriod"/>
                </a:pPr>
                <a:r>
                  <a:rPr sz="2000" dirty="0"/>
                  <a:t>Interest rate r (+)</a:t>
                </a:r>
              </a:p>
              <a:p>
                <a:pPr marL="781200" lvl="1" indent="-457200">
                  <a:spcBef>
                    <a:spcPts val="200"/>
                  </a:spcBef>
                  <a:spcAft>
                    <a:spcPts val="200"/>
                  </a:spcAft>
                  <a:buFont typeface="+mj-lt"/>
                  <a:buAutoNum type="arabicPeriod"/>
                </a:pPr>
                <a:r>
                  <a:rPr sz="2000" dirty="0"/>
                  <a:t>Time to maturity t (+)</a:t>
                </a:r>
              </a:p>
              <a:p>
                <a:pPr marL="781200" lvl="1" indent="-457200">
                  <a:spcBef>
                    <a:spcPts val="200"/>
                  </a:spcBef>
                  <a:spcAft>
                    <a:spcPts val="200"/>
                  </a:spcAft>
                  <a:buFont typeface="+mj-lt"/>
                  <a:buAutoNum type="arabicPeriod"/>
                </a:pPr>
                <a:r>
                  <a:rPr sz="2000" dirty="0"/>
                  <a:t>Volatility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/>
                      </a:rPr>
                      <m:t>𝜎</m:t>
                    </m:r>
                  </m:oMath>
                </a14:m>
                <a:r>
                  <a:rPr sz="2000" dirty="0"/>
                  <a:t> (+)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b="1" dirty="0"/>
                  <a:t>The surprise:</a:t>
                </a:r>
                <a:r>
                  <a:rPr sz="2000" dirty="0"/>
                  <a:t> risk (volatility) is GOOD for option holders — opposite of most finance!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Next chapter: the Black-Scholes formula makes this precise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97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4D1434"/>
      </a:accent1>
      <a:accent2>
        <a:srgbClr val="903163"/>
      </a:accent2>
      <a:accent3>
        <a:srgbClr val="B2324B"/>
      </a:accent3>
      <a:accent4>
        <a:srgbClr val="969FA7"/>
      </a:accent4>
      <a:accent5>
        <a:srgbClr val="66B1CE"/>
      </a:accent5>
      <a:accent6>
        <a:srgbClr val="40619D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C21699FF-00E4-43C8-BBCC-D7E5536C3717}"/>
    </a:ext>
  </a:extLst>
</a:theme>
</file>

<file path=ppt/theme/theme2.xml><?xml version="1.0" encoding="utf-8"?>
<a:theme xmlns:a="http://schemas.openxmlformats.org/drawingml/2006/main" name="3_MainContentSlideMaster">
  <a:themeElements>
    <a:clrScheme name="Custom 13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E21A23"/>
      </a:accent1>
      <a:accent2>
        <a:srgbClr val="FFB600"/>
      </a:accent2>
      <a:accent3>
        <a:srgbClr val="625D9C"/>
      </a:accent3>
      <a:accent4>
        <a:srgbClr val="AF1858"/>
      </a:accent4>
      <a:accent5>
        <a:srgbClr val="692146"/>
      </a:accent5>
      <a:accent6>
        <a:srgbClr val="EC7700"/>
      </a:accent6>
      <a:hlink>
        <a:srgbClr val="000000"/>
      </a:hlink>
      <a:folHlink>
        <a:srgbClr val="00000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Presentation1" id="{21D45154-5908-4760-96C7-F0E2BCA85E9B}" vid="{B9FDA032-B3B1-4FDF-8A44-9303BC60C76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7517</TotalTime>
  <Words>4100</Words>
  <Application>Microsoft Office PowerPoint</Application>
  <PresentationFormat>Widescreen</PresentationFormat>
  <Paragraphs>376</Paragraphs>
  <Slides>43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43</vt:i4>
      </vt:variant>
    </vt:vector>
  </HeadingPairs>
  <TitlesOfParts>
    <vt:vector size="50" baseType="lpstr">
      <vt:lpstr>Arial</vt:lpstr>
      <vt:lpstr>Calibri</vt:lpstr>
      <vt:lpstr>Cambria Math</vt:lpstr>
      <vt:lpstr>Gill Sans MT</vt:lpstr>
      <vt:lpstr>Wingdings 2</vt:lpstr>
      <vt:lpstr>Dividend</vt:lpstr>
      <vt:lpstr>3_MainContentSlideMaster</vt:lpstr>
      <vt:lpstr>Advanced Corporate Finance (LL4554V/LL5554V/LLJ5554V/LL6554V) 10. understanding options</vt:lpstr>
      <vt:lpstr>Today’s Roadmap</vt:lpstr>
      <vt:lpstr>What Is an Option?</vt:lpstr>
      <vt:lpstr>Why Financial Managers Need to Understand Options</vt:lpstr>
      <vt:lpstr>Reading Option Quotes: Amazon (Table 21.1)</vt:lpstr>
      <vt:lpstr>Call Option Payoff at Maturity</vt:lpstr>
      <vt:lpstr>Payoff Diagram: Buying a Call</vt:lpstr>
      <vt:lpstr>Payoff Diagram: Buying a Put</vt:lpstr>
      <vt:lpstr>Moneyness of an Option</vt:lpstr>
      <vt:lpstr>Profit from Buying a Call (Example 21.1)</vt:lpstr>
      <vt:lpstr>Profit from Buying a Put (Example 21.2)</vt:lpstr>
      <vt:lpstr>Selling (Writing) a Call Option</vt:lpstr>
      <vt:lpstr>Prediction Markets as Binary Options (Polymarket, Kalshi)</vt:lpstr>
      <vt:lpstr>Selling (Writing) a Put Option</vt:lpstr>
      <vt:lpstr>Counterparty Risk in Options</vt:lpstr>
      <vt:lpstr>Payoff Diagrams vs. Profit Diagrams</vt:lpstr>
      <vt:lpstr>Profit Diagram: Selling a Put</vt:lpstr>
      <vt:lpstr>The Downside Protection Problem</vt:lpstr>
      <vt:lpstr>Downside Protection: The Protected Payoff</vt:lpstr>
      <vt:lpstr>Two Ways to Create Downside Protection</vt:lpstr>
      <vt:lpstr>Put-Call Parity</vt:lpstr>
      <vt:lpstr>Put-Call Parity: Numerical Example</vt:lpstr>
      <vt:lpstr>Rearranging Put-Call Parity</vt:lpstr>
      <vt:lpstr>Replicating a Put Option</vt:lpstr>
      <vt:lpstr>Spotting the Option: Ms. Higden’s Capped Bonus</vt:lpstr>
      <vt:lpstr>The Replication Principle</vt:lpstr>
      <vt:lpstr>Option Value Before Maturity</vt:lpstr>
      <vt:lpstr>Bounds on the Value of a Call</vt:lpstr>
      <vt:lpstr>Understanding the Option Value Curve</vt:lpstr>
      <vt:lpstr>Call Value Increases with Share Price</vt:lpstr>
      <vt:lpstr>Interest Rate and Time to Maturity</vt:lpstr>
      <vt:lpstr>The Rise of 0DTE (Zero-Days-To-Expiration) Options</vt:lpstr>
      <vt:lpstr>Volatility: Why Risk Is Good for Options</vt:lpstr>
      <vt:lpstr>Volatility Example: Firm X vs. Firm Y</vt:lpstr>
      <vt:lpstr>Volatility and the Probability Distribution</vt:lpstr>
      <vt:lpstr>Effect of Volatility on Call Value</vt:lpstr>
      <vt:lpstr>Five Determinants of Call Option Value</vt:lpstr>
      <vt:lpstr>Determinants of Put Option Value</vt:lpstr>
      <vt:lpstr>Risk and Option Values: A Counterintuitive Result</vt:lpstr>
      <vt:lpstr>Executive Stock Options: Risk Is Good!</vt:lpstr>
      <vt:lpstr>Key Takeaways: Calls and Puts</vt:lpstr>
      <vt:lpstr>Key Takeaways: Financial Engineering</vt:lpstr>
      <vt:lpstr>Key Takeaways: What Determines Option Values?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Company Law (LC2008A) seminar 2: FOUNDATIONS OF COMPANY LAW (PART I)</dc:title>
  <dc:creator>Khoo Chian Yian Kenneth</dc:creator>
  <cp:lastModifiedBy>Kenneth Khoo</cp:lastModifiedBy>
  <cp:revision>518</cp:revision>
  <dcterms:created xsi:type="dcterms:W3CDTF">2020-08-16T02:59:54Z</dcterms:created>
  <dcterms:modified xsi:type="dcterms:W3CDTF">2026-03-20T04:05:48Z</dcterms:modified>
</cp:coreProperties>
</file>