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7" r:id="rId1"/>
    <p:sldMasterId id="2147483842" r:id="rId2"/>
  </p:sldMasterIdLst>
  <p:notesMasterIdLst>
    <p:notesMasterId r:id="rId49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6" autoAdjust="0"/>
    <p:restoredTop sz="86093" autoAdjust="0"/>
  </p:normalViewPr>
  <p:slideViewPr>
    <p:cSldViewPr snapToGrid="0">
      <p:cViewPr varScale="1">
        <p:scale>
          <a:sx n="93" d="100"/>
          <a:sy n="93" d="100"/>
        </p:scale>
        <p:origin x="116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presProps" Target="pres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8" Type="http://schemas.openxmlformats.org/officeDocument/2006/relationships/slide" Target="slides/slide6.xml"/><Relationship Id="rId51" Type="http://schemas.openxmlformats.org/officeDocument/2006/relationships/viewProps" Target="view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62B2E0-41D4-4BD0-8F27-233CF851A423}" type="datetimeFigureOut">
              <a:rPr lang="en-US" smtClean="0"/>
              <a:t>3/20/2026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CB39C3-7704-43B7-896D-E2F268455EE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24139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CB39C3-7704-43B7-896D-E2F268455EEA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72378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CB39C3-7704-43B7-896D-E2F268455EEA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15760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C9AB8A9-18BE-4EDF-90DD-E48A588FE9E1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7128DA7F-F6FE-453F-B8BB-1900E7257DA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6799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66308-2A9A-43A3-8189-DAED754C8691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7128DA7F-F6FE-453F-B8BB-1900E7257DA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89350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FC51178D-1D9D-49FF-BA4D-77D5F3F2ABE7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7128DA7F-F6FE-453F-B8BB-1900E7257DA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09607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73D5F-7352-4D75-84BB-BEEE96694360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8DA7F-F6FE-453F-B8BB-1900E7257DA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65417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/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C2FA-EF00-4A47-8C60-11D9B66273AB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8DA7F-F6FE-453F-B8BB-1900E7257DA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1626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03762-E4E4-41FB-87AC-4875A8A25370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8DA7F-F6FE-453F-B8BB-1900E7257DA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30672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153EE-997E-48D6-BC05-B28D307B015C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8DA7F-F6FE-453F-B8BB-1900E7257DA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6849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E67CB83A-8CDA-4EB5-9F88-80628B7C644C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7128DA7F-F6FE-453F-B8BB-1900E7257DA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91122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EB533-51F5-4A09-A69B-BDA5FA92A366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8DA7F-F6FE-453F-B8BB-1900E7257DA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20735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11933-86B0-441A-B639-BD29FDFEFE70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8DA7F-F6FE-453F-B8BB-1900E7257DA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02138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74662F02-AFBF-41E7-AC4B-D00C212D7A74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7128DA7F-F6FE-453F-B8BB-1900E7257DA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93319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ne Main Placeho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D13536C2-DC17-4031-9948-17E37EF9911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57200" y="1276710"/>
            <a:ext cx="11277600" cy="497169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Appendix Link">
            <a:extLst>
              <a:ext uri="{FF2B5EF4-FFF2-40B4-BE49-F238E27FC236}">
                <a16:creationId xmlns:a16="http://schemas.microsoft.com/office/drawing/2014/main" id="{B99614B3-68E1-0DE1-8128-450F1A4F372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498848" y="6336792"/>
            <a:ext cx="3206496" cy="192024"/>
          </a:xfrm>
        </p:spPr>
        <p:txBody>
          <a:bodyPr anchor="ctr">
            <a:noAutofit/>
          </a:bodyPr>
          <a:lstStyle>
            <a:lvl1pPr algn="ctr">
              <a:defRPr sz="900"/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Add text alternative link, if needed.</a:t>
            </a:r>
          </a:p>
        </p:txBody>
      </p:sp>
      <p:sp>
        <p:nvSpPr>
          <p:cNvPr id="10" name="Image Credit">
            <a:extLst>
              <a:ext uri="{FF2B5EF4-FFF2-40B4-BE49-F238E27FC236}">
                <a16:creationId xmlns:a16="http://schemas.microsoft.com/office/drawing/2014/main" id="{01A60C2A-770F-089E-ED18-3A2EE77616F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82800" y="6684264"/>
            <a:ext cx="9296400" cy="173736"/>
          </a:xfrm>
        </p:spPr>
        <p:txBody>
          <a:bodyPr anchor="ctr">
            <a:noAutofit/>
          </a:bodyPr>
          <a:lstStyle>
            <a:lvl1pPr algn="r">
              <a:defRPr sz="800"/>
            </a:lvl1pPr>
            <a:lvl2pPr algn="r">
              <a:defRPr sz="800"/>
            </a:lvl2pPr>
            <a:lvl3pPr algn="r">
              <a:defRPr sz="800"/>
            </a:lvl3pPr>
            <a:lvl4pPr algn="r">
              <a:defRPr sz="800"/>
            </a:lvl4pPr>
            <a:lvl5pPr algn="r">
              <a:defRPr sz="800"/>
            </a:lvl5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Insert Image Credit Here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745DF60F-BF33-428F-883B-9C19F83780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151E55-6873-49E2-B8D5-2F265E6F197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34220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orient="horz" pos="360">
          <p15:clr>
            <a:srgbClr val="FBAE40"/>
          </p15:clr>
        </p15:guide>
        <p15:guide id="3" pos="264">
          <p15:clr>
            <a:srgbClr val="FBAE4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Main Placeho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A4407840-F6A4-4638-BB2F-9FBAA1A814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4801"/>
            <a:ext cx="11277600" cy="678611"/>
          </a:xfrm>
          <a:prstGeom prst="rect">
            <a:avLst/>
          </a:prstGeom>
        </p:spPr>
        <p:txBody>
          <a:bodyPr anchor="ctr"/>
          <a:lstStyle>
            <a:lvl1pPr>
              <a:defRPr sz="2400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D13536C2-DC17-4031-9948-17E37EF9911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57200" y="1276710"/>
            <a:ext cx="11277600" cy="497169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Appendix Link">
            <a:extLst>
              <a:ext uri="{FF2B5EF4-FFF2-40B4-BE49-F238E27FC236}">
                <a16:creationId xmlns:a16="http://schemas.microsoft.com/office/drawing/2014/main" id="{B99614B3-68E1-0DE1-8128-450F1A4F372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498848" y="6336792"/>
            <a:ext cx="3206496" cy="192024"/>
          </a:xfrm>
        </p:spPr>
        <p:txBody>
          <a:bodyPr anchor="ctr">
            <a:noAutofit/>
          </a:bodyPr>
          <a:lstStyle>
            <a:lvl1pPr algn="ctr">
              <a:defRPr sz="900"/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Add text alternative link, if needed.</a:t>
            </a:r>
          </a:p>
        </p:txBody>
      </p:sp>
      <p:sp>
        <p:nvSpPr>
          <p:cNvPr id="10" name="Image Credit">
            <a:extLst>
              <a:ext uri="{FF2B5EF4-FFF2-40B4-BE49-F238E27FC236}">
                <a16:creationId xmlns:a16="http://schemas.microsoft.com/office/drawing/2014/main" id="{01A60C2A-770F-089E-ED18-3A2EE77616F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82800" y="6684264"/>
            <a:ext cx="9296400" cy="173736"/>
          </a:xfrm>
        </p:spPr>
        <p:txBody>
          <a:bodyPr anchor="ctr">
            <a:noAutofit/>
          </a:bodyPr>
          <a:lstStyle>
            <a:lvl1pPr algn="r">
              <a:defRPr sz="800"/>
            </a:lvl1pPr>
            <a:lvl2pPr algn="r">
              <a:defRPr sz="800"/>
            </a:lvl2pPr>
            <a:lvl3pPr algn="r">
              <a:defRPr sz="800"/>
            </a:lvl3pPr>
            <a:lvl4pPr algn="r">
              <a:defRPr sz="800"/>
            </a:lvl4pPr>
            <a:lvl5pPr algn="r">
              <a:defRPr sz="800"/>
            </a:lvl5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Insert Image Credit Here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745DF60F-BF33-428F-883B-9C19F83780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151E55-6873-49E2-B8D5-2F265E6F197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67267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orient="horz" pos="360">
          <p15:clr>
            <a:srgbClr val="FBAE40"/>
          </p15:clr>
        </p15:guide>
        <p15:guide id="3" pos="264">
          <p15:clr>
            <a:srgbClr val="FBAE4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Horizontal Main Placehold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A4407840-F6A4-4638-BB2F-9FBAA1A814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4801"/>
            <a:ext cx="11277600" cy="678611"/>
          </a:xfrm>
          <a:prstGeom prst="rect">
            <a:avLst/>
          </a:prstGeom>
        </p:spPr>
        <p:txBody>
          <a:bodyPr anchor="ctr"/>
          <a:lstStyle>
            <a:lvl1pPr>
              <a:defRPr sz="2400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D13536C2-DC17-4031-9948-17E37EF9911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57200" y="1276710"/>
            <a:ext cx="11277600" cy="283809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B2D170F-7AF9-40BB-A11B-08474DF5C3A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7200" y="4343400"/>
            <a:ext cx="11277600" cy="1905000"/>
          </a:xfrm>
        </p:spPr>
        <p:txBody>
          <a:bodyPr/>
          <a:lstStyle>
            <a:lvl1pPr>
              <a:defRPr/>
            </a:lvl1pPr>
            <a:lvl4pPr marL="455613" indent="0">
              <a:buNone/>
              <a:defRPr/>
            </a:lvl4pPr>
          </a:lstStyle>
          <a:p>
            <a:pPr lvl="0"/>
            <a:r>
              <a:rPr lang="en-US" dirty="0"/>
              <a:t>Slide Content 2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Appendix Link">
            <a:extLst>
              <a:ext uri="{FF2B5EF4-FFF2-40B4-BE49-F238E27FC236}">
                <a16:creationId xmlns:a16="http://schemas.microsoft.com/office/drawing/2014/main" id="{2D4455DD-B128-CECB-404F-2A75BE70BFF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98848" y="6336792"/>
            <a:ext cx="3206496" cy="192024"/>
          </a:xfrm>
        </p:spPr>
        <p:txBody>
          <a:bodyPr anchor="ctr">
            <a:noAutofit/>
          </a:bodyPr>
          <a:lstStyle>
            <a:lvl1pPr algn="ctr">
              <a:defRPr sz="900"/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Add text alternative link, if needed.</a:t>
            </a:r>
          </a:p>
        </p:txBody>
      </p:sp>
      <p:sp>
        <p:nvSpPr>
          <p:cNvPr id="8" name="Image Credit">
            <a:extLst>
              <a:ext uri="{FF2B5EF4-FFF2-40B4-BE49-F238E27FC236}">
                <a16:creationId xmlns:a16="http://schemas.microsoft.com/office/drawing/2014/main" id="{79309574-D610-BFFB-5373-96999640699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082800" y="6684264"/>
            <a:ext cx="9296400" cy="173736"/>
          </a:xfrm>
        </p:spPr>
        <p:txBody>
          <a:bodyPr anchor="ctr">
            <a:noAutofit/>
          </a:bodyPr>
          <a:lstStyle>
            <a:lvl1pPr algn="r">
              <a:defRPr sz="800"/>
            </a:lvl1pPr>
            <a:lvl2pPr algn="r">
              <a:defRPr sz="800"/>
            </a:lvl2pPr>
            <a:lvl3pPr algn="r">
              <a:defRPr sz="800"/>
            </a:lvl3pPr>
            <a:lvl4pPr algn="r">
              <a:defRPr sz="800"/>
            </a:lvl4pPr>
            <a:lvl5pPr algn="r">
              <a:defRPr sz="800"/>
            </a:lvl5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Insert Image Credit Here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745DF60F-BF33-428F-883B-9C19F83780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151E55-6873-49E2-B8D5-2F265E6F197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35221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92">
          <p15:clr>
            <a:srgbClr val="FBAE40"/>
          </p15:clr>
        </p15:guide>
        <p15:guide id="2" orient="horz" pos="2736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mparison Placehold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A4407840-F6A4-4638-BB2F-9FBAA1A814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4801"/>
            <a:ext cx="11277600" cy="678611"/>
          </a:xfrm>
          <a:prstGeom prst="rect">
            <a:avLst/>
          </a:prstGeom>
        </p:spPr>
        <p:txBody>
          <a:bodyPr anchor="ctr"/>
          <a:lstStyle>
            <a:lvl1pPr>
              <a:defRPr sz="2400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D13536C2-DC17-4031-9948-17E37EF9911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57200" y="1276710"/>
            <a:ext cx="5435600" cy="497169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B2D170F-7AF9-40BB-A11B-08474DF5C3A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299200" y="1280160"/>
            <a:ext cx="5435600" cy="49911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2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Appendix Link">
            <a:extLst>
              <a:ext uri="{FF2B5EF4-FFF2-40B4-BE49-F238E27FC236}">
                <a16:creationId xmlns:a16="http://schemas.microsoft.com/office/drawing/2014/main" id="{68583DF4-3680-1BFA-EEF3-AB9E3536D2C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98848" y="6336792"/>
            <a:ext cx="3206496" cy="192024"/>
          </a:xfrm>
        </p:spPr>
        <p:txBody>
          <a:bodyPr anchor="ctr">
            <a:noAutofit/>
          </a:bodyPr>
          <a:lstStyle>
            <a:lvl1pPr algn="ctr">
              <a:defRPr sz="900"/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Add text alternative link, if needed.</a:t>
            </a:r>
          </a:p>
        </p:txBody>
      </p:sp>
      <p:sp>
        <p:nvSpPr>
          <p:cNvPr id="8" name="Image Credit">
            <a:extLst>
              <a:ext uri="{FF2B5EF4-FFF2-40B4-BE49-F238E27FC236}">
                <a16:creationId xmlns:a16="http://schemas.microsoft.com/office/drawing/2014/main" id="{D1776C0A-7638-5444-47F7-AC1D483DCB4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082800" y="6684264"/>
            <a:ext cx="9296400" cy="173736"/>
          </a:xfrm>
        </p:spPr>
        <p:txBody>
          <a:bodyPr anchor="ctr">
            <a:noAutofit/>
          </a:bodyPr>
          <a:lstStyle>
            <a:lvl1pPr algn="r">
              <a:defRPr sz="800"/>
            </a:lvl1pPr>
            <a:lvl2pPr algn="r">
              <a:defRPr sz="800"/>
            </a:lvl2pPr>
            <a:lvl3pPr algn="r">
              <a:defRPr sz="800"/>
            </a:lvl3pPr>
            <a:lvl4pPr algn="r">
              <a:defRPr sz="800"/>
            </a:lvl4pPr>
            <a:lvl5pPr algn="r">
              <a:defRPr sz="800"/>
            </a:lvl5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Insert Image Credit Here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745DF60F-BF33-428F-883B-9C19F83780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151E55-6873-49E2-B8D5-2F265E6F197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09699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92">
          <p15:clr>
            <a:srgbClr val="FBAE40"/>
          </p15:clr>
        </p15:guide>
        <p15:guide id="2" orient="horz" pos="2736">
          <p15:clr>
            <a:srgbClr val="FBAE40"/>
          </p15:clr>
        </p15:guide>
        <p15:guide id="3" pos="2880">
          <p15:clr>
            <a:srgbClr val="FBAE40"/>
          </p15:clr>
        </p15:guide>
        <p15:guide id="4" pos="2976">
          <p15:clr>
            <a:srgbClr val="FBAE40"/>
          </p15:clr>
        </p15:guide>
        <p15:guide id="5" pos="2784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Main One Second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A4407840-F6A4-4638-BB2F-9FBAA1A814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4801"/>
            <a:ext cx="11277600" cy="678611"/>
          </a:xfrm>
          <a:prstGeom prst="rect">
            <a:avLst/>
          </a:prstGeom>
        </p:spPr>
        <p:txBody>
          <a:bodyPr anchor="ctr"/>
          <a:lstStyle>
            <a:lvl1pPr>
              <a:defRPr sz="2400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D13536C2-DC17-4031-9948-17E37EF9911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57200" y="1280161"/>
            <a:ext cx="7721600" cy="497169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B2D170F-7AF9-40BB-A11B-08474DF5C3A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557403" y="1280160"/>
            <a:ext cx="3177396" cy="49911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2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Appendix Link">
            <a:extLst>
              <a:ext uri="{FF2B5EF4-FFF2-40B4-BE49-F238E27FC236}">
                <a16:creationId xmlns:a16="http://schemas.microsoft.com/office/drawing/2014/main" id="{C7C4A88E-C6C1-9C26-54D3-56A7322E0B9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98848" y="6336792"/>
            <a:ext cx="3206496" cy="192024"/>
          </a:xfrm>
        </p:spPr>
        <p:txBody>
          <a:bodyPr anchor="ctr">
            <a:noAutofit/>
          </a:bodyPr>
          <a:lstStyle>
            <a:lvl1pPr algn="ctr">
              <a:defRPr sz="900"/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Add text alternative link, if needed.</a:t>
            </a:r>
          </a:p>
        </p:txBody>
      </p:sp>
      <p:sp>
        <p:nvSpPr>
          <p:cNvPr id="8" name="Image Credit">
            <a:extLst>
              <a:ext uri="{FF2B5EF4-FFF2-40B4-BE49-F238E27FC236}">
                <a16:creationId xmlns:a16="http://schemas.microsoft.com/office/drawing/2014/main" id="{4774A48E-4907-6467-DBA3-7082350CDF8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082800" y="6684264"/>
            <a:ext cx="9296400" cy="173736"/>
          </a:xfrm>
        </p:spPr>
        <p:txBody>
          <a:bodyPr anchor="ctr">
            <a:noAutofit/>
          </a:bodyPr>
          <a:lstStyle>
            <a:lvl1pPr algn="r">
              <a:defRPr sz="800"/>
            </a:lvl1pPr>
            <a:lvl2pPr algn="r">
              <a:defRPr sz="800"/>
            </a:lvl2pPr>
            <a:lvl3pPr algn="r">
              <a:defRPr sz="800"/>
            </a:lvl3pPr>
            <a:lvl4pPr algn="r">
              <a:defRPr sz="800"/>
            </a:lvl4pPr>
            <a:lvl5pPr algn="r">
              <a:defRPr sz="800"/>
            </a:lvl5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Insert Image Credit Here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745DF60F-BF33-428F-883B-9C19F83780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151E55-6873-49E2-B8D5-2F265E6F197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52919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92">
          <p15:clr>
            <a:srgbClr val="FBAE40"/>
          </p15:clr>
        </p15:guide>
        <p15:guide id="2" orient="horz" pos="2736">
          <p15:clr>
            <a:srgbClr val="FBAE40"/>
          </p15:clr>
        </p15:guide>
        <p15:guide id="4" pos="4032">
          <p15:clr>
            <a:srgbClr val="FBAE40"/>
          </p15:clr>
        </p15:guide>
        <p15:guide id="5" pos="3864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with Third as Acc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A4407840-F6A4-4638-BB2F-9FBAA1A814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4801"/>
            <a:ext cx="11277600" cy="678611"/>
          </a:xfrm>
          <a:prstGeom prst="rect">
            <a:avLst/>
          </a:prstGeom>
        </p:spPr>
        <p:txBody>
          <a:bodyPr anchor="ctr"/>
          <a:lstStyle>
            <a:lvl1pPr>
              <a:defRPr sz="2400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D13536C2-DC17-4031-9948-17E37EF9911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57200" y="1276710"/>
            <a:ext cx="11277600" cy="283809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B2D170F-7AF9-40BB-A11B-08474DF5C3A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7201" y="4343400"/>
            <a:ext cx="7721600" cy="1905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2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22432755-BCF5-451F-968D-CFFD10D87BE2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534400" y="4343400"/>
            <a:ext cx="3200400" cy="1905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3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Appendix Link">
            <a:extLst>
              <a:ext uri="{FF2B5EF4-FFF2-40B4-BE49-F238E27FC236}">
                <a16:creationId xmlns:a16="http://schemas.microsoft.com/office/drawing/2014/main" id="{440D52BF-78D2-BC33-D8BC-6EC31F5A606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98848" y="6336792"/>
            <a:ext cx="3206496" cy="192024"/>
          </a:xfrm>
        </p:spPr>
        <p:txBody>
          <a:bodyPr anchor="ctr">
            <a:noAutofit/>
          </a:bodyPr>
          <a:lstStyle>
            <a:lvl1pPr algn="ctr">
              <a:defRPr sz="900"/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Add text alternative link, if needed.</a:t>
            </a:r>
          </a:p>
        </p:txBody>
      </p:sp>
      <p:sp>
        <p:nvSpPr>
          <p:cNvPr id="10" name="Image Credit">
            <a:extLst>
              <a:ext uri="{FF2B5EF4-FFF2-40B4-BE49-F238E27FC236}">
                <a16:creationId xmlns:a16="http://schemas.microsoft.com/office/drawing/2014/main" id="{AE400176-E509-870D-D3BF-2E071B2553D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082800" y="6684264"/>
            <a:ext cx="9296400" cy="173736"/>
          </a:xfrm>
        </p:spPr>
        <p:txBody>
          <a:bodyPr anchor="ctr">
            <a:noAutofit/>
          </a:bodyPr>
          <a:lstStyle>
            <a:lvl1pPr algn="r">
              <a:defRPr sz="800"/>
            </a:lvl1pPr>
            <a:lvl2pPr algn="r">
              <a:defRPr sz="800"/>
            </a:lvl2pPr>
            <a:lvl3pPr algn="r">
              <a:defRPr sz="800"/>
            </a:lvl3pPr>
            <a:lvl4pPr algn="r">
              <a:defRPr sz="800"/>
            </a:lvl4pPr>
            <a:lvl5pPr algn="r">
              <a:defRPr sz="800"/>
            </a:lvl5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Insert Image Credit Here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745DF60F-BF33-428F-883B-9C19F83780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151E55-6873-49E2-B8D5-2F265E6F197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16880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92">
          <p15:clr>
            <a:srgbClr val="FBAE40"/>
          </p15:clr>
        </p15:guide>
        <p15:guide id="2" orient="horz" pos="2736">
          <p15:clr>
            <a:srgbClr val="FBAE40"/>
          </p15:clr>
        </p15:guide>
        <p15:guide id="4" pos="4032">
          <p15:clr>
            <a:srgbClr val="FBAE40"/>
          </p15:clr>
        </p15:guide>
        <p15:guide id="5" pos="3864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Main Placehold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A4407840-F6A4-4638-BB2F-9FBAA1A814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4801"/>
            <a:ext cx="11277600" cy="678611"/>
          </a:xfrm>
          <a:prstGeom prst="rect">
            <a:avLst/>
          </a:prstGeom>
        </p:spPr>
        <p:txBody>
          <a:bodyPr anchor="ctr"/>
          <a:lstStyle>
            <a:lvl1pPr>
              <a:defRPr sz="2400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D13536C2-DC17-4031-9948-17E37EF9911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57200" y="1276710"/>
            <a:ext cx="11277600" cy="612476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B2D170F-7AF9-40BB-A11B-08474DF5C3A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7200" y="2070496"/>
            <a:ext cx="11277600" cy="64913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2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3356A590-66B5-4770-8441-82DC031F56EA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57200" y="2900944"/>
            <a:ext cx="11277600" cy="6731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3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30BD29E5-BD7B-4CD0-9B09-8F8B24F89FBE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57200" y="3755354"/>
            <a:ext cx="11277600" cy="6985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4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E908CA92-5DB2-4DC0-937B-1B178AA91781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57200" y="4635164"/>
            <a:ext cx="11277600" cy="6985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5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5" name="Content Placeholder 6">
            <a:extLst>
              <a:ext uri="{FF2B5EF4-FFF2-40B4-BE49-F238E27FC236}">
                <a16:creationId xmlns:a16="http://schemas.microsoft.com/office/drawing/2014/main" id="{8B728CCD-2639-461B-9841-57505AC13467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57200" y="5514976"/>
            <a:ext cx="11277600" cy="73342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6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Appendix Link">
            <a:extLst>
              <a:ext uri="{FF2B5EF4-FFF2-40B4-BE49-F238E27FC236}">
                <a16:creationId xmlns:a16="http://schemas.microsoft.com/office/drawing/2014/main" id="{9EC53C63-EC17-7106-362C-B3EB75D4B5F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498848" y="6336792"/>
            <a:ext cx="3206496" cy="192024"/>
          </a:xfrm>
        </p:spPr>
        <p:txBody>
          <a:bodyPr anchor="ctr">
            <a:noAutofit/>
          </a:bodyPr>
          <a:lstStyle>
            <a:lvl1pPr algn="ctr">
              <a:defRPr sz="900"/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Add text alternative link, if needed.</a:t>
            </a:r>
          </a:p>
        </p:txBody>
      </p:sp>
      <p:sp>
        <p:nvSpPr>
          <p:cNvPr id="10" name="Image Credit">
            <a:extLst>
              <a:ext uri="{FF2B5EF4-FFF2-40B4-BE49-F238E27FC236}">
                <a16:creationId xmlns:a16="http://schemas.microsoft.com/office/drawing/2014/main" id="{62AAB954-99EB-E7CF-6444-CABDCDE5BC7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082800" y="6684264"/>
            <a:ext cx="9296400" cy="173736"/>
          </a:xfrm>
        </p:spPr>
        <p:txBody>
          <a:bodyPr anchor="ctr">
            <a:noAutofit/>
          </a:bodyPr>
          <a:lstStyle>
            <a:lvl1pPr algn="r">
              <a:defRPr sz="800"/>
            </a:lvl1pPr>
            <a:lvl2pPr algn="r">
              <a:defRPr sz="800"/>
            </a:lvl2pPr>
            <a:lvl3pPr algn="r">
              <a:defRPr sz="800"/>
            </a:lvl3pPr>
            <a:lvl4pPr algn="r">
              <a:defRPr sz="800"/>
            </a:lvl4pPr>
            <a:lvl5pPr algn="r">
              <a:defRPr sz="800"/>
            </a:lvl5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Insert Image Credit Here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745DF60F-BF33-428F-883B-9C19F83780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151E55-6873-49E2-B8D5-2F265E6F197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11821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92">
          <p15:clr>
            <a:srgbClr val="FBAE40"/>
          </p15:clr>
        </p15:guide>
        <p15:guide id="2" orient="horz" pos="2736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One Main Placeho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MGH Shape">
            <a:extLst>
              <a:ext uri="{FF2B5EF4-FFF2-40B4-BE49-F238E27FC236}">
                <a16:creationId xmlns:a16="http://schemas.microsoft.com/office/drawing/2014/main" id="{7270E885-EF49-1A67-8A6F-D8E31640E4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830323" y="1"/>
            <a:ext cx="3361677" cy="6623843"/>
            <a:chOff x="3491346" y="0"/>
            <a:chExt cx="2508933" cy="6367263"/>
          </a:xfrm>
        </p:grpSpPr>
        <p:sp>
          <p:nvSpPr>
            <p:cNvPr id="7" name="Freeform 11">
              <a:extLst>
                <a:ext uri="{FF2B5EF4-FFF2-40B4-BE49-F238E27FC236}">
                  <a16:creationId xmlns:a16="http://schemas.microsoft.com/office/drawing/2014/main" id="{1527B357-5D9A-BEAB-AA19-315A33642D17}"/>
                </a:ext>
              </a:extLst>
            </p:cNvPr>
            <p:cNvSpPr/>
            <p:nvPr/>
          </p:nvSpPr>
          <p:spPr>
            <a:xfrm rot="10800000">
              <a:off x="5468761" y="1352709"/>
              <a:ext cx="531517" cy="1821241"/>
            </a:xfrm>
            <a:custGeom>
              <a:avLst/>
              <a:gdLst>
                <a:gd name="connsiteX0" fmla="*/ 0 w 531517"/>
                <a:gd name="connsiteY0" fmla="*/ 1821241 h 1821241"/>
                <a:gd name="connsiteX1" fmla="*/ 0 w 531517"/>
                <a:gd name="connsiteY1" fmla="*/ 0 h 1821241"/>
                <a:gd name="connsiteX2" fmla="*/ 531517 w 531517"/>
                <a:gd name="connsiteY2" fmla="*/ 672400 h 1821241"/>
                <a:gd name="connsiteX3" fmla="*/ 0 w 531517"/>
                <a:gd name="connsiteY3" fmla="*/ 1821241 h 18212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1517" h="1821241">
                  <a:moveTo>
                    <a:pt x="0" y="1821241"/>
                  </a:moveTo>
                  <a:lnTo>
                    <a:pt x="0" y="0"/>
                  </a:lnTo>
                  <a:lnTo>
                    <a:pt x="531517" y="672400"/>
                  </a:lnTo>
                  <a:lnTo>
                    <a:pt x="0" y="1821241"/>
                  </a:lnTo>
                  <a:close/>
                </a:path>
              </a:pathLst>
            </a:custGeom>
            <a:solidFill>
              <a:srgbClr val="9F22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 dirty="0">
                <a:solidFill>
                  <a:schemeClr val="tx2"/>
                </a:solidFill>
              </a:endParaRPr>
            </a:p>
          </p:txBody>
        </p:sp>
        <p:sp>
          <p:nvSpPr>
            <p:cNvPr id="8" name="Freeform 12">
              <a:extLst>
                <a:ext uri="{FF2B5EF4-FFF2-40B4-BE49-F238E27FC236}">
                  <a16:creationId xmlns:a16="http://schemas.microsoft.com/office/drawing/2014/main" id="{13789522-1B9E-0A06-3374-29C8718672C2}"/>
                </a:ext>
              </a:extLst>
            </p:cNvPr>
            <p:cNvSpPr/>
            <p:nvPr/>
          </p:nvSpPr>
          <p:spPr>
            <a:xfrm rot="10800000">
              <a:off x="3491346" y="0"/>
              <a:ext cx="2508932" cy="2501550"/>
            </a:xfrm>
            <a:custGeom>
              <a:avLst/>
              <a:gdLst>
                <a:gd name="connsiteX0" fmla="*/ 2508932 w 2508932"/>
                <a:gd name="connsiteY0" fmla="*/ 2501550 h 2501550"/>
                <a:gd name="connsiteX1" fmla="*/ 0 w 2508932"/>
                <a:gd name="connsiteY1" fmla="*/ 2501550 h 2501550"/>
                <a:gd name="connsiteX2" fmla="*/ 0 w 2508932"/>
                <a:gd name="connsiteY2" fmla="*/ 1148841 h 2501550"/>
                <a:gd name="connsiteX3" fmla="*/ 531517 w 2508932"/>
                <a:gd name="connsiteY3" fmla="*/ 0 h 2501550"/>
                <a:gd name="connsiteX4" fmla="*/ 2508932 w 2508932"/>
                <a:gd name="connsiteY4" fmla="*/ 2501550 h 2501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08932" h="2501550">
                  <a:moveTo>
                    <a:pt x="2508932" y="2501550"/>
                  </a:moveTo>
                  <a:lnTo>
                    <a:pt x="0" y="2501550"/>
                  </a:lnTo>
                  <a:lnTo>
                    <a:pt x="0" y="1148841"/>
                  </a:lnTo>
                  <a:lnTo>
                    <a:pt x="531517" y="0"/>
                  </a:lnTo>
                  <a:lnTo>
                    <a:pt x="2508932" y="2501550"/>
                  </a:lnTo>
                  <a:close/>
                </a:path>
              </a:pathLst>
            </a:custGeom>
            <a:solidFill>
              <a:srgbClr val="E2DF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 dirty="0">
                <a:solidFill>
                  <a:schemeClr val="tx2"/>
                </a:solidFill>
              </a:endParaRPr>
            </a:p>
          </p:txBody>
        </p:sp>
        <p:sp>
          <p:nvSpPr>
            <p:cNvPr id="9" name="Freeform 13">
              <a:extLst>
                <a:ext uri="{FF2B5EF4-FFF2-40B4-BE49-F238E27FC236}">
                  <a16:creationId xmlns:a16="http://schemas.microsoft.com/office/drawing/2014/main" id="{2F359338-0AA2-A49E-B0A1-A042CE3D667B}"/>
                </a:ext>
              </a:extLst>
            </p:cNvPr>
            <p:cNvSpPr/>
            <p:nvPr/>
          </p:nvSpPr>
          <p:spPr>
            <a:xfrm rot="10800000">
              <a:off x="3680272" y="1352707"/>
              <a:ext cx="2320007" cy="5014556"/>
            </a:xfrm>
            <a:custGeom>
              <a:avLst/>
              <a:gdLst>
                <a:gd name="connsiteX0" fmla="*/ 0 w 2320007"/>
                <a:gd name="connsiteY0" fmla="*/ 5014556 h 5014556"/>
                <a:gd name="connsiteX1" fmla="*/ 0 w 2320007"/>
                <a:gd name="connsiteY1" fmla="*/ 0 h 5014556"/>
                <a:gd name="connsiteX2" fmla="*/ 2320007 w 2320007"/>
                <a:gd name="connsiteY2" fmla="*/ 0 h 5014556"/>
                <a:gd name="connsiteX3" fmla="*/ 531518 w 2320007"/>
                <a:gd name="connsiteY3" fmla="*/ 3865713 h 5014556"/>
                <a:gd name="connsiteX4" fmla="*/ 1 w 2320007"/>
                <a:gd name="connsiteY4" fmla="*/ 3193313 h 5014556"/>
                <a:gd name="connsiteX5" fmla="*/ 1 w 2320007"/>
                <a:gd name="connsiteY5" fmla="*/ 5014554 h 5014556"/>
                <a:gd name="connsiteX6" fmla="*/ 0 w 2320007"/>
                <a:gd name="connsiteY6" fmla="*/ 5014556 h 5014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20007" h="5014556">
                  <a:moveTo>
                    <a:pt x="0" y="5014556"/>
                  </a:moveTo>
                  <a:lnTo>
                    <a:pt x="0" y="0"/>
                  </a:lnTo>
                  <a:lnTo>
                    <a:pt x="2320007" y="0"/>
                  </a:lnTo>
                  <a:lnTo>
                    <a:pt x="531518" y="3865713"/>
                  </a:lnTo>
                  <a:lnTo>
                    <a:pt x="1" y="3193313"/>
                  </a:lnTo>
                  <a:lnTo>
                    <a:pt x="1" y="5014554"/>
                  </a:lnTo>
                  <a:lnTo>
                    <a:pt x="0" y="50145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 dirty="0">
                <a:solidFill>
                  <a:schemeClr val="tx2"/>
                </a:solidFill>
              </a:endParaRPr>
            </a:p>
          </p:txBody>
        </p:sp>
      </p:grpSp>
      <p:sp>
        <p:nvSpPr>
          <p:cNvPr id="2" name="Slide Title">
            <a:extLst>
              <a:ext uri="{FF2B5EF4-FFF2-40B4-BE49-F238E27FC236}">
                <a16:creationId xmlns:a16="http://schemas.microsoft.com/office/drawing/2014/main" id="{A4407840-F6A4-4638-BB2F-9FBAA1A814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4801"/>
            <a:ext cx="11277600" cy="678611"/>
          </a:xfrm>
          <a:prstGeom prst="rect">
            <a:avLst/>
          </a:prstGeom>
        </p:spPr>
        <p:txBody>
          <a:bodyPr anchor="ctr"/>
          <a:lstStyle>
            <a:lvl1pPr>
              <a:defRPr sz="2400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D13536C2-DC17-4031-9948-17E37EF9911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57200" y="1276710"/>
            <a:ext cx="11277600" cy="497169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Appendix Link">
            <a:extLst>
              <a:ext uri="{FF2B5EF4-FFF2-40B4-BE49-F238E27FC236}">
                <a16:creationId xmlns:a16="http://schemas.microsoft.com/office/drawing/2014/main" id="{B99614B3-68E1-0DE1-8128-450F1A4F372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498848" y="6336792"/>
            <a:ext cx="3206496" cy="192024"/>
          </a:xfrm>
        </p:spPr>
        <p:txBody>
          <a:bodyPr anchor="ctr">
            <a:noAutofit/>
          </a:bodyPr>
          <a:lstStyle>
            <a:lvl1pPr algn="ctr">
              <a:defRPr sz="900"/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Add text alternative link, if needed.</a:t>
            </a:r>
          </a:p>
        </p:txBody>
      </p:sp>
      <p:sp>
        <p:nvSpPr>
          <p:cNvPr id="10" name="Image Credit">
            <a:extLst>
              <a:ext uri="{FF2B5EF4-FFF2-40B4-BE49-F238E27FC236}">
                <a16:creationId xmlns:a16="http://schemas.microsoft.com/office/drawing/2014/main" id="{01A60C2A-770F-089E-ED18-3A2EE77616F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82800" y="6684264"/>
            <a:ext cx="9296400" cy="173736"/>
          </a:xfrm>
        </p:spPr>
        <p:txBody>
          <a:bodyPr anchor="ctr">
            <a:noAutofit/>
          </a:bodyPr>
          <a:lstStyle>
            <a:lvl1pPr algn="r">
              <a:defRPr sz="800"/>
            </a:lvl1pPr>
            <a:lvl2pPr algn="r">
              <a:defRPr sz="800"/>
            </a:lvl2pPr>
            <a:lvl3pPr algn="r">
              <a:defRPr sz="800"/>
            </a:lvl3pPr>
            <a:lvl4pPr algn="r">
              <a:defRPr sz="800"/>
            </a:lvl4pPr>
            <a:lvl5pPr algn="r">
              <a:defRPr sz="800"/>
            </a:lvl5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Insert Image Credit Here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745DF60F-BF33-428F-883B-9C19F83780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151E55-6873-49E2-B8D5-2F265E6F197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20801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orient="horz" pos="360">
          <p15:clr>
            <a:srgbClr val="FBAE40"/>
          </p15:clr>
        </p15:guide>
        <p15:guide id="3" pos="264">
          <p15:clr>
            <a:srgbClr val="FBAE4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idden Slide Title">
            <a:extLst>
              <a:ext uri="{FF2B5EF4-FFF2-40B4-BE49-F238E27FC236}">
                <a16:creationId xmlns:a16="http://schemas.microsoft.com/office/drawing/2014/main" id="{D3229D0C-04EF-482F-B26C-8D49CD33DB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67933" y="418392"/>
            <a:ext cx="3056137" cy="29182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hidden title here </a:t>
            </a:r>
          </a:p>
        </p:txBody>
      </p:sp>
      <p:pic>
        <p:nvPicPr>
          <p:cNvPr id="6" name="MGH Logo">
            <a:extLst>
              <a:ext uri="{FF2B5EF4-FFF2-40B4-BE49-F238E27FC236}">
                <a16:creationId xmlns:a16="http://schemas.microsoft.com/office/drawing/2014/main" id="{60DCFDF5-2A5B-440E-888A-BC0BFEF9FF5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6949" y="1005698"/>
            <a:ext cx="3258105" cy="2443579"/>
          </a:xfrm>
          <a:prstGeom prst="rect">
            <a:avLst/>
          </a:prstGeom>
        </p:spPr>
      </p:pic>
      <p:sp>
        <p:nvSpPr>
          <p:cNvPr id="9" name="MGH Tagline">
            <a:extLst>
              <a:ext uri="{FF2B5EF4-FFF2-40B4-BE49-F238E27FC236}">
                <a16:creationId xmlns:a16="http://schemas.microsoft.com/office/drawing/2014/main" id="{F040BF5C-A78D-440C-93DF-72F3F641F3F1}"/>
              </a:ext>
            </a:extLst>
          </p:cNvPr>
          <p:cNvSpPr txBox="1"/>
          <p:nvPr userDrawn="1"/>
        </p:nvSpPr>
        <p:spPr>
          <a:xfrm>
            <a:off x="2307662" y="3796683"/>
            <a:ext cx="7576677" cy="469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4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+mn-cs"/>
              </a:rPr>
              <a:t>Because learning changes everything.</a:t>
            </a:r>
            <a:r>
              <a:rPr kumimoji="0" lang="en-US" sz="1400" b="0" i="0" u="none" strike="noStrike" kern="1200" cap="none" spc="40" normalizeH="0" baseline="6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+mn-cs"/>
              </a:rPr>
              <a:t>®</a:t>
            </a:r>
            <a:endParaRPr kumimoji="0" lang="en-US" sz="2400" b="0" i="0" u="none" strike="noStrike" kern="1200" cap="none" spc="40" normalizeH="0" baseline="60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MGH URL">
            <a:extLst>
              <a:ext uri="{FF2B5EF4-FFF2-40B4-BE49-F238E27FC236}">
                <a16:creationId xmlns:a16="http://schemas.microsoft.com/office/drawing/2014/main" id="{2215B5DD-E18E-478F-81B9-79BA83A9A251}"/>
              </a:ext>
            </a:extLst>
          </p:cNvPr>
          <p:cNvSpPr txBox="1"/>
          <p:nvPr userDrawn="1"/>
        </p:nvSpPr>
        <p:spPr>
          <a:xfrm>
            <a:off x="4358781" y="5329121"/>
            <a:ext cx="34744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www.mheducation.com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91892E2-935E-4CF8-A8C9-889BC59AE0F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45533" y="6551614"/>
            <a:ext cx="11745384" cy="17938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076648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9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64819377-49A4-4FAF-9376-1B9935A96765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7128DA7F-F6FE-453F-B8BB-1900E7257DA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452266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8" r:id="rId1"/>
    <p:sldLayoutId id="2147483829" r:id="rId2"/>
    <p:sldLayoutId id="2147483830" r:id="rId3"/>
    <p:sldLayoutId id="2147483831" r:id="rId4"/>
    <p:sldLayoutId id="2147483832" r:id="rId5"/>
    <p:sldLayoutId id="2147483833" r:id="rId6"/>
    <p:sldLayoutId id="2147483834" r:id="rId7"/>
    <p:sldLayoutId id="2147483835" r:id="rId8"/>
    <p:sldLayoutId id="2147483836" r:id="rId9"/>
    <p:sldLayoutId id="2147483837" r:id="rId10"/>
    <p:sldLayoutId id="2147483838" r:id="rId11"/>
    <p:sldLayoutId id="2147483839" r:id="rId12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">
            <a:extLst>
              <a:ext uri="{FF2B5EF4-FFF2-40B4-BE49-F238E27FC236}">
                <a16:creationId xmlns:a16="http://schemas.microsoft.com/office/drawing/2014/main" id="{881C4C4E-EEEF-442A-AE3B-63C7E062F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36257"/>
            <a:ext cx="112776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Title goes here</a:t>
            </a:r>
          </a:p>
        </p:txBody>
      </p:sp>
      <p:sp>
        <p:nvSpPr>
          <p:cNvPr id="5" name="Text Placeholder">
            <a:extLst>
              <a:ext uri="{FF2B5EF4-FFF2-40B4-BE49-F238E27FC236}">
                <a16:creationId xmlns:a16="http://schemas.microsoft.com/office/drawing/2014/main" id="{4F2C87DD-ADFA-433D-B7C8-4E9E42BC9E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273877"/>
            <a:ext cx="11277600" cy="49443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2" name="Slide Number Placeholder">
            <a:extLst>
              <a:ext uri="{FF2B5EF4-FFF2-40B4-BE49-F238E27FC236}">
                <a16:creationId xmlns:a16="http://schemas.microsoft.com/office/drawing/2014/main" id="{C2E4AF62-4201-4F5D-966F-4A59CD13C9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1883" y="6673531"/>
            <a:ext cx="474453" cy="161396"/>
          </a:xfrm>
          <a:prstGeom prst="rect">
            <a:avLst/>
          </a:prstGeom>
        </p:spPr>
        <p:txBody>
          <a:bodyPr vert="horz" lIns="45720" tIns="45720" rIns="4572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68151E55-6873-49E2-B8D5-2F265E6F197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Short Copyright">
            <a:extLst>
              <a:ext uri="{FF2B5EF4-FFF2-40B4-BE49-F238E27FC236}">
                <a16:creationId xmlns:a16="http://schemas.microsoft.com/office/drawing/2014/main" id="{286672F0-EFBD-F477-833D-074BA85D520A}"/>
              </a:ext>
            </a:extLst>
          </p:cNvPr>
          <p:cNvSpPr txBox="1"/>
          <p:nvPr userDrawn="1"/>
        </p:nvSpPr>
        <p:spPr>
          <a:xfrm>
            <a:off x="287544" y="6619890"/>
            <a:ext cx="1644771" cy="215444"/>
          </a:xfrm>
          <a:prstGeom prst="rect">
            <a:avLst/>
          </a:prstGeom>
          <a:noFill/>
        </p:spPr>
        <p:txBody>
          <a:bodyPr wrap="square" lIns="45720" rIns="45720" rtlCol="0" anchor="ctr">
            <a:spAutoFit/>
          </a:bodyPr>
          <a:lstStyle/>
          <a:p>
            <a:r>
              <a:rPr lang="en-US" sz="800" b="0" dirty="0">
                <a:solidFill>
                  <a:schemeClr val="tx1"/>
                </a:solidFill>
              </a:rPr>
              <a:t>© McGraw Hill LLC</a:t>
            </a:r>
          </a:p>
        </p:txBody>
      </p:sp>
    </p:spTree>
    <p:extLst>
      <p:ext uri="{BB962C8B-B14F-4D97-AF65-F5344CB8AC3E}">
        <p14:creationId xmlns:p14="http://schemas.microsoft.com/office/powerpoint/2010/main" val="36835048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3" r:id="rId1"/>
    <p:sldLayoutId id="2147483844" r:id="rId2"/>
    <p:sldLayoutId id="2147483845" r:id="rId3"/>
    <p:sldLayoutId id="2147483846" r:id="rId4"/>
    <p:sldLayoutId id="2147483847" r:id="rId5"/>
    <p:sldLayoutId id="2147483848" r:id="rId6"/>
    <p:sldLayoutId id="2147483849" r:id="rId7"/>
    <p:sldLayoutId id="2147483850" r:id="rId8"/>
  </p:sldLayoutIdLst>
  <p:hf hdr="0" dt="0"/>
  <p:txStyles>
    <p:titleStyle>
      <a:lvl1pPr algn="ctr" defTabSz="914400" rtl="0" eaLnBrk="1" latinLnBrk="0" hangingPunct="1">
        <a:lnSpc>
          <a:spcPct val="100000"/>
        </a:lnSpc>
        <a:spcBef>
          <a:spcPct val="0"/>
        </a:spcBef>
        <a:buNone/>
        <a:defRPr sz="24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Tx/>
        <a:buFont typeface="Arial" panose="020B0604020202020204" pitchFamily="34" charset="0"/>
        <a:buNone/>
        <a:tabLst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344488" indent="-342900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ClrTx/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517525" indent="-285750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741363" indent="-285750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971550" indent="-28575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orient="horz" pos="192">
          <p15:clr>
            <a:srgbClr val="F26B43"/>
          </p15:clr>
        </p15:guide>
        <p15:guide id="6" pos="216">
          <p15:clr>
            <a:srgbClr val="F26B43"/>
          </p15:clr>
        </p15:guide>
        <p15:guide id="7" pos="5544">
          <p15:clr>
            <a:srgbClr val="F26B43"/>
          </p15:clr>
        </p15:guide>
        <p15:guide id="9" orient="horz" pos="4211">
          <p15:clr>
            <a:srgbClr val="F26B43"/>
          </p15:clr>
        </p15:guide>
        <p15:guide id="10" orient="horz" pos="624">
          <p15:clr>
            <a:srgbClr val="F26B43"/>
          </p15:clr>
        </p15:guide>
        <p15:guide id="11" orient="horz" pos="4104">
          <p15:clr>
            <a:srgbClr val="F26B43"/>
          </p15:clr>
        </p15:guide>
        <p15:guide id="12" orient="horz" pos="864">
          <p15:clr>
            <a:srgbClr val="F26B43"/>
          </p15:clr>
        </p15:guide>
        <p15:guide id="13" orient="horz" pos="360">
          <p15:clr>
            <a:srgbClr val="F26B43"/>
          </p15:clr>
        </p15:guide>
        <p15:guide id="14" orient="horz" pos="3936">
          <p15:clr>
            <a:srgbClr val="F26B43"/>
          </p15:clr>
        </p15:guide>
        <p15:guide id="15" pos="984">
          <p15:clr>
            <a:srgbClr val="F26B43"/>
          </p15:clr>
        </p15:guide>
        <p15:guide id="16" pos="5376">
          <p15:clr>
            <a:srgbClr val="F26B43"/>
          </p15:clr>
        </p15:guide>
        <p15:guide id="17" pos="2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3" name="Rectangle 46">
            <a:extLst>
              <a:ext uri="{FF2B5EF4-FFF2-40B4-BE49-F238E27FC236}">
                <a16:creationId xmlns:a16="http://schemas.microsoft.com/office/drawing/2014/main" id="{4B526CBF-0AA4-49A9-B305-EE0AF3AF6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9" name="Graphic 6">
            <a:extLst>
              <a:ext uri="{FF2B5EF4-FFF2-40B4-BE49-F238E27FC236}">
                <a16:creationId xmlns:a16="http://schemas.microsoft.com/office/drawing/2014/main" id="{D0C97962-9B04-4057-B188-11149357C5A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410" r="909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54" name="Group 48">
            <a:extLst>
              <a:ext uri="{FF2B5EF4-FFF2-40B4-BE49-F238E27FC236}">
                <a16:creationId xmlns:a16="http://schemas.microsoft.com/office/drawing/2014/main" id="{CC8B5139-02E6-4DEA-9CCE-962CAF0AFB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38068" y="457200"/>
            <a:ext cx="3703320" cy="5935132"/>
            <a:chOff x="438068" y="457200"/>
            <a:chExt cx="3703320" cy="5935132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C0470BC0-AB0D-4A03-B4F1-5DDA9A31C1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8" y="618067"/>
              <a:ext cx="3702134" cy="5774265"/>
            </a:xfrm>
            <a:prstGeom prst="rect">
              <a:avLst/>
            </a:prstGeom>
            <a:solidFill>
              <a:schemeClr val="accent1">
                <a:alpha val="97000"/>
              </a:schemeClr>
            </a:solidFill>
            <a:ln w="6350" cmpd="sng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SG"/>
            </a:p>
          </p:txBody>
        </p:sp>
        <p:sp>
          <p:nvSpPr>
            <p:cNvPr id="55" name="Rectangle 50">
              <a:extLst>
                <a:ext uri="{FF2B5EF4-FFF2-40B4-BE49-F238E27FC236}">
                  <a16:creationId xmlns:a16="http://schemas.microsoft.com/office/drawing/2014/main" id="{724A08B2-EC2C-4641-81BE-FE8B068BE1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8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SG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D45297A-70E3-4F5C-AA43-1D8C6B3C17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4200" y="2142067"/>
            <a:ext cx="3412067" cy="2971801"/>
          </a:xfrm>
        </p:spPr>
        <p:txBody>
          <a:bodyPr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US" sz="2800" dirty="0">
                <a:solidFill>
                  <a:srgbClr val="FFFFFF"/>
                </a:solidFill>
              </a:rPr>
              <a:t>Advanced Corporate Finance (LL4554V/LL5554V/LLJ5554V/LL6554V)</a:t>
            </a:r>
            <a:br>
              <a:rPr lang="en-US" sz="2800" dirty="0">
                <a:solidFill>
                  <a:srgbClr val="FFFFFF"/>
                </a:solidFill>
              </a:rPr>
            </a:br>
            <a:r>
              <a:rPr lang="en-US" sz="2800" dirty="0">
                <a:solidFill>
                  <a:srgbClr val="FFFFFF"/>
                </a:solidFill>
              </a:rPr>
              <a:t>9. capital structures and MM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F399D7-8786-400E-A7D4-C11F30DD6F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4200" y="5145513"/>
            <a:ext cx="3412067" cy="73882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000" cap="none" dirty="0">
                <a:solidFill>
                  <a:srgbClr val="EBEBEB"/>
                </a:solidFill>
              </a:rPr>
              <a:t>Kenneth Khoo</a:t>
            </a:r>
          </a:p>
          <a:p>
            <a:pPr>
              <a:lnSpc>
                <a:spcPct val="90000"/>
              </a:lnSpc>
            </a:pPr>
            <a:r>
              <a:rPr lang="en-US" sz="1000" cap="none" dirty="0">
                <a:solidFill>
                  <a:srgbClr val="EBEBEB"/>
                </a:solidFill>
              </a:rPr>
              <a:t>kenneth.khoo@nus.edu.sg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9180A0-7C01-47B5-8308-3D0F8B7C1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8DA7F-F6FE-453F-B8BB-1900E7257DA6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41499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Today’s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000" dirty="0"/>
              <a:t>Capital Structure in Perfect Markets (Ch. 16)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800" dirty="0"/>
              <a:t>MM Proposition 1: firm value is independent of capital structure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800" dirty="0"/>
              <a:t>How leverage affects EPS, stock prices, and required returns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800" dirty="0"/>
              <a:t>MM Proposition 2: the cost of equity rises with leverage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000" dirty="0"/>
              <a:t>How Much Should a Company Borrow? (Ch. 17)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800" dirty="0"/>
              <a:t>Debt and taxes: the interest tax shield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800" dirty="0"/>
              <a:t>Limits to tax advantages and personal taxes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800" dirty="0"/>
              <a:t>Bankruptcy costs and agency costs of debt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800" dirty="0"/>
              <a:t>Trade-off theory vs. pecking order theory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800" dirty="0"/>
              <a:t>Capital structure decisions in practice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n-SG">
                <a:solidFill>
                  <a:srgbClr val="FFFFFF"/>
                </a:solidFill>
              </a:rPr>
              <a:t>What Is Capital Structure?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81192" y="2180496"/>
                <a:ext cx="7225075" cy="3678303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 dirty="0"/>
                  <a:t>A company’s capital structure is its mix of debt and equity financing</a:t>
                </a:r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 dirty="0"/>
                  <a:t>A company using debt employs financial leverage (or gearing)</a:t>
                </a:r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 dirty="0"/>
                  <a:t>The key question: is there an ideal mix of D and E that maximizes the value of the firm?</a:t>
                </a:r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 dirty="0"/>
                  <a:t>Firm value: 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 panose="02040503050406030204"/>
                      </a:rPr>
                      <m:t>𝑉</m:t>
                    </m:r>
                    <m:r>
                      <a:rPr lang="en-US" sz="2000">
                        <a:latin typeface="Cambria Math" panose="02040503050406030204"/>
                      </a:rPr>
                      <m:t>=</m:t>
                    </m:r>
                    <m:r>
                      <a:rPr lang="en-US" sz="2000">
                        <a:latin typeface="Cambria Math" panose="02040503050406030204"/>
                      </a:rPr>
                      <m:t>𝐷</m:t>
                    </m:r>
                    <m:r>
                      <a:rPr lang="en-US" sz="2000">
                        <a:latin typeface="Cambria Math" panose="02040503050406030204"/>
                      </a:rPr>
                      <m:t>+</m:t>
                    </m:r>
                    <m:r>
                      <a:rPr lang="en-US" sz="2000">
                        <a:latin typeface="Cambria Math" panose="02040503050406030204"/>
                      </a:rPr>
                      <m:t>𝐸</m:t>
                    </m:r>
                  </m:oMath>
                </a14:m>
                <a:endParaRPr sz="2000" dirty="0"/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1800" dirty="0"/>
                  <a:t>Also called aggregate value, enterprise value, or entity value</a:t>
                </a:r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 dirty="0"/>
                  <a:t>If maximizing V also maximizes shareholder wealth, the problem reduces to finding the D/E mix that maximizes V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81192" y="2180496"/>
                <a:ext cx="7225075" cy="3678303"/>
              </a:xfrm>
              <a:blipFill>
                <a:blip r:embed="rId2"/>
                <a:stretch>
                  <a:fillRect l="-422" r="-1433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rcRect l="3022" r="15213" b="3"/>
          <a:stretch>
            <a:fillRect/>
          </a:stretch>
        </p:blipFill>
        <p:spPr>
          <a:xfrm>
            <a:off x="8051799" y="1871133"/>
            <a:ext cx="3683001" cy="450426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Capital Structure and Firm Value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spcBef>
                    <a:spcPts val="200"/>
                  </a:spcBef>
                  <a:spcAft>
                    <a:spcPts val="200"/>
                  </a:spcAft>
                  <a:buNone/>
                </a:pPr>
                <a:r>
                  <a:rPr sz="2000" b="1" dirty="0"/>
                  <a:t>Example: </a:t>
                </a:r>
                <a:r>
                  <a:rPr sz="2000" b="1" dirty="0" err="1"/>
                  <a:t>Wapshot</a:t>
                </a:r>
                <a:r>
                  <a:rPr sz="2000" b="1" dirty="0"/>
                  <a:t> Wind Farms</a:t>
                </a:r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:r>
                  <a:rPr lang="en-US" sz="1800" dirty="0"/>
                  <a:t>Issues </a:t>
                </a:r>
                <a:r>
                  <a:rPr sz="1800" dirty="0"/>
                  <a:t>1,000 shares at $50 each: </a:t>
                </a:r>
                <a14:m>
                  <m:oMath xmlns:m="http://schemas.openxmlformats.org/officeDocument/2006/math">
                    <m:r>
                      <a:rPr lang="en-US" sz="1800">
                        <a:latin typeface="Cambria Math" panose="02040503050406030204"/>
                      </a:rPr>
                      <m:t>𝐸</m:t>
                    </m:r>
                    <m:r>
                      <a:rPr lang="en-US" sz="1800">
                        <a:latin typeface="Cambria Math" panose="02040503050406030204"/>
                      </a:rPr>
                      <m:t>=1,000×$50=$50,000</m:t>
                    </m:r>
                  </m:oMath>
                </a14:m>
                <a:endParaRPr sz="1800" dirty="0"/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1800" dirty="0"/>
                  <a:t>Existing debt: $25,000: </a:t>
                </a:r>
                <a14:m>
                  <m:oMath xmlns:m="http://schemas.openxmlformats.org/officeDocument/2006/math">
                    <m:r>
                      <a:rPr lang="en-US" sz="1800">
                        <a:latin typeface="Cambria Math" panose="02040503050406030204"/>
                      </a:rPr>
                      <m:t>𝑉</m:t>
                    </m:r>
                    <m:r>
                      <a:rPr lang="en-US" sz="1800">
                        <a:latin typeface="Cambria Math" panose="02040503050406030204"/>
                      </a:rPr>
                      <m:t>=</m:t>
                    </m:r>
                    <m:r>
                      <a:rPr lang="en-US" sz="1800">
                        <a:latin typeface="Cambria Math" panose="02040503050406030204"/>
                      </a:rPr>
                      <m:t>𝐷</m:t>
                    </m:r>
                    <m:r>
                      <a:rPr lang="en-US" sz="1800">
                        <a:latin typeface="Cambria Math" panose="02040503050406030204"/>
                      </a:rPr>
                      <m:t>+</m:t>
                    </m:r>
                    <m:r>
                      <a:rPr lang="en-US" sz="1800">
                        <a:latin typeface="Cambria Math" panose="02040503050406030204"/>
                      </a:rPr>
                      <m:t>𝐸</m:t>
                    </m:r>
                    <m:r>
                      <a:rPr lang="en-US" sz="1800">
                        <a:latin typeface="Cambria Math" panose="02040503050406030204"/>
                      </a:rPr>
                      <m:t>=$75,000</m:t>
                    </m:r>
                  </m:oMath>
                </a14:m>
                <a:endParaRPr sz="1800" dirty="0"/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1800" dirty="0"/>
                  <a:t>Suppose </a:t>
                </a:r>
                <a:r>
                  <a:rPr sz="1800" dirty="0" err="1"/>
                  <a:t>Wapshot</a:t>
                </a:r>
                <a:r>
                  <a:rPr sz="1800" dirty="0"/>
                  <a:t> borrows an additional $10,000 and pays a special dividend:</a:t>
                </a:r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1800" dirty="0"/>
                  <a:t>New debt: </a:t>
                </a:r>
                <a14:m>
                  <m:oMath xmlns:m="http://schemas.openxmlformats.org/officeDocument/2006/math">
                    <m:r>
                      <a:rPr lang="en-US" sz="1800">
                        <a:latin typeface="Cambria Math" panose="02040503050406030204"/>
                      </a:rPr>
                      <m:t>𝐷</m:t>
                    </m:r>
                    <m:r>
                      <a:rPr lang="en-US" sz="1800">
                        <a:latin typeface="Cambria Math" panose="02040503050406030204"/>
                      </a:rPr>
                      <m:t>=$35,000</m:t>
                    </m:r>
                  </m:oMath>
                </a14:m>
                <a:endParaRPr sz="1800" dirty="0"/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1800" dirty="0"/>
                  <a:t>If V stays at $75,000: </a:t>
                </a:r>
                <a14:m>
                  <m:oMath xmlns:m="http://schemas.openxmlformats.org/officeDocument/2006/math">
                    <m:r>
                      <a:rPr lang="en-US" sz="1800">
                        <a:latin typeface="Cambria Math" panose="02040503050406030204"/>
                      </a:rPr>
                      <m:t>𝐸</m:t>
                    </m:r>
                    <m:r>
                      <a:rPr lang="en-US" sz="1800">
                        <a:latin typeface="Cambria Math" panose="02040503050406030204"/>
                      </a:rPr>
                      <m:t>=$75,000−$35,000=$40,000</m:t>
                    </m:r>
                  </m:oMath>
                </a14:m>
                <a:endParaRPr sz="1800" dirty="0"/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1800" dirty="0"/>
                  <a:t>Shareholders lose $10,000 in capital but receive $10,000 dividend → net wealth </a:t>
                </a:r>
                <a:r>
                  <a:rPr lang="en-US" sz="1800" dirty="0"/>
                  <a:t>of shareholders </a:t>
                </a:r>
                <a:r>
                  <a:rPr sz="1800" dirty="0"/>
                  <a:t>unchanged</a:t>
                </a:r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 dirty="0"/>
                  <a:t>If V rises to $80,000: 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 panose="02040503050406030204"/>
                      </a:rPr>
                      <m:t>𝐸</m:t>
                    </m:r>
                    <m:r>
                      <a:rPr lang="en-US" sz="2000">
                        <a:latin typeface="Cambria Math" panose="02040503050406030204"/>
                      </a:rPr>
                      <m:t>=$45,000</m:t>
                    </m:r>
                  </m:oMath>
                </a14:m>
                <a:r>
                  <a:rPr sz="2000" dirty="0"/>
                  <a:t>, shareholder wealth rises to $55,000</a:t>
                </a:r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 b="1" dirty="0"/>
                  <a:t>Any change in V </a:t>
                </a:r>
                <a:r>
                  <a:rPr sz="2000" dirty="0"/>
                  <a:t>translates into the </a:t>
                </a:r>
                <a:r>
                  <a:rPr sz="2000" b="1" dirty="0"/>
                  <a:t>same change in shareholder wealth</a:t>
                </a:r>
                <a:r>
                  <a:rPr lang="en-US" sz="2000" b="1" dirty="0"/>
                  <a:t>.</a:t>
                </a:r>
                <a:endParaRPr sz="2000" b="1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52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Maximizing V Maximizes Shareholder Wealth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000" dirty="0"/>
              <a:t>Debtholders are unaffected by changes in capital structure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800" dirty="0"/>
              <a:t>New debt is issued (or retired) at fair market terms → zero-NPV transaction for debtholders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000" dirty="0"/>
              <a:t>Therefore any increase or decrease in V goes entirely to shareholders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000" b="1" dirty="0"/>
              <a:t>Key result:</a:t>
            </a:r>
            <a:r>
              <a:rPr sz="2000" dirty="0"/>
              <a:t> the capital structure that maximizes firm value also maximizes shareholder wealth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sz="2000" b="1" dirty="0"/>
              <a:t>Two important assumptions:</a:t>
            </a:r>
          </a:p>
          <a:p>
            <a:pPr marL="666900" lvl="1" indent="-342900">
              <a:spcBef>
                <a:spcPts val="200"/>
              </a:spcBef>
              <a:spcAft>
                <a:spcPts val="200"/>
              </a:spcAft>
              <a:buFont typeface="+mj-lt"/>
              <a:buAutoNum type="arabicPeriod"/>
            </a:pPr>
            <a:r>
              <a:rPr sz="1800" dirty="0"/>
              <a:t>Shareholder value is independent of payout policy (Ch. 15)</a:t>
            </a:r>
          </a:p>
          <a:p>
            <a:pPr marL="666900" lvl="1" indent="-342900">
              <a:spcBef>
                <a:spcPts val="200"/>
              </a:spcBef>
              <a:spcAft>
                <a:spcPts val="200"/>
              </a:spcAft>
              <a:buFont typeface="+mj-lt"/>
              <a:buAutoNum type="arabicPeriod"/>
            </a:pPr>
            <a:r>
              <a:rPr sz="1800" dirty="0"/>
              <a:t>The value of existing debt is unchanged by new borrowing</a:t>
            </a:r>
            <a:r>
              <a:rPr lang="en-US" sz="1800" dirty="0"/>
              <a:t> [re-</a:t>
            </a:r>
            <a:r>
              <a:rPr lang="en-US" sz="1800" dirty="0" err="1"/>
              <a:t>eamined</a:t>
            </a:r>
            <a:r>
              <a:rPr lang="en-US" sz="1800" dirty="0"/>
              <a:t> later]</a:t>
            </a:r>
            <a:endParaRPr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n-SG">
                <a:solidFill>
                  <a:srgbClr val="FFFFFF"/>
                </a:solidFill>
              </a:rPr>
              <a:t>Modigliani and Miller’s Proposition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7225075" cy="3678303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sz="2000" b="1" dirty="0"/>
              <a:t>MM Proposition 1 (1958):</a:t>
            </a:r>
            <a:endParaRPr lang="en-SG" sz="2000" b="1" dirty="0"/>
          </a:p>
          <a:p>
            <a:pPr lvl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sz="1800" dirty="0"/>
              <a:t>In perfect capital markets, and given a fixed set of unlevered cash flows, </a:t>
            </a:r>
            <a:r>
              <a:rPr sz="1800" b="1" dirty="0"/>
              <a:t>the value of a firm is independent of its capital structure</a:t>
            </a:r>
            <a:endParaRPr lang="en-SG" sz="1800" b="1" dirty="0"/>
          </a:p>
          <a:p>
            <a:pPr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sz="2000" dirty="0"/>
              <a:t>A firm’s value depends on its assets </a:t>
            </a:r>
            <a:r>
              <a:rPr lang="en-US" sz="2000" dirty="0"/>
              <a:t>(</a:t>
            </a:r>
            <a:r>
              <a:rPr sz="2000" dirty="0"/>
              <a:t>what it does</a:t>
            </a:r>
            <a:r>
              <a:rPr lang="en-US" sz="2000" dirty="0"/>
              <a:t>), </a:t>
            </a:r>
            <a:r>
              <a:rPr sz="2000" dirty="0"/>
              <a:t>not on how it is financed</a:t>
            </a:r>
            <a:endParaRPr lang="en-SG" sz="2000" dirty="0"/>
          </a:p>
          <a:p>
            <a:pPr lvl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sz="1800" dirty="0"/>
              <a:t>Products, services, corporate culture, brand, growth opportunities</a:t>
            </a:r>
            <a:endParaRPr lang="en-SG" sz="1800" dirty="0"/>
          </a:p>
          <a:p>
            <a:pPr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sz="2000" dirty="0"/>
              <a:t>Analogy: the price of a house depends on its location, size, and condition — not on how much mortgage its owner has</a:t>
            </a:r>
            <a:endParaRPr lang="en-SG" sz="2000" dirty="0"/>
          </a:p>
          <a:p>
            <a:pPr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sz="2000" b="1" dirty="0"/>
              <a:t>Perfect capital market assumptions:</a:t>
            </a:r>
            <a:endParaRPr lang="en-SG" sz="2000" b="1" dirty="0"/>
          </a:p>
          <a:p>
            <a:pPr lvl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sz="1800" dirty="0"/>
              <a:t>No taxes, no bankruptcy costs, no transaction costs</a:t>
            </a:r>
            <a:endParaRPr lang="en-SG" sz="1800" dirty="0"/>
          </a:p>
          <a:p>
            <a:pPr lvl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sz="1800" dirty="0"/>
              <a:t>Investors can borrow and lend at the same rate as firms</a:t>
            </a:r>
            <a:endParaRPr lang="en-SG" sz="1800" dirty="0"/>
          </a:p>
          <a:p>
            <a:pPr lvl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sz="1800" dirty="0"/>
              <a:t>Symmetric information between managers and investors</a:t>
            </a:r>
            <a:endParaRPr lang="en-SG" sz="1800" dirty="0"/>
          </a:p>
          <a:p>
            <a:pPr lvl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sz="1800" dirty="0"/>
              <a:t>Newly issued securities are fairly priced (zero-NPV transactions)</a:t>
            </a:r>
            <a:endParaRPr lang="en-SG" sz="1800" dirty="0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rcRect l="7510" r="10726" b="3"/>
          <a:stretch>
            <a:fillRect/>
          </a:stretch>
        </p:blipFill>
        <p:spPr>
          <a:xfrm>
            <a:off x="8051799" y="1871133"/>
            <a:ext cx="3683001" cy="450426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DIY Principle: Low-Risk Strategy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 dirty="0"/>
                  <a:t>Consider two firms with identical cash flows: Firm U (unlevered) and Firm L (levered)</a:t>
                </a:r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 b="1" dirty="0"/>
                  <a:t>Strategy A:</a:t>
                </a:r>
                <a:r>
                  <a:rPr sz="2000" dirty="0"/>
                  <a:t> Buy 1% of unlevered Firm U</a:t>
                </a:r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1800" dirty="0"/>
                  <a:t>Investment: </a:t>
                </a:r>
                <a14:m>
                  <m:oMath xmlns:m="http://schemas.openxmlformats.org/officeDocument/2006/math">
                    <m:r>
                      <a:rPr lang="en-US" sz="1800">
                        <a:latin typeface="Cambria Math" panose="02040503050406030204"/>
                      </a:rPr>
                      <m:t>0.01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>
                            <a:latin typeface="Cambria Math" panose="02040503050406030204"/>
                          </a:rPr>
                          <m:t>𝑉</m:t>
                        </m:r>
                      </m:e>
                      <m:sub>
                        <m:r>
                          <a:rPr lang="en-US" sz="1800">
                            <a:latin typeface="Cambria Math" panose="02040503050406030204"/>
                          </a:rPr>
                          <m:t>𝑈</m:t>
                        </m:r>
                      </m:sub>
                    </m:sSub>
                  </m:oMath>
                </a14:m>
                <a:endParaRPr sz="1800" dirty="0"/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1800" u="sng" dirty="0"/>
                  <a:t>Return: </a:t>
                </a:r>
                <a14:m>
                  <m:oMath xmlns:m="http://schemas.openxmlformats.org/officeDocument/2006/math">
                    <m:r>
                      <a:rPr lang="en-US" sz="1800" u="sng">
                        <a:latin typeface="Cambria Math" panose="02040503050406030204"/>
                      </a:rPr>
                      <m:t>0.01×</m:t>
                    </m:r>
                    <m:r>
                      <m:rPr>
                        <m:nor/>
                      </m:rPr>
                      <a:rPr lang="en-US" sz="1800" u="sng">
                        <a:latin typeface="Cambria Math" panose="02040503050406030204"/>
                      </a:rPr>
                      <m:t>Profits</m:t>
                    </m:r>
                  </m:oMath>
                </a14:m>
                <a:endParaRPr sz="1800" u="sng" dirty="0"/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 b="1" dirty="0"/>
                  <a:t>Strategy B:</a:t>
                </a:r>
                <a:r>
                  <a:rPr sz="2000" dirty="0"/>
                  <a:t> Buy 1% of both the debt and equity of levered Firm L</a:t>
                </a:r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1800" dirty="0"/>
                  <a:t>Debt: </a:t>
                </a:r>
                <a14:m>
                  <m:oMath xmlns:m="http://schemas.openxmlformats.org/officeDocument/2006/math">
                    <m:r>
                      <a:rPr lang="en-US" sz="1800">
                        <a:latin typeface="Cambria Math" panose="02040503050406030204"/>
                      </a:rPr>
                      <m:t>0.01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>
                            <a:latin typeface="Cambria Math" panose="02040503050406030204"/>
                          </a:rPr>
                          <m:t>𝐷</m:t>
                        </m:r>
                      </m:e>
                      <m:sub>
                        <m:r>
                          <a:rPr lang="en-US" sz="1800">
                            <a:latin typeface="Cambria Math" panose="02040503050406030204"/>
                          </a:rPr>
                          <m:t>𝐿</m:t>
                        </m:r>
                      </m:sub>
                    </m:sSub>
                  </m:oMath>
                </a14:m>
                <a:r>
                  <a:rPr sz="1800" dirty="0"/>
                  <a:t> earns </a:t>
                </a:r>
                <a14:m>
                  <m:oMath xmlns:m="http://schemas.openxmlformats.org/officeDocument/2006/math">
                    <m:r>
                      <a:rPr lang="en-US" sz="1800">
                        <a:latin typeface="Cambria Math" panose="02040503050406030204"/>
                      </a:rPr>
                      <m:t>0.01×</m:t>
                    </m:r>
                    <m:r>
                      <m:rPr>
                        <m:nor/>
                      </m:rPr>
                      <a:rPr lang="en-US" sz="1800">
                        <a:latin typeface="Cambria Math" panose="02040503050406030204"/>
                      </a:rPr>
                      <m:t>Interest</m:t>
                    </m:r>
                  </m:oMath>
                </a14:m>
                <a:endParaRPr sz="1800" dirty="0"/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1800" dirty="0"/>
                  <a:t>Equity: </a:t>
                </a:r>
                <a14:m>
                  <m:oMath xmlns:m="http://schemas.openxmlformats.org/officeDocument/2006/math">
                    <m:r>
                      <a:rPr lang="en-US" sz="1800">
                        <a:latin typeface="Cambria Math" panose="02040503050406030204"/>
                      </a:rPr>
                      <m:t>0.01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>
                            <a:latin typeface="Cambria Math" panose="02040503050406030204"/>
                          </a:rPr>
                          <m:t>𝐸</m:t>
                        </m:r>
                      </m:e>
                      <m:sub>
                        <m:r>
                          <a:rPr lang="en-US" sz="1800">
                            <a:latin typeface="Cambria Math" panose="02040503050406030204"/>
                          </a:rPr>
                          <m:t>𝐿</m:t>
                        </m:r>
                      </m:sub>
                    </m:sSub>
                  </m:oMath>
                </a14:m>
                <a:r>
                  <a:rPr sz="1800" dirty="0"/>
                  <a:t> earns </a:t>
                </a:r>
                <a14:m>
                  <m:oMath xmlns:m="http://schemas.openxmlformats.org/officeDocument/2006/math">
                    <m:r>
                      <a:rPr lang="en-US" sz="1800">
                        <a:latin typeface="Cambria Math" panose="02040503050406030204"/>
                      </a:rPr>
                      <m:t>0.01×(</m:t>
                    </m:r>
                    <m:r>
                      <m:rPr>
                        <m:nor/>
                      </m:rPr>
                      <a:rPr lang="en-US" sz="1800">
                        <a:latin typeface="Cambria Math" panose="02040503050406030204"/>
                      </a:rPr>
                      <m:t>Profits</m:t>
                    </m:r>
                    <m:r>
                      <a:rPr lang="en-US" sz="1800">
                        <a:latin typeface="Cambria Math" panose="02040503050406030204"/>
                      </a:rPr>
                      <m:t>−</m:t>
                    </m:r>
                    <m:r>
                      <m:rPr>
                        <m:nor/>
                      </m:rPr>
                      <a:rPr lang="en-US" sz="1800">
                        <a:latin typeface="Cambria Math" panose="02040503050406030204"/>
                      </a:rPr>
                      <m:t>Interest</m:t>
                    </m:r>
                    <m:r>
                      <a:rPr lang="en-US" sz="1800">
                        <a:latin typeface="Cambria Math" panose="02040503050406030204"/>
                      </a:rPr>
                      <m:t>)</m:t>
                    </m:r>
                  </m:oMath>
                </a14:m>
                <a:endParaRPr sz="1800" dirty="0"/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1800" dirty="0"/>
                  <a:t>Total investment: </a:t>
                </a:r>
                <a14:m>
                  <m:oMath xmlns:m="http://schemas.openxmlformats.org/officeDocument/2006/math">
                    <m:r>
                      <a:rPr lang="en-US" sz="1800">
                        <a:latin typeface="Cambria Math" panose="02040503050406030204"/>
                      </a:rPr>
                      <m:t>0.01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>
                            <a:latin typeface="Cambria Math" panose="02040503050406030204"/>
                          </a:rPr>
                          <m:t>𝑉</m:t>
                        </m:r>
                      </m:e>
                      <m:sub>
                        <m:r>
                          <a:rPr lang="en-US" sz="1800">
                            <a:latin typeface="Cambria Math" panose="02040503050406030204"/>
                          </a:rPr>
                          <m:t>𝐿</m:t>
                        </m:r>
                      </m:sub>
                    </m:sSub>
                  </m:oMath>
                </a14:m>
                <a:r>
                  <a:rPr sz="1800" dirty="0"/>
                  <a:t>, total return: </a:t>
                </a:r>
                <a14:m>
                  <m:oMath xmlns:m="http://schemas.openxmlformats.org/officeDocument/2006/math">
                    <m:r>
                      <a:rPr lang="en-US" sz="1800" u="sng">
                        <a:latin typeface="Cambria Math" panose="02040503050406030204"/>
                      </a:rPr>
                      <m:t>0.01×</m:t>
                    </m:r>
                    <m:r>
                      <m:rPr>
                        <m:nor/>
                      </m:rPr>
                      <a:rPr lang="en-US" sz="1800" u="sng">
                        <a:latin typeface="Cambria Math" panose="02040503050406030204"/>
                      </a:rPr>
                      <m:t>Profits</m:t>
                    </m:r>
                  </m:oMath>
                </a14:m>
                <a:endParaRPr sz="1800" u="sng" dirty="0"/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 dirty="0"/>
                  <a:t>Same payoff → same price →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>
                            <a:latin typeface="Cambria Math" panose="02040503050406030204"/>
                          </a:rPr>
                          <m:t>𝑉</m:t>
                        </m:r>
                      </m:e>
                      <m:sub>
                        <m:r>
                          <a:rPr lang="en-US" sz="2000">
                            <a:latin typeface="Cambria Math" panose="02040503050406030204"/>
                          </a:rPr>
                          <m:t>𝑈</m:t>
                        </m:r>
                      </m:sub>
                    </m:sSub>
                    <m:r>
                      <a:rPr lang="en-US" sz="2000">
                        <a:latin typeface="Cambria Math" panose="02040503050406030204"/>
                      </a:rPr>
                      <m:t>=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>
                            <a:latin typeface="Cambria Math" panose="02040503050406030204"/>
                          </a:rPr>
                          <m:t>𝑉</m:t>
                        </m:r>
                      </m:e>
                      <m:sub>
                        <m:r>
                          <a:rPr lang="en-US" sz="2000">
                            <a:latin typeface="Cambria Math" panose="02040503050406030204"/>
                          </a:rPr>
                          <m:t>𝐿</m:t>
                        </m:r>
                      </m:sub>
                    </m:sSub>
                  </m:oMath>
                </a14:m>
                <a:endParaRPr sz="2000" dirty="0"/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 dirty="0"/>
                  <a:t>A company cannot add value by being unlevered if investors can replicate it themselves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76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DIY Principle: High-Risk Strategy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lang="en-US" sz="2000" dirty="0"/>
                  <a:t>Now consider another set of strategies.</a:t>
                </a:r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 b="1" dirty="0"/>
                  <a:t>Strategy A:</a:t>
                </a:r>
                <a:r>
                  <a:rPr sz="2000" dirty="0"/>
                  <a:t> Buy 1% equity of levered Firm L</a:t>
                </a:r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1800" dirty="0"/>
                  <a:t>Investment: </a:t>
                </a:r>
                <a14:m>
                  <m:oMath xmlns:m="http://schemas.openxmlformats.org/officeDocument/2006/math">
                    <m:r>
                      <a:rPr lang="en-US" sz="1800">
                        <a:latin typeface="Cambria Math" panose="02040503050406030204"/>
                      </a:rPr>
                      <m:t>0.01(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>
                            <a:latin typeface="Cambria Math" panose="02040503050406030204"/>
                          </a:rPr>
                          <m:t>𝑉</m:t>
                        </m:r>
                      </m:e>
                      <m:sub>
                        <m:r>
                          <a:rPr lang="en-US" sz="1800">
                            <a:latin typeface="Cambria Math" panose="02040503050406030204"/>
                          </a:rPr>
                          <m:t>𝐿</m:t>
                        </m:r>
                      </m:sub>
                    </m:sSub>
                    <m:r>
                      <a:rPr lang="en-US" sz="1800">
                        <a:latin typeface="Cambria Math" panose="02040503050406030204"/>
                      </a:rPr>
                      <m:t>−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>
                            <a:latin typeface="Cambria Math" panose="02040503050406030204"/>
                          </a:rPr>
                          <m:t>𝐷</m:t>
                        </m:r>
                      </m:e>
                      <m:sub>
                        <m:r>
                          <a:rPr lang="en-US" sz="1800">
                            <a:latin typeface="Cambria Math" panose="02040503050406030204"/>
                          </a:rPr>
                          <m:t>𝐿</m:t>
                        </m:r>
                      </m:sub>
                    </m:sSub>
                    <m:r>
                      <a:rPr lang="en-US" sz="1800">
                        <a:latin typeface="Cambria Math" panose="02040503050406030204"/>
                      </a:rPr>
                      <m:t>)</m:t>
                    </m:r>
                  </m:oMath>
                </a14:m>
                <a:endParaRPr sz="1800" dirty="0"/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1800" dirty="0"/>
                  <a:t>Return: </a:t>
                </a:r>
                <a14:m>
                  <m:oMath xmlns:m="http://schemas.openxmlformats.org/officeDocument/2006/math">
                    <m:r>
                      <a:rPr lang="en-US" sz="1800" u="sng">
                        <a:latin typeface="Cambria Math" panose="02040503050406030204"/>
                      </a:rPr>
                      <m:t>0.01×(</m:t>
                    </m:r>
                    <m:r>
                      <m:rPr>
                        <m:nor/>
                      </m:rPr>
                      <a:rPr lang="en-US" sz="1800" u="sng">
                        <a:latin typeface="Cambria Math" panose="02040503050406030204"/>
                      </a:rPr>
                      <m:t>Profits</m:t>
                    </m:r>
                    <m:r>
                      <a:rPr lang="en-US" sz="1800" u="sng">
                        <a:latin typeface="Cambria Math" panose="02040503050406030204"/>
                      </a:rPr>
                      <m:t>−</m:t>
                    </m:r>
                    <m:r>
                      <m:rPr>
                        <m:nor/>
                      </m:rPr>
                      <a:rPr lang="en-US" sz="1800" u="sng">
                        <a:latin typeface="Cambria Math" panose="02040503050406030204"/>
                      </a:rPr>
                      <m:t>Interest</m:t>
                    </m:r>
                    <m:r>
                      <a:rPr lang="en-US" sz="1800" u="sng">
                        <a:latin typeface="Cambria Math" panose="02040503050406030204"/>
                      </a:rPr>
                      <m:t>)</m:t>
                    </m:r>
                  </m:oMath>
                </a14:m>
                <a:endParaRPr sz="1800" u="sng" dirty="0"/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 b="1" dirty="0"/>
                  <a:t>Strategy B:</a:t>
                </a:r>
                <a:r>
                  <a:rPr sz="2000" dirty="0"/>
                  <a:t> Borrow 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 panose="02040503050406030204"/>
                      </a:rPr>
                      <m:t>0.01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>
                            <a:latin typeface="Cambria Math" panose="02040503050406030204"/>
                          </a:rPr>
                          <m:t>𝐷</m:t>
                        </m:r>
                      </m:e>
                      <m:sub>
                        <m:r>
                          <a:rPr lang="en-US" sz="2000">
                            <a:latin typeface="Cambria Math" panose="02040503050406030204"/>
                          </a:rPr>
                          <m:t>𝐿</m:t>
                        </m:r>
                      </m:sub>
                    </m:sSub>
                  </m:oMath>
                </a14:m>
                <a:r>
                  <a:rPr sz="2000" dirty="0"/>
                  <a:t> </a:t>
                </a:r>
                <a:r>
                  <a:rPr lang="en-US" sz="2000" dirty="0"/>
                  <a:t>(amount) </a:t>
                </a:r>
                <a:r>
                  <a:rPr sz="2000" dirty="0"/>
                  <a:t>personally, buy 1% of unlevered Firm U</a:t>
                </a:r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1800" dirty="0"/>
                  <a:t>Borrowing: </a:t>
                </a:r>
                <a14:m>
                  <m:oMath xmlns:m="http://schemas.openxmlformats.org/officeDocument/2006/math">
                    <m:r>
                      <a:rPr lang="en-US" sz="1800">
                        <a:latin typeface="Cambria Math" panose="02040503050406030204"/>
                      </a:rPr>
                      <m:t>−0.01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>
                            <a:latin typeface="Cambria Math" panose="02040503050406030204"/>
                          </a:rPr>
                          <m:t>𝐷</m:t>
                        </m:r>
                      </m:e>
                      <m:sub>
                        <m:r>
                          <a:rPr lang="en-US" sz="1800">
                            <a:latin typeface="Cambria Math" panose="02040503050406030204"/>
                          </a:rPr>
                          <m:t>𝐿</m:t>
                        </m:r>
                      </m:sub>
                    </m:sSub>
                  </m:oMath>
                </a14:m>
                <a:endParaRPr sz="1800" dirty="0"/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1800" dirty="0"/>
                  <a:t>Equity in U: </a:t>
                </a:r>
                <a14:m>
                  <m:oMath xmlns:m="http://schemas.openxmlformats.org/officeDocument/2006/math">
                    <m:r>
                      <a:rPr lang="en-US" sz="1800">
                        <a:latin typeface="Cambria Math" panose="02040503050406030204"/>
                      </a:rPr>
                      <m:t>0.01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>
                            <a:latin typeface="Cambria Math" panose="02040503050406030204"/>
                          </a:rPr>
                          <m:t>𝑉</m:t>
                        </m:r>
                      </m:e>
                      <m:sub>
                        <m:r>
                          <a:rPr lang="en-US" sz="1800">
                            <a:latin typeface="Cambria Math" panose="02040503050406030204"/>
                          </a:rPr>
                          <m:t>𝑈</m:t>
                        </m:r>
                      </m:sub>
                    </m:sSub>
                  </m:oMath>
                </a14:m>
                <a:endParaRPr sz="1800" dirty="0"/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1800" dirty="0"/>
                  <a:t>Net return: </a:t>
                </a:r>
                <a14:m>
                  <m:oMath xmlns:m="http://schemas.openxmlformats.org/officeDocument/2006/math">
                    <m:r>
                      <a:rPr lang="en-US" sz="1800" u="sng">
                        <a:latin typeface="Cambria Math" panose="02040503050406030204"/>
                      </a:rPr>
                      <m:t>0.01×(</m:t>
                    </m:r>
                    <m:r>
                      <m:rPr>
                        <m:nor/>
                      </m:rPr>
                      <a:rPr lang="en-US" sz="1800" u="sng">
                        <a:latin typeface="Cambria Math" panose="02040503050406030204"/>
                      </a:rPr>
                      <m:t>Profits</m:t>
                    </m:r>
                    <m:r>
                      <a:rPr lang="en-US" sz="1800" u="sng">
                        <a:latin typeface="Cambria Math" panose="02040503050406030204"/>
                      </a:rPr>
                      <m:t>−</m:t>
                    </m:r>
                    <m:r>
                      <m:rPr>
                        <m:nor/>
                      </m:rPr>
                      <a:rPr lang="en-US" sz="1800" u="sng">
                        <a:latin typeface="Cambria Math" panose="02040503050406030204"/>
                      </a:rPr>
                      <m:t>Interest</m:t>
                    </m:r>
                    <m:r>
                      <a:rPr lang="en-US" sz="1800" u="sng">
                        <a:latin typeface="Cambria Math" panose="02040503050406030204"/>
                      </a:rPr>
                      <m:t>)</m:t>
                    </m:r>
                  </m:oMath>
                </a14:m>
                <a:endParaRPr sz="1800" u="sng" dirty="0"/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 dirty="0"/>
                  <a:t>Same payoff →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>
                            <a:latin typeface="Cambria Math" panose="02040503050406030204"/>
                          </a:rPr>
                          <m:t>𝑉</m:t>
                        </m:r>
                      </m:e>
                      <m:sub>
                        <m:r>
                          <a:rPr lang="en-US" sz="2000">
                            <a:latin typeface="Cambria Math" panose="02040503050406030204"/>
                          </a:rPr>
                          <m:t>𝑈</m:t>
                        </m:r>
                      </m:sub>
                    </m:sSub>
                    <m:r>
                      <a:rPr lang="en-US" sz="2000">
                        <a:latin typeface="Cambria Math" panose="02040503050406030204"/>
                      </a:rPr>
                      <m:t>=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>
                            <a:latin typeface="Cambria Math" panose="02040503050406030204"/>
                          </a:rPr>
                          <m:t>𝑉</m:t>
                        </m:r>
                      </m:e>
                      <m:sub>
                        <m:r>
                          <a:rPr lang="en-US" sz="2000">
                            <a:latin typeface="Cambria Math" panose="02040503050406030204"/>
                          </a:rPr>
                          <m:t>𝐿</m:t>
                        </m:r>
                      </m:sub>
                    </m:sSub>
                  </m:oMath>
                </a14:m>
                <a:endParaRPr sz="2000" dirty="0"/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 dirty="0"/>
                  <a:t>If shareholders can home-make leverage by borrowing themselves, they will not pay a premium for a levered company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76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Law of Conservation of Value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lang="en-US" sz="2000" dirty="0"/>
                  <a:t>Recall </a:t>
                </a:r>
                <a:r>
                  <a:rPr sz="2000" dirty="0"/>
                  <a:t>Value additivity: 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 panose="02040503050406030204"/>
                      </a:rPr>
                      <m:t>𝑃𝑉</m:t>
                    </m:r>
                    <m:r>
                      <a:rPr lang="en-US" sz="2000">
                        <a:latin typeface="Cambria Math" panose="02040503050406030204"/>
                      </a:rPr>
                      <m:t>(</m:t>
                    </m:r>
                    <m:r>
                      <a:rPr lang="en-US" sz="2000">
                        <a:latin typeface="Cambria Math" panose="02040503050406030204"/>
                      </a:rPr>
                      <m:t>𝐴</m:t>
                    </m:r>
                    <m:r>
                      <a:rPr lang="en-US" sz="2000">
                        <a:latin typeface="Cambria Math" panose="02040503050406030204"/>
                      </a:rPr>
                      <m:t>+</m:t>
                    </m:r>
                    <m:r>
                      <a:rPr lang="en-US" sz="2000">
                        <a:latin typeface="Cambria Math" panose="02040503050406030204"/>
                      </a:rPr>
                      <m:t>𝐵</m:t>
                    </m:r>
                    <m:r>
                      <a:rPr lang="en-US" sz="2000">
                        <a:latin typeface="Cambria Math" panose="02040503050406030204"/>
                      </a:rPr>
                      <m:t>)=</m:t>
                    </m:r>
                    <m:r>
                      <a:rPr lang="en-US" sz="2000">
                        <a:latin typeface="Cambria Math" panose="02040503050406030204"/>
                      </a:rPr>
                      <m:t>𝑃𝑉</m:t>
                    </m:r>
                    <m:r>
                      <a:rPr lang="en-US" sz="2000">
                        <a:latin typeface="Cambria Math" panose="02040503050406030204"/>
                      </a:rPr>
                      <m:t>(</m:t>
                    </m:r>
                    <m:r>
                      <a:rPr lang="en-US" sz="2000">
                        <a:latin typeface="Cambria Math" panose="02040503050406030204"/>
                      </a:rPr>
                      <m:t>𝐴</m:t>
                    </m:r>
                    <m:r>
                      <a:rPr lang="en-US" sz="2000">
                        <a:latin typeface="Cambria Math" panose="02040503050406030204"/>
                      </a:rPr>
                      <m:t>)+</m:t>
                    </m:r>
                    <m:r>
                      <a:rPr lang="en-US" sz="2000">
                        <a:latin typeface="Cambria Math" panose="02040503050406030204"/>
                      </a:rPr>
                      <m:t>𝑃𝑉</m:t>
                    </m:r>
                    <m:r>
                      <a:rPr lang="en-US" sz="2000">
                        <a:latin typeface="Cambria Math" panose="02040503050406030204"/>
                      </a:rPr>
                      <m:t>(</m:t>
                    </m:r>
                    <m:r>
                      <a:rPr lang="en-US" sz="2000">
                        <a:latin typeface="Cambria Math" panose="02040503050406030204"/>
                      </a:rPr>
                      <m:t>𝐵</m:t>
                    </m:r>
                    <m:r>
                      <a:rPr lang="en-US" sz="2000">
                        <a:latin typeface="Cambria Math" panose="02040503050406030204"/>
                      </a:rPr>
                      <m:t>)</m:t>
                    </m:r>
                  </m:oMath>
                </a14:m>
                <a:endParaRPr sz="2000" dirty="0"/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 dirty="0"/>
                  <a:t>Works in reverse too: slicing a cash flow into parts does not change total value</a:t>
                </a:r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  <a:buNone/>
                </a:pPr>
                <a:r>
                  <a:rPr sz="2000" b="1" dirty="0"/>
                  <a:t>Example: Devonshire Toy Company</a:t>
                </a:r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1800" dirty="0"/>
                  <a:t>All-equity: assets = $100, equity = $100</a:t>
                </a:r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:r>
                  <a:rPr lang="en-US" sz="1800" dirty="0"/>
                  <a:t>Coy i</a:t>
                </a:r>
                <a:r>
                  <a:rPr sz="1800" dirty="0"/>
                  <a:t>ssues $25 of perpetual debt to buy back equity</a:t>
                </a:r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1800" dirty="0"/>
                  <a:t>Debt = $25, equity = $75, total still $100</a:t>
                </a:r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1800" dirty="0"/>
                  <a:t>Shareholders: $75 equity + $25 cash from buyback = $100 unchanged</a:t>
                </a:r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 dirty="0"/>
                  <a:t>Capital structure changes how the pie is sliced, not the size of the pie</a:t>
                </a:r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 dirty="0"/>
                  <a:t>Applies to all security types: preferred stock, convertible bonds, short- vs. long-term debt, senior vs. subordinated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52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Implications of MM Proposition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000" dirty="0"/>
              <a:t>A firm’s value depends entirely on its assets, not its financing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000" dirty="0"/>
              <a:t>Investment decisions can be completely separated from financing decisions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800" dirty="0"/>
              <a:t>Use all-equity WACC to evaluate projects — ignore how the project is financed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000" dirty="0"/>
              <a:t>Financial managers should focus on positive-NPV investments, not financial engineering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000" dirty="0"/>
              <a:t>Why study capital structure if it’s irrelevant?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800" dirty="0"/>
              <a:t>Because in reality, markets are NOT perfect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800" dirty="0"/>
              <a:t>Taxes, bankruptcy costs, and agency costs all matter (Ch. 17)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800" dirty="0"/>
              <a:t>MM gives us the starting point: structure can only matter due to market imperfections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n-SG">
                <a:solidFill>
                  <a:srgbClr val="FFFFFF"/>
                </a:solidFill>
              </a:rPr>
              <a:t>The “Cheap Debt” Fallacy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7225075" cy="3678303"/>
          </a:xfrm>
        </p:spPr>
        <p:txBody>
          <a:bodyPr>
            <a:norm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dirty="0"/>
              <a:t>A common but WRONG argument for leverage: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dirty="0"/>
              <a:t>“Debt costs 10%. Equity costs 15%. Use more cheap debt to lower your overall cost of capital.”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dirty="0"/>
              <a:t>This logic ignores what happens to the cost of equity when you add debt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dirty="0"/>
              <a:t>As leverage rises, equity becomes riskier → shareholders demand a higher return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dirty="0"/>
              <a:t>The “savings” from cheap debt are offset by the rising cost of equity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dirty="0"/>
              <a:t>MM showed: in perfect markets, WACC is constant regardless of leverage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dirty="0"/>
              <a:t>The Macbeth Spot Removers example illustrates this point</a:t>
            </a:r>
            <a:r>
              <a:rPr lang="en-US" dirty="0"/>
              <a:t>.</a:t>
            </a:r>
            <a:endParaRPr dirty="0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rcRect l="18233" r="3" b="3"/>
          <a:stretch>
            <a:fillRect/>
          </a:stretch>
        </p:blipFill>
        <p:spPr>
          <a:xfrm>
            <a:off x="8051799" y="1871133"/>
            <a:ext cx="3683001" cy="450426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Macbeth Spot Removers: Setup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 dirty="0"/>
                  <a:t>Macbeth is currently all-equity financed (unlevered)</a:t>
                </a:r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1800" dirty="0"/>
                  <a:t>Expected operating income: $1,500/year in perpetuity</a:t>
                </a:r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1800" dirty="0"/>
                  <a:t>1,000 shares at $10 each → equity = $10,000</a:t>
                </a:r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1800" dirty="0"/>
                  <a:t>EPS = $1.50, cost of equity: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>
                            <a:latin typeface="Cambria Math" panose="02040503050406030204"/>
                          </a:rPr>
                          <m:t>𝑟</m:t>
                        </m:r>
                      </m:e>
                      <m:sub>
                        <m:r>
                          <a:rPr lang="en-US" sz="1800">
                            <a:latin typeface="Cambria Math" panose="02040503050406030204"/>
                          </a:rPr>
                          <m:t>𝐸</m:t>
                        </m:r>
                      </m:sub>
                    </m:sSub>
                    <m:r>
                      <a:rPr lang="en-US" sz="1800">
                        <a:latin typeface="Cambria Math" panose="02040503050406030204"/>
                      </a:rPr>
                      <m:t>=</m:t>
                    </m:r>
                    <m:f>
                      <m:f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smtClean="0">
                            <a:latin typeface="Cambria Math" panose="02040503050406030204"/>
                          </a:rPr>
                          <m:t>$1.50</m:t>
                        </m:r>
                      </m:num>
                      <m:den>
                        <m:r>
                          <a:rPr lang="en-US" sz="1800" smtClean="0">
                            <a:latin typeface="Cambria Math" panose="02040503050406030204"/>
                          </a:rPr>
                          <m:t>$10</m:t>
                        </m:r>
                      </m:den>
                    </m:f>
                    <m:r>
                      <a:rPr lang="en-US" sz="1800">
                        <a:latin typeface="Cambria Math" panose="02040503050406030204"/>
                      </a:rPr>
                      <m:t>=15%</m:t>
                    </m:r>
                  </m:oMath>
                </a14:m>
                <a:r>
                  <a:rPr lang="en-US" sz="1800" dirty="0"/>
                  <a:t> (using the perpetuity formula)</a:t>
                </a:r>
                <a:endParaRPr sz="1800" dirty="0"/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 dirty="0"/>
                  <a:t>The bank offers to lend $5,000 at 10% interest</a:t>
                </a:r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:r>
                  <a:rPr lang="en-US" sz="1800" dirty="0"/>
                  <a:t>Suggests coy can u</a:t>
                </a:r>
                <a:r>
                  <a:rPr sz="1800" dirty="0"/>
                  <a:t>se the $5,000 to repurchase 500 shares</a:t>
                </a:r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 dirty="0"/>
                  <a:t>Mr. Macduff (banker) argues: “Debt at 10% is cheaper than equity at 15%. Your EPS will soar, and so will your stock price!”</a:t>
                </a:r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1800" dirty="0"/>
                  <a:t>Is this correct?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76" r="-608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Macbeth: EPS After Levering Up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dirty="0"/>
                  <a:t>New interest expense</a:t>
                </a:r>
                <a:r>
                  <a:rPr lang="en-US" dirty="0"/>
                  <a:t> (owed to bank)</a:t>
                </a:r>
                <a:r>
                  <a:rPr dirty="0"/>
                  <a:t>: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/>
                      </a:rPr>
                      <m:t>10%×$5,000=$500</m:t>
                    </m:r>
                  </m:oMath>
                </a14:m>
                <a:endParaRPr dirty="0"/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dirty="0"/>
                  <a:t>New earnings to equity</a:t>
                </a:r>
                <a:r>
                  <a:rPr lang="en-US" dirty="0"/>
                  <a:t> (unleveraged profits minus expense)</a:t>
                </a:r>
                <a:r>
                  <a:rPr dirty="0"/>
                  <a:t>: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/>
                      </a:rPr>
                      <m:t>$1,500−$500=$1,000</m:t>
                    </m:r>
                  </m:oMath>
                </a14:m>
                <a:endParaRPr dirty="0"/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dirty="0"/>
                  <a:t>Shares remaining</a:t>
                </a:r>
                <a:r>
                  <a:rPr lang="en-US" dirty="0"/>
                  <a:t> (post share buyback)</a:t>
                </a:r>
                <a:r>
                  <a:rPr dirty="0"/>
                  <a:t>: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/>
                      </a:rPr>
                      <m:t>1,000−500=500</m:t>
                    </m:r>
                  </m:oMath>
                </a14:m>
                <a:endParaRPr dirty="0"/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dirty="0"/>
                  <a:t>New EPS: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/>
                          </a:rPr>
                          <m:t>$1,000</m:t>
                        </m:r>
                      </m:num>
                      <m:den>
                        <m:r>
                          <a:rPr lang="en-US">
                            <a:latin typeface="Cambria Math" panose="02040503050406030204"/>
                          </a:rPr>
                          <m:t>500</m:t>
                        </m:r>
                      </m:den>
                    </m:f>
                    <m:r>
                      <a:rPr lang="en-US">
                        <a:latin typeface="Cambria Math" panose="02040503050406030204"/>
                      </a:rPr>
                      <m:t>=$2.00</m:t>
                    </m:r>
                  </m:oMath>
                </a14:m>
                <a:r>
                  <a:rPr dirty="0"/>
                  <a:t> (up from $1.50)</a:t>
                </a:r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dirty="0"/>
                  <a:t>Mr. Macduff is right that EPS rises — because debt costs less than the earnings yield</a:t>
                </a:r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dirty="0"/>
                  <a:t>If the cost of debt were 15%, new EPS would be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/>
                          </a:rPr>
                          <m:t>$750</m:t>
                        </m:r>
                      </m:num>
                      <m:den>
                        <m:r>
                          <a:rPr lang="en-US">
                            <a:latin typeface="Cambria Math" panose="02040503050406030204"/>
                          </a:rPr>
                          <m:t>500</m:t>
                        </m:r>
                      </m:den>
                    </m:f>
                    <m:r>
                      <a:rPr lang="en-US">
                        <a:latin typeface="Cambria Math" panose="02040503050406030204"/>
                      </a:rPr>
                      <m:t>=$1.50</m:t>
                    </m:r>
                  </m:oMath>
                </a14:m>
                <a:r>
                  <a:rPr dirty="0"/>
                  <a:t> — unchanged</a:t>
                </a:r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dirty="0"/>
                  <a:t>But does higher EPS mean a higher stock price?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21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Leverage Affects Operating Income and 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000" dirty="0"/>
              <a:t>Unlevered (brown line):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800" dirty="0"/>
              <a:t>EPS ranges $0.50 – $2.00</a:t>
            </a:r>
            <a:r>
              <a:rPr lang="en-US" sz="1800" dirty="0"/>
              <a:t> (see textbook)</a:t>
            </a:r>
            <a:endParaRPr sz="1800" dirty="0"/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800" dirty="0"/>
              <a:t>Expected EPS = $1.50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000" dirty="0"/>
              <a:t>Levered 50/50 (blue line):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800" dirty="0"/>
              <a:t>EPS ranges $0 – $3.00</a:t>
            </a:r>
            <a:r>
              <a:rPr lang="en-US" sz="1800" dirty="0"/>
              <a:t> (see textbook)</a:t>
            </a:r>
            <a:endParaRPr sz="1800" dirty="0"/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800" dirty="0"/>
              <a:t>Expected EPS = $2.00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000" dirty="0"/>
              <a:t>Leverage amplifies both upside AND downside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800" dirty="0"/>
              <a:t>Crossover at operating income = $1,000</a:t>
            </a:r>
          </a:p>
        </p:txBody>
      </p:sp>
      <p:pic>
        <p:nvPicPr>
          <p:cNvPr id="4" name="Picture 3" descr="ch16_slide11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3628" y="2014979"/>
            <a:ext cx="3673010" cy="459530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the Stock Price Is Unchanged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 dirty="0"/>
                  <a:t>Higher EPS does NOT automatically mean a higher stock price</a:t>
                </a:r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 dirty="0"/>
                  <a:t>Leverage increases the range of EPS outcomes → this is financial risk</a:t>
                </a:r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 dirty="0"/>
                  <a:t>Shareholders </a:t>
                </a:r>
                <a:r>
                  <a:rPr sz="2000" b="1" dirty="0"/>
                  <a:t>demand a higher return to compensate</a:t>
                </a:r>
                <a:r>
                  <a:rPr sz="20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>
                            <a:latin typeface="Cambria Math" panose="02040503050406030204"/>
                          </a:rPr>
                          <m:t>𝑃</m:t>
                        </m:r>
                      </m:e>
                      <m:sub>
                        <m:r>
                          <a:rPr lang="en-US" sz="2000">
                            <a:latin typeface="Cambria Math" panose="02040503050406030204"/>
                          </a:rPr>
                          <m:t>0</m:t>
                        </m:r>
                      </m:sub>
                    </m:sSub>
                    <m:r>
                      <a:rPr lang="en-US" sz="2000">
                        <a:latin typeface="Cambria Math" panose="02040503050406030204"/>
                      </a:rPr>
                      <m:t>=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000">
                            <a:latin typeface="Cambria Math" panose="02040503050406030204"/>
                          </a:rPr>
                          <m:t>EPS</m:t>
                        </m:r>
                      </m:num>
                      <m:den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>
                                <a:latin typeface="Cambria Math" panose="02040503050406030204"/>
                              </a:rPr>
                              <m:t>𝑟</m:t>
                            </m:r>
                          </m:e>
                          <m:sub>
                            <m:r>
                              <a:rPr lang="en-US" sz="2000">
                                <a:latin typeface="Cambria Math" panose="02040503050406030204"/>
                              </a:rPr>
                              <m:t>𝐸</m:t>
                            </m:r>
                          </m:sub>
                        </m:sSub>
                      </m:den>
                    </m:f>
                  </m:oMath>
                </a14:m>
                <a:endParaRPr sz="2000" dirty="0"/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 b="1" dirty="0"/>
                  <a:t>Before leverage:</a:t>
                </a:r>
                <a:r>
                  <a:rPr sz="2000" dirty="0"/>
                  <a:t> EPS = $1.50,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>
                            <a:latin typeface="Cambria Math" panose="02040503050406030204"/>
                          </a:rPr>
                          <m:t>𝑟</m:t>
                        </m:r>
                      </m:e>
                      <m:sub>
                        <m:r>
                          <a:rPr lang="en-US" sz="2000">
                            <a:latin typeface="Cambria Math" panose="02040503050406030204"/>
                          </a:rPr>
                          <m:t>𝐸</m:t>
                        </m:r>
                      </m:sub>
                    </m:sSub>
                    <m:r>
                      <a:rPr lang="en-US" sz="2000">
                        <a:latin typeface="Cambria Math" panose="02040503050406030204"/>
                      </a:rPr>
                      <m:t>=15%</m:t>
                    </m:r>
                  </m:oMath>
                </a14:m>
                <a:r>
                  <a:rPr sz="2000" dirty="0"/>
                  <a:t> →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>
                            <a:latin typeface="Cambria Math" panose="02040503050406030204"/>
                          </a:rPr>
                          <m:t>𝑃</m:t>
                        </m:r>
                      </m:e>
                      <m:sub>
                        <m:r>
                          <a:rPr lang="en-US" sz="2000">
                            <a:latin typeface="Cambria Math" panose="02040503050406030204"/>
                          </a:rPr>
                          <m:t>0</m:t>
                        </m:r>
                      </m:sub>
                    </m:sSub>
                    <m:r>
                      <a:rPr lang="en-US" sz="2000">
                        <a:latin typeface="Cambria Math" panose="02040503050406030204"/>
                      </a:rPr>
                      <m:t>=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>
                            <a:latin typeface="Cambria Math" panose="02040503050406030204"/>
                          </a:rPr>
                          <m:t>$1.50</m:t>
                        </m:r>
                      </m:num>
                      <m:den>
                        <m:r>
                          <a:rPr lang="en-US" sz="2000">
                            <a:latin typeface="Cambria Math" panose="02040503050406030204"/>
                          </a:rPr>
                          <m:t>0.15</m:t>
                        </m:r>
                      </m:den>
                    </m:f>
                    <m:r>
                      <a:rPr lang="en-US" sz="2000">
                        <a:latin typeface="Cambria Math" panose="02040503050406030204"/>
                      </a:rPr>
                      <m:t>=$10</m:t>
                    </m:r>
                  </m:oMath>
                </a14:m>
                <a:endParaRPr sz="2000" dirty="0"/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 b="1" dirty="0"/>
                  <a:t>After leverage:</a:t>
                </a:r>
                <a:r>
                  <a:rPr sz="2000" dirty="0"/>
                  <a:t> EPS = $2.00,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>
                            <a:latin typeface="Cambria Math" panose="02040503050406030204"/>
                          </a:rPr>
                          <m:t>𝑟</m:t>
                        </m:r>
                      </m:e>
                      <m:sub>
                        <m:r>
                          <a:rPr lang="en-US" sz="2000">
                            <a:latin typeface="Cambria Math" panose="02040503050406030204"/>
                          </a:rPr>
                          <m:t>𝐸</m:t>
                        </m:r>
                      </m:sub>
                    </m:sSub>
                    <m:r>
                      <a:rPr lang="en-US" sz="2000">
                        <a:latin typeface="Cambria Math" panose="02040503050406030204"/>
                      </a:rPr>
                      <m:t>=20%</m:t>
                    </m:r>
                  </m:oMath>
                </a14:m>
                <a:r>
                  <a:rPr sz="2000" dirty="0"/>
                  <a:t> →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>
                            <a:latin typeface="Cambria Math" panose="02040503050406030204"/>
                          </a:rPr>
                          <m:t>𝑃</m:t>
                        </m:r>
                      </m:e>
                      <m:sub>
                        <m:r>
                          <a:rPr lang="en-US" sz="2000">
                            <a:latin typeface="Cambria Math" panose="02040503050406030204"/>
                          </a:rPr>
                          <m:t>0</m:t>
                        </m:r>
                      </m:sub>
                    </m:sSub>
                    <m:r>
                      <a:rPr lang="en-US" sz="2000">
                        <a:latin typeface="Cambria Math" panose="02040503050406030204"/>
                      </a:rPr>
                      <m:t>=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>
                            <a:latin typeface="Cambria Math" panose="02040503050406030204"/>
                          </a:rPr>
                          <m:t>$2.00</m:t>
                        </m:r>
                      </m:num>
                      <m:den>
                        <m:r>
                          <a:rPr lang="en-US" sz="2000">
                            <a:latin typeface="Cambria Math" panose="02040503050406030204"/>
                          </a:rPr>
                          <m:t>0.20</m:t>
                        </m:r>
                      </m:den>
                    </m:f>
                    <m:r>
                      <a:rPr lang="en-US" sz="2000">
                        <a:latin typeface="Cambria Math" panose="02040503050406030204"/>
                      </a:rPr>
                      <m:t>=$10</m:t>
                    </m:r>
                  </m:oMath>
                </a14:m>
                <a:endParaRPr sz="2000" dirty="0"/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 dirty="0"/>
                  <a:t>Stock price is unchanged!</a:t>
                </a:r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1800" dirty="0"/>
                  <a:t>The higher expected earnings are exactly offset by the higher required return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76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n-SG">
                <a:solidFill>
                  <a:srgbClr val="FFFFFF"/>
                </a:solidFill>
              </a:rPr>
              <a:t>Home-Made Leverage</a:t>
            </a:r>
          </a:p>
        </p:txBody>
      </p:sp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0137588-E70B-486E-AFA8-21B0111C46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2180496"/>
            <a:ext cx="3703320" cy="4045683"/>
          </a:xfrm>
          <a:prstGeom prst="rect">
            <a:avLst/>
          </a:prstGeom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225" y="2533078"/>
            <a:ext cx="3305175" cy="3305175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5325" y="2180496"/>
            <a:ext cx="7105481" cy="4045683"/>
          </a:xfrm>
        </p:spPr>
        <p:txBody>
          <a:bodyPr>
            <a:norm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dirty="0"/>
              <a:t>If an investor wants more leverage, she can create it herself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dirty="0"/>
              <a:t>Example:</a:t>
            </a:r>
            <a:r>
              <a:rPr dirty="0"/>
              <a:t> invest $10 of own money, borrow $10, buy 2 unlevered Macbeth shares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dirty="0"/>
              <a:t>Earnings on 2 shares: $1.00 – $4.00 depending on outcome</a:t>
            </a:r>
            <a:r>
              <a:rPr lang="en-US" dirty="0"/>
              <a:t> (double 0.50-2 dollars—see textbook)</a:t>
            </a:r>
            <a:endParaRPr dirty="0"/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dirty="0"/>
              <a:t>Less personal interest at 10%: $1.00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dirty="0"/>
              <a:t>Net earnings: $0 – $3.00 on $10 invested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dirty="0"/>
              <a:t>This exactly replicates owning 1 share of the levered company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dirty="0"/>
              <a:t>Since investors can home-make leverage, corporate leverage cannot add value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dirty="0"/>
              <a:t>This is the DIY Principle at work — the same argument MM used to prove Proposition 1</a:t>
            </a:r>
            <a:r>
              <a:rPr lang="en-US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Deriving MM Proposition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 b="1" dirty="0"/>
                  <a:t>The asset cost of capital</a:t>
                </a:r>
                <a:r>
                  <a:rPr sz="2000" dirty="0"/>
                  <a:t> (return on the total package of D + E):</a:t>
                </a:r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>
                            <a:latin typeface="Cambria Math" panose="02040503050406030204"/>
                          </a:rPr>
                          <m:t>𝑟</m:t>
                        </m:r>
                      </m:e>
                      <m:sub>
                        <m:r>
                          <a:rPr lang="en-US" sz="1800">
                            <a:latin typeface="Cambria Math" panose="02040503050406030204"/>
                          </a:rPr>
                          <m:t>𝐴</m:t>
                        </m:r>
                      </m:sub>
                    </m:sSub>
                    <m:r>
                      <a:rPr lang="en-US" sz="1800">
                        <a:latin typeface="Cambria Math" panose="02040503050406030204"/>
                      </a:rPr>
                      <m:t>=</m:t>
                    </m:r>
                    <m:f>
                      <m:f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>
                            <a:latin typeface="Cambria Math" panose="02040503050406030204"/>
                          </a:rPr>
                          <m:t>𝐷</m:t>
                        </m:r>
                      </m:num>
                      <m:den>
                        <m:r>
                          <a:rPr lang="en-US" sz="1800">
                            <a:latin typeface="Cambria Math" panose="02040503050406030204"/>
                          </a:rPr>
                          <m:t>𝑉</m:t>
                        </m:r>
                      </m:den>
                    </m:f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>
                            <a:latin typeface="Cambria Math" panose="02040503050406030204"/>
                          </a:rPr>
                          <m:t>𝑟</m:t>
                        </m:r>
                      </m:e>
                      <m:sub>
                        <m:r>
                          <a:rPr lang="en-US" sz="1800">
                            <a:latin typeface="Cambria Math" panose="02040503050406030204"/>
                          </a:rPr>
                          <m:t>𝐷</m:t>
                        </m:r>
                      </m:sub>
                    </m:sSub>
                    <m:r>
                      <a:rPr lang="en-US" sz="1800">
                        <a:latin typeface="Cambria Math" panose="02040503050406030204"/>
                      </a:rPr>
                      <m:t>+</m:t>
                    </m:r>
                    <m:f>
                      <m:f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>
                            <a:latin typeface="Cambria Math" panose="02040503050406030204"/>
                          </a:rPr>
                          <m:t>𝐸</m:t>
                        </m:r>
                      </m:num>
                      <m:den>
                        <m:r>
                          <a:rPr lang="en-US" sz="1800">
                            <a:latin typeface="Cambria Math" panose="02040503050406030204"/>
                          </a:rPr>
                          <m:t>𝑉</m:t>
                        </m:r>
                      </m:den>
                    </m:f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>
                            <a:latin typeface="Cambria Math" panose="02040503050406030204"/>
                          </a:rPr>
                          <m:t>𝑟</m:t>
                        </m:r>
                      </m:e>
                      <m:sub>
                        <m:r>
                          <a:rPr lang="en-US" sz="1800">
                            <a:latin typeface="Cambria Math" panose="02040503050406030204"/>
                          </a:rPr>
                          <m:t>𝐸</m:t>
                        </m:r>
                      </m:sub>
                    </m:sSub>
                  </m:oMath>
                </a14:m>
                <a:endParaRPr sz="1800" dirty="0"/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 dirty="0"/>
                  <a:t>By MM Prop 1,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>
                            <a:latin typeface="Cambria Math" panose="02040503050406030204"/>
                          </a:rPr>
                          <m:t>𝑟</m:t>
                        </m:r>
                      </m:e>
                      <m:sub>
                        <m:r>
                          <a:rPr lang="en-US" sz="2000">
                            <a:latin typeface="Cambria Math" panose="02040503050406030204"/>
                          </a:rPr>
                          <m:t>𝐴</m:t>
                        </m:r>
                      </m:sub>
                    </m:sSub>
                  </m:oMath>
                </a14:m>
                <a:r>
                  <a:rPr sz="2000" dirty="0"/>
                  <a:t> depends only on business risk — it is unaffected by leverage</a:t>
                </a:r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 dirty="0"/>
                  <a:t>Rearranging for the cost of equity:</a:t>
                </a:r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>
                            <a:latin typeface="Cambria Math" panose="02040503050406030204"/>
                          </a:rPr>
                          <m:t>𝑟</m:t>
                        </m:r>
                      </m:e>
                      <m:sub>
                        <m:r>
                          <a:rPr lang="en-US" sz="1800">
                            <a:latin typeface="Cambria Math" panose="02040503050406030204"/>
                          </a:rPr>
                          <m:t>𝐸</m:t>
                        </m:r>
                      </m:sub>
                    </m:sSub>
                    <m:r>
                      <a:rPr lang="en-US" sz="1800">
                        <a:latin typeface="Cambria Math" panose="02040503050406030204"/>
                      </a:rPr>
                      <m:t>=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>
                            <a:latin typeface="Cambria Math" panose="02040503050406030204"/>
                          </a:rPr>
                          <m:t>𝑟</m:t>
                        </m:r>
                      </m:e>
                      <m:sub>
                        <m:r>
                          <a:rPr lang="en-US" sz="1800">
                            <a:latin typeface="Cambria Math" panose="02040503050406030204"/>
                          </a:rPr>
                          <m:t>𝐴</m:t>
                        </m:r>
                      </m:sub>
                    </m:sSub>
                    <m:r>
                      <a:rPr lang="en-US" sz="1800">
                        <a:latin typeface="Cambria Math" panose="02040503050406030204"/>
                      </a:rPr>
                      <m:t>+(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>
                            <a:latin typeface="Cambria Math" panose="02040503050406030204"/>
                          </a:rPr>
                          <m:t>𝑟</m:t>
                        </m:r>
                      </m:e>
                      <m:sub>
                        <m:r>
                          <a:rPr lang="en-US" sz="1800">
                            <a:latin typeface="Cambria Math" panose="02040503050406030204"/>
                          </a:rPr>
                          <m:t>𝐴</m:t>
                        </m:r>
                      </m:sub>
                    </m:sSub>
                    <m:r>
                      <a:rPr lang="en-US" sz="1800">
                        <a:latin typeface="Cambria Math" panose="02040503050406030204"/>
                      </a:rPr>
                      <m:t>−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>
                            <a:latin typeface="Cambria Math" panose="02040503050406030204"/>
                          </a:rPr>
                          <m:t>𝑟</m:t>
                        </m:r>
                      </m:e>
                      <m:sub>
                        <m:r>
                          <a:rPr lang="en-US" sz="1800">
                            <a:latin typeface="Cambria Math" panose="02040503050406030204"/>
                          </a:rPr>
                          <m:t>𝐷</m:t>
                        </m:r>
                      </m:sub>
                    </m:sSub>
                    <m:r>
                      <a:rPr lang="en-US" sz="1800">
                        <a:latin typeface="Cambria Math" panose="02040503050406030204"/>
                      </a:rPr>
                      <m:t>)</m:t>
                    </m:r>
                    <m:f>
                      <m:f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>
                            <a:latin typeface="Cambria Math" panose="02040503050406030204"/>
                          </a:rPr>
                          <m:t>𝐷</m:t>
                        </m:r>
                      </m:num>
                      <m:den>
                        <m:r>
                          <a:rPr lang="en-US" sz="1800">
                            <a:latin typeface="Cambria Math" panose="02040503050406030204"/>
                          </a:rPr>
                          <m:t>𝐸</m:t>
                        </m:r>
                      </m:den>
                    </m:f>
                  </m:oMath>
                </a14:m>
                <a:endParaRPr sz="1800" dirty="0"/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 b="1" dirty="0"/>
                  <a:t>MM Proposition 2:</a:t>
                </a:r>
                <a:r>
                  <a:rPr sz="2000" dirty="0"/>
                  <a:t> the required return on equity increases linearly with D/E</a:t>
                </a:r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1800" dirty="0"/>
                  <a:t>The term </a:t>
                </a:r>
                <a14:m>
                  <m:oMath xmlns:m="http://schemas.openxmlformats.org/officeDocument/2006/math">
                    <m:r>
                      <a:rPr lang="en-US" sz="1800">
                        <a:latin typeface="Cambria Math" panose="02040503050406030204"/>
                      </a:rPr>
                      <m:t>(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>
                            <a:latin typeface="Cambria Math" panose="02040503050406030204"/>
                          </a:rPr>
                          <m:t>𝑟</m:t>
                        </m:r>
                      </m:e>
                      <m:sub>
                        <m:r>
                          <a:rPr lang="en-US" sz="1800">
                            <a:latin typeface="Cambria Math" panose="02040503050406030204"/>
                          </a:rPr>
                          <m:t>𝐴</m:t>
                        </m:r>
                      </m:sub>
                    </m:sSub>
                    <m:r>
                      <a:rPr lang="en-US" sz="1800">
                        <a:latin typeface="Cambria Math" panose="02040503050406030204"/>
                      </a:rPr>
                      <m:t>−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>
                            <a:latin typeface="Cambria Math" panose="02040503050406030204"/>
                          </a:rPr>
                          <m:t>𝑟</m:t>
                        </m:r>
                      </m:e>
                      <m:sub>
                        <m:r>
                          <a:rPr lang="en-US" sz="1800">
                            <a:latin typeface="Cambria Math" panose="02040503050406030204"/>
                          </a:rPr>
                          <m:t>𝐷</m:t>
                        </m:r>
                      </m:sub>
                    </m:sSub>
                    <m:r>
                      <a:rPr lang="en-US" sz="1800">
                        <a:latin typeface="Cambria Math" panose="02040503050406030204"/>
                      </a:rPr>
                      <m:t>)</m:t>
                    </m:r>
                    <m:f>
                      <m:f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>
                            <a:latin typeface="Cambria Math" panose="02040503050406030204"/>
                          </a:rPr>
                          <m:t>𝐷</m:t>
                        </m:r>
                      </m:num>
                      <m:den>
                        <m:r>
                          <a:rPr lang="en-US" sz="1800">
                            <a:latin typeface="Cambria Math" panose="02040503050406030204"/>
                          </a:rPr>
                          <m:t>𝐸</m:t>
                        </m:r>
                      </m:den>
                    </m:f>
                  </m:oMath>
                </a14:m>
                <a:r>
                  <a:rPr sz="1800" dirty="0"/>
                  <a:t> is the financial risk premium shareholders demand for bearing leverage risk</a:t>
                </a:r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 dirty="0"/>
                  <a:t>If D = 0,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>
                            <a:latin typeface="Cambria Math" panose="02040503050406030204"/>
                          </a:rPr>
                          <m:t>𝑟</m:t>
                        </m:r>
                      </m:e>
                      <m:sub>
                        <m:r>
                          <a:rPr lang="en-US" sz="2000">
                            <a:latin typeface="Cambria Math" panose="02040503050406030204"/>
                          </a:rPr>
                          <m:t>𝐸</m:t>
                        </m:r>
                      </m:sub>
                    </m:sSub>
                    <m:r>
                      <a:rPr lang="en-US" sz="2000">
                        <a:latin typeface="Cambria Math" panose="02040503050406030204"/>
                      </a:rPr>
                      <m:t>=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>
                            <a:latin typeface="Cambria Math" panose="02040503050406030204"/>
                          </a:rPr>
                          <m:t>𝑟</m:t>
                        </m:r>
                      </m:e>
                      <m:sub>
                        <m:r>
                          <a:rPr lang="en-US" sz="2000">
                            <a:latin typeface="Cambria Math" panose="02040503050406030204"/>
                          </a:rPr>
                          <m:t>𝐴</m:t>
                        </m:r>
                      </m:sub>
                    </m:sSub>
                  </m:oMath>
                </a14:m>
                <a:r>
                  <a:rPr sz="2000" dirty="0"/>
                  <a:t> — all-equity cost = asset cost of capital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76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MM Proposition 2: Numerical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15404" y="2016109"/>
                <a:ext cx="11112510" cy="4466884"/>
              </a:xfrm>
            </p:spPr>
            <p:txBody>
              <a:bodyPr>
                <a:normAutofit fontScale="92500" lnSpcReduction="20000"/>
              </a:bodyPr>
              <a:lstStyle/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lang="en-US" sz="2000" b="1" dirty="0"/>
                  <a:t>Recall: </a:t>
                </a:r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:r>
                  <a:rPr lang="en-US" sz="1800" dirty="0"/>
                  <a:t>Levering: Moving from “A to E”. </a:t>
                </a:r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:r>
                  <a:rPr lang="en-US" sz="1800" dirty="0" err="1"/>
                  <a:t>Unlevering</a:t>
                </a:r>
                <a:r>
                  <a:rPr lang="en-US" sz="1800" dirty="0"/>
                  <a:t>: Moving from “E to A”.</a:t>
                </a:r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:r>
                  <a:rPr lang="en-US" sz="1800" dirty="0"/>
                  <a:t>Re-lever: “Changing E or D”.</a:t>
                </a:r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 b="1" dirty="0"/>
                  <a:t>Macbeth, unlevered:</a:t>
                </a:r>
                <a:r>
                  <a:rPr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>
                            <a:latin typeface="Cambria Math" panose="02040503050406030204"/>
                          </a:rPr>
                          <m:t>𝑟</m:t>
                        </m:r>
                      </m:e>
                      <m:sub>
                        <m:r>
                          <a:rPr lang="en-US" sz="2000">
                            <a:latin typeface="Cambria Math" panose="02040503050406030204"/>
                          </a:rPr>
                          <m:t>𝐴</m:t>
                        </m:r>
                      </m:sub>
                    </m:sSub>
                    <m:r>
                      <a:rPr lang="en-US" sz="2000">
                        <a:latin typeface="Cambria Math" panose="02040503050406030204"/>
                      </a:rPr>
                      <m:t>=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E</m:t>
                    </m:r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/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V</m:t>
                    </m:r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>
                            <a:latin typeface="Cambria Math" panose="02040503050406030204"/>
                          </a:rPr>
                          <m:t>$1,500</m:t>
                        </m:r>
                      </m:num>
                      <m:den>
                        <m:r>
                          <a:rPr lang="en-US" sz="2000">
                            <a:latin typeface="Cambria Math" panose="02040503050406030204"/>
                          </a:rPr>
                          <m:t>$10,000</m:t>
                        </m:r>
                      </m:den>
                    </m:f>
                    <m:r>
                      <a:rPr lang="en-US" sz="2000">
                        <a:latin typeface="Cambria Math" panose="02040503050406030204"/>
                      </a:rPr>
                      <m:t>=15%</m:t>
                    </m:r>
                  </m:oMath>
                </a14:m>
                <a:endParaRPr sz="2000" dirty="0"/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 b="1" dirty="0"/>
                  <a:t>Macbeth, levered</a:t>
                </a:r>
                <a:r>
                  <a:rPr sz="2000" dirty="0"/>
                  <a:t> (D = $5,000, E = $5,000,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>
                            <a:latin typeface="Cambria Math" panose="02040503050406030204"/>
                          </a:rPr>
                          <m:t>𝑟</m:t>
                        </m:r>
                      </m:e>
                      <m:sub>
                        <m:r>
                          <a:rPr lang="en-US" sz="2000">
                            <a:latin typeface="Cambria Math" panose="02040503050406030204"/>
                          </a:rPr>
                          <m:t>𝐷</m:t>
                        </m:r>
                      </m:sub>
                    </m:sSub>
                    <m:r>
                      <a:rPr lang="en-US" sz="2000">
                        <a:latin typeface="Cambria Math" panose="02040503050406030204"/>
                      </a:rPr>
                      <m:t>=10%</m:t>
                    </m:r>
                  </m:oMath>
                </a14:m>
                <a:r>
                  <a:rPr sz="2000" dirty="0"/>
                  <a:t>):</a:t>
                </a:r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>
                            <a:latin typeface="Cambria Math" panose="02040503050406030204"/>
                          </a:rPr>
                          <m:t>𝑟</m:t>
                        </m:r>
                      </m:e>
                      <m:sub>
                        <m:r>
                          <a:rPr lang="en-US" sz="1800">
                            <a:latin typeface="Cambria Math" panose="02040503050406030204"/>
                          </a:rPr>
                          <m:t>𝐸</m:t>
                        </m:r>
                      </m:sub>
                    </m:sSub>
                    <m:r>
                      <a:rPr lang="en-US" sz="1800">
                        <a:latin typeface="Cambria Math" panose="02040503050406030204"/>
                      </a:rPr>
                      <m:t>=15%+(15%−10%)×</m:t>
                    </m:r>
                    <m:f>
                      <m:f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>
                            <a:latin typeface="Cambria Math" panose="02040503050406030204"/>
                          </a:rPr>
                          <m:t>5,000</m:t>
                        </m:r>
                      </m:num>
                      <m:den>
                        <m:r>
                          <a:rPr lang="en-US" sz="1800">
                            <a:latin typeface="Cambria Math" panose="02040503050406030204"/>
                          </a:rPr>
                          <m:t>5,000</m:t>
                        </m:r>
                      </m:den>
                    </m:f>
                    <m:r>
                      <a:rPr lang="en-US" sz="1800">
                        <a:latin typeface="Cambria Math" panose="02040503050406030204"/>
                      </a:rPr>
                      <m:t>=20%</m:t>
                    </m:r>
                  </m:oMath>
                </a14:m>
                <a:endParaRPr sz="1800" dirty="0"/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1800" dirty="0"/>
                  <a:t>Check stock price: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>
                            <a:latin typeface="Cambria Math" panose="02040503050406030204"/>
                          </a:rPr>
                          <m:t>𝑃</m:t>
                        </m:r>
                      </m:e>
                      <m:sub>
                        <m:r>
                          <a:rPr lang="en-US" sz="1800">
                            <a:latin typeface="Cambria Math" panose="02040503050406030204"/>
                          </a:rPr>
                          <m:t>0</m:t>
                        </m:r>
                      </m:sub>
                    </m:sSub>
                    <m:r>
                      <a:rPr lang="en-US" sz="1800">
                        <a:latin typeface="Cambria Math" panose="02040503050406030204"/>
                      </a:rPr>
                      <m:t>=</m:t>
                    </m:r>
                    <m:f>
                      <m:f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>
                            <a:latin typeface="Cambria Math" panose="02040503050406030204"/>
                          </a:rPr>
                          <m:t>$2.00</m:t>
                        </m:r>
                      </m:num>
                      <m:den>
                        <m:r>
                          <a:rPr lang="en-US" sz="1800">
                            <a:latin typeface="Cambria Math" panose="02040503050406030204"/>
                          </a:rPr>
                          <m:t>20%</m:t>
                        </m:r>
                      </m:den>
                    </m:f>
                    <m:r>
                      <a:rPr lang="en-US" sz="1800">
                        <a:latin typeface="Cambria Math" panose="02040503050406030204"/>
                      </a:rPr>
                      <m:t>=$10</m:t>
                    </m:r>
                  </m:oMath>
                </a14:m>
                <a:r>
                  <a:rPr sz="1800" dirty="0"/>
                  <a:t> → unchanged</a:t>
                </a:r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 b="1" dirty="0"/>
                  <a:t>Another firm:</a:t>
                </a:r>
                <a:r>
                  <a:rPr sz="2000" dirty="0"/>
                  <a:t> assets $100, D = $33.3, E = $66.7</a:t>
                </a:r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>
                            <a:latin typeface="Cambria Math" panose="02040503050406030204"/>
                          </a:rPr>
                          <m:t>𝑟</m:t>
                        </m:r>
                      </m:e>
                      <m:sub>
                        <m:r>
                          <a:rPr lang="en-US" sz="1800">
                            <a:latin typeface="Cambria Math" panose="02040503050406030204"/>
                          </a:rPr>
                          <m:t>𝐷</m:t>
                        </m:r>
                      </m:sub>
                    </m:sSub>
                    <m:r>
                      <a:rPr lang="en-US" sz="1800">
                        <a:latin typeface="Cambria Math" panose="02040503050406030204"/>
                      </a:rPr>
                      <m:t>=7.25%</m:t>
                    </m:r>
                  </m:oMath>
                </a14:m>
                <a:r>
                  <a:rPr sz="18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>
                            <a:latin typeface="Cambria Math" panose="02040503050406030204"/>
                          </a:rPr>
                          <m:t>𝑟</m:t>
                        </m:r>
                      </m:e>
                      <m:sub>
                        <m:r>
                          <a:rPr lang="en-US" sz="1800">
                            <a:latin typeface="Cambria Math" panose="02040503050406030204"/>
                          </a:rPr>
                          <m:t>𝐸</m:t>
                        </m:r>
                      </m:sub>
                    </m:sSub>
                    <m:r>
                      <a:rPr lang="en-US" sz="1800">
                        <a:latin typeface="Cambria Math" panose="02040503050406030204"/>
                      </a:rPr>
                      <m:t>=15.5%</m:t>
                    </m:r>
                  </m:oMath>
                </a14:m>
                <a:endParaRPr sz="1800" dirty="0"/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>
                            <a:latin typeface="Cambria Math" panose="02040503050406030204"/>
                          </a:rPr>
                          <m:t>𝑟</m:t>
                        </m:r>
                      </m:e>
                      <m:sub>
                        <m:r>
                          <a:rPr lang="en-US" sz="1800">
                            <a:latin typeface="Cambria Math" panose="02040503050406030204"/>
                          </a:rPr>
                          <m:t>𝐴</m:t>
                        </m:r>
                      </m:sub>
                    </m:sSub>
                    <m:r>
                      <a:rPr lang="en-US" sz="1800">
                        <a:latin typeface="Cambria Math" panose="02040503050406030204"/>
                      </a:rPr>
                      <m:t>=7.25%×</m:t>
                    </m:r>
                    <m:f>
                      <m:f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>
                            <a:latin typeface="Cambria Math" panose="02040503050406030204"/>
                          </a:rPr>
                          <m:t>33.3</m:t>
                        </m:r>
                      </m:num>
                      <m:den>
                        <m:r>
                          <a:rPr lang="en-US" sz="1800">
                            <a:latin typeface="Cambria Math" panose="02040503050406030204"/>
                          </a:rPr>
                          <m:t>100</m:t>
                        </m:r>
                      </m:den>
                    </m:f>
                    <m:r>
                      <a:rPr lang="en-US" sz="1800">
                        <a:latin typeface="Cambria Math" panose="02040503050406030204"/>
                      </a:rPr>
                      <m:t>+15.5%×</m:t>
                    </m:r>
                    <m:f>
                      <m:f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>
                            <a:latin typeface="Cambria Math" panose="02040503050406030204"/>
                          </a:rPr>
                          <m:t>66.7</m:t>
                        </m:r>
                      </m:num>
                      <m:den>
                        <m:r>
                          <a:rPr lang="en-US" sz="1800">
                            <a:latin typeface="Cambria Math" panose="02040503050406030204"/>
                          </a:rPr>
                          <m:t>100</m:t>
                        </m:r>
                      </m:den>
                    </m:f>
                    <m:r>
                      <a:rPr lang="en-US" sz="1800">
                        <a:latin typeface="Cambria Math" panose="02040503050406030204"/>
                      </a:rPr>
                      <m:t>=12.75%</m:t>
                    </m:r>
                  </m:oMath>
                </a14:m>
                <a:endParaRPr sz="1800" dirty="0"/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lang="en-US" sz="2000" dirty="0"/>
                  <a:t>Suppose we r</a:t>
                </a:r>
                <a:r>
                  <a:rPr sz="2000" dirty="0"/>
                  <a:t>e</a:t>
                </a:r>
                <a:r>
                  <a:rPr lang="en-US" sz="2000" dirty="0"/>
                  <a:t>-</a:t>
                </a:r>
                <a:r>
                  <a:rPr sz="2000" dirty="0"/>
                  <a:t>lever to D/E = </a:t>
                </a:r>
                <a:r>
                  <a:rPr lang="en-US" sz="2000" dirty="0"/>
                  <a:t>1</a:t>
                </a:r>
                <a:r>
                  <a:rPr sz="2000" dirty="0"/>
                  <a:t> (D = $50, E = $50), </a:t>
                </a:r>
                <a:r>
                  <a:rPr lang="en-US" sz="2000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>
                            <a:latin typeface="Cambria Math" panose="02040503050406030204"/>
                          </a:rPr>
                          <m:t>𝑟</m:t>
                        </m:r>
                      </m:e>
                      <m:sub>
                        <m:r>
                          <a:rPr lang="en-US" sz="2000">
                            <a:latin typeface="Cambria Math" panose="02040503050406030204"/>
                          </a:rPr>
                          <m:t>𝐷</m:t>
                        </m:r>
                      </m:sub>
                    </m:sSub>
                  </m:oMath>
                </a14:m>
                <a:r>
                  <a:rPr sz="2000" dirty="0"/>
                  <a:t> rises to 8%:</a:t>
                </a:r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>
                            <a:latin typeface="Cambria Math" panose="02040503050406030204"/>
                          </a:rPr>
                          <m:t>𝑟</m:t>
                        </m:r>
                      </m:e>
                      <m:sub>
                        <m:r>
                          <a:rPr lang="en-US" sz="1800">
                            <a:latin typeface="Cambria Math" panose="02040503050406030204"/>
                          </a:rPr>
                          <m:t>𝐸</m:t>
                        </m:r>
                      </m:sub>
                    </m:sSub>
                    <m:r>
                      <a:rPr lang="en-US" sz="1800">
                        <a:latin typeface="Cambria Math" panose="02040503050406030204"/>
                      </a:rPr>
                      <m:t>=12.75%+(12.75%−8%)×1=17.5%</m:t>
                    </m:r>
                  </m:oMath>
                </a14:m>
                <a:endParaRPr lang="en-US" sz="1800" dirty="0"/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:r>
                  <a:rPr lang="en-US" sz="1800" dirty="0"/>
                  <a:t>But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>
                            <a:latin typeface="Cambria Math" panose="02040503050406030204"/>
                          </a:rPr>
                          <m:t>𝑟</m:t>
                        </m:r>
                      </m:e>
                      <m:sub>
                        <m:r>
                          <a:rPr lang="en-US" sz="1800">
                            <a:latin typeface="Cambria Math" panose="02040503050406030204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US" sz="1800" dirty="0"/>
                  <a:t> remains the same at </a:t>
                </a:r>
                <a14:m>
                  <m:oMath xmlns:m="http://schemas.openxmlformats.org/officeDocument/2006/math">
                    <m:r>
                      <a:rPr lang="en-US" sz="1800">
                        <a:latin typeface="Cambria Math" panose="02040503050406030204"/>
                      </a:rPr>
                      <m:t>12.75%</m:t>
                    </m:r>
                  </m:oMath>
                </a14:m>
                <a:r>
                  <a:rPr lang="en-US" sz="1800" dirty="0"/>
                  <a:t>. Cost of capital remains the same.</a:t>
                </a:r>
                <a:endParaRPr sz="18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15404" y="2016109"/>
                <a:ext cx="11112510" cy="4466884"/>
              </a:xfrm>
              <a:blipFill>
                <a:blip r:embed="rId2"/>
                <a:stretch>
                  <a:fillRect l="-219" t="-1503" b="-1230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Leverage and the Cost of Capital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 dirty="0"/>
                  <a:t>When debt is risk-free:</a:t>
                </a:r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>
                            <a:latin typeface="Cambria Math" panose="02040503050406030204"/>
                          </a:rPr>
                          <m:t>𝑟</m:t>
                        </m:r>
                      </m:e>
                      <m:sub>
                        <m:r>
                          <a:rPr lang="en-US" sz="1800">
                            <a:latin typeface="Cambria Math" panose="02040503050406030204"/>
                          </a:rPr>
                          <m:t>𝐸</m:t>
                        </m:r>
                      </m:sub>
                    </m:sSub>
                  </m:oMath>
                </a14:m>
                <a:r>
                  <a:rPr sz="1800" dirty="0"/>
                  <a:t> rises linearly with D/E</a:t>
                </a:r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>
                            <a:latin typeface="Cambria Math" panose="02040503050406030204"/>
                          </a:rPr>
                          <m:t>𝑟</m:t>
                        </m:r>
                      </m:e>
                      <m:sub>
                        <m:r>
                          <a:rPr lang="en-US" sz="1800">
                            <a:latin typeface="Cambria Math" panose="02040503050406030204"/>
                          </a:rPr>
                          <m:t>𝐷</m:t>
                        </m:r>
                      </m:sub>
                    </m:sSub>
                  </m:oMath>
                </a14:m>
                <a:r>
                  <a:rPr sz="1800" dirty="0"/>
                  <a:t> is constant</a:t>
                </a:r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1800" dirty="0"/>
                  <a:t>WACC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>
                            <a:latin typeface="Cambria Math" panose="02040503050406030204"/>
                          </a:rPr>
                          <m:t>𝑟</m:t>
                        </m:r>
                      </m:e>
                      <m:sub>
                        <m:r>
                          <a:rPr lang="en-US" sz="1800">
                            <a:latin typeface="Cambria Math" panose="02040503050406030204"/>
                          </a:rPr>
                          <m:t>𝐴</m:t>
                        </m:r>
                      </m:sub>
                    </m:sSub>
                  </m:oMath>
                </a14:m>
                <a:r>
                  <a:rPr sz="1800" dirty="0"/>
                  <a:t> is constant at 12.75%</a:t>
                </a:r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 dirty="0"/>
                  <a:t>The advantage of cheap debt is exactly offset by the rising cost of equity</a:t>
                </a:r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1800" dirty="0"/>
                  <a:t>You cannot reduce your cost of capital by using more debt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562" r="-1910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ch16_slide17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3322" y="2228003"/>
            <a:ext cx="5372581" cy="363304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When Leverage Increases the Cost of Debt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/>
              </a:bodyPr>
              <a:lstStyle/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 dirty="0"/>
                  <a:t>At high D/E, lenders demand higher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>
                            <a:latin typeface="Cambria Math" panose="02040503050406030204"/>
                          </a:rPr>
                          <m:t>𝑟</m:t>
                        </m:r>
                      </m:e>
                      <m:sub>
                        <m:r>
                          <a:rPr lang="en-US" sz="2000">
                            <a:latin typeface="Cambria Math" panose="02040503050406030204"/>
                          </a:rPr>
                          <m:t>𝐷</m:t>
                        </m:r>
                      </m:sub>
                    </m:sSub>
                  </m:oMath>
                </a14:m>
                <a:endParaRPr sz="2000" dirty="0"/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1800" dirty="0"/>
                  <a:t>They bear part of the firm’s risk</a:t>
                </a:r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 dirty="0"/>
                  <a:t>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>
                            <a:latin typeface="Cambria Math" panose="02040503050406030204"/>
                          </a:rPr>
                          <m:t>𝑟</m:t>
                        </m:r>
                      </m:e>
                      <m:sub>
                        <m:r>
                          <a:rPr lang="en-US" sz="2000">
                            <a:latin typeface="Cambria Math" panose="02040503050406030204"/>
                          </a:rPr>
                          <m:t>𝐸</m:t>
                        </m:r>
                      </m:sub>
                    </m:sSub>
                  </m:oMath>
                </a14:m>
                <a:r>
                  <a:rPr sz="2000" dirty="0"/>
                  <a:t> curve flattens as risk shifts from </a:t>
                </a:r>
                <a:r>
                  <a:rPr sz="2000" dirty="0" err="1"/>
                  <a:t>equityholders</a:t>
                </a:r>
                <a:r>
                  <a:rPr sz="2000" dirty="0"/>
                  <a:t> to debtholders</a:t>
                </a:r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 b="1" dirty="0"/>
                  <a:t>WACC still equals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latin typeface="Cambria Math" panose="02040503050406030204"/>
                          </a:rPr>
                          <m:t>𝐫</m:t>
                        </m:r>
                      </m:e>
                      <m:sub>
                        <m:r>
                          <a:rPr lang="en-US" sz="2000" b="1" i="1">
                            <a:latin typeface="Cambria Math" panose="02040503050406030204"/>
                          </a:rPr>
                          <m:t>𝐀</m:t>
                        </m:r>
                      </m:sub>
                    </m:sSub>
                  </m:oMath>
                </a14:m>
                <a:endParaRPr sz="2000" b="1" dirty="0"/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 dirty="0"/>
                  <a:t>MM Prop 2 still holds: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>
                            <a:latin typeface="Cambria Math" panose="02040503050406030204"/>
                          </a:rPr>
                          <m:t>𝑟</m:t>
                        </m:r>
                      </m:e>
                      <m:sub>
                        <m:r>
                          <a:rPr lang="en-US" sz="2000">
                            <a:latin typeface="Cambria Math" panose="02040503050406030204"/>
                          </a:rPr>
                          <m:t>𝐸</m:t>
                        </m:r>
                      </m:sub>
                    </m:sSub>
                    <m:r>
                      <a:rPr lang="en-US" sz="2000">
                        <a:latin typeface="Cambria Math" panose="02040503050406030204"/>
                      </a:rPr>
                      <m:t>=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>
                            <a:latin typeface="Cambria Math" panose="02040503050406030204"/>
                          </a:rPr>
                          <m:t>𝑟</m:t>
                        </m:r>
                      </m:e>
                      <m:sub>
                        <m:r>
                          <a:rPr lang="en-US" sz="2000">
                            <a:latin typeface="Cambria Math" panose="02040503050406030204"/>
                          </a:rPr>
                          <m:t>𝐴</m:t>
                        </m:r>
                      </m:sub>
                    </m:sSub>
                    <m:r>
                      <a:rPr lang="en-US" sz="2000">
                        <a:latin typeface="Cambria Math" panose="02040503050406030204"/>
                      </a:rPr>
                      <m:t>+(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>
                            <a:latin typeface="Cambria Math" panose="02040503050406030204"/>
                          </a:rPr>
                          <m:t>𝑟</m:t>
                        </m:r>
                      </m:e>
                      <m:sub>
                        <m:r>
                          <a:rPr lang="en-US" sz="2000">
                            <a:latin typeface="Cambria Math" panose="02040503050406030204"/>
                          </a:rPr>
                          <m:t>𝐴</m:t>
                        </m:r>
                      </m:sub>
                    </m:sSub>
                    <m:r>
                      <a:rPr lang="en-US" sz="2000">
                        <a:latin typeface="Cambria Math" panose="02040503050406030204"/>
                      </a:rPr>
                      <m:t>−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>
                            <a:latin typeface="Cambria Math" panose="02040503050406030204"/>
                          </a:rPr>
                          <m:t>𝑟</m:t>
                        </m:r>
                      </m:e>
                      <m:sub>
                        <m:r>
                          <a:rPr lang="en-US" sz="2000">
                            <a:latin typeface="Cambria Math" panose="02040503050406030204"/>
                          </a:rPr>
                          <m:t>𝐷</m:t>
                        </m:r>
                      </m:sub>
                    </m:sSub>
                    <m:r>
                      <a:rPr lang="en-US" sz="2000">
                        <a:latin typeface="Cambria Math" panose="02040503050406030204"/>
                      </a:rPr>
                      <m:t>)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>
                            <a:latin typeface="Cambria Math" panose="02040503050406030204"/>
                          </a:rPr>
                          <m:t>𝐷</m:t>
                        </m:r>
                      </m:num>
                      <m:den>
                        <m:r>
                          <a:rPr lang="en-US" sz="2000">
                            <a:latin typeface="Cambria Math" panose="02040503050406030204"/>
                          </a:rPr>
                          <m:t>𝐸</m:t>
                        </m:r>
                      </m:den>
                    </m:f>
                  </m:oMath>
                </a14:m>
                <a:endParaRPr sz="2000" dirty="0"/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1800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>
                            <a:latin typeface="Cambria Math" panose="02040503050406030204"/>
                          </a:rPr>
                          <m:t>𝑟</m:t>
                        </m:r>
                      </m:e>
                      <m:sub>
                        <m:r>
                          <a:rPr lang="en-US" sz="1800">
                            <a:latin typeface="Cambria Math" panose="02040503050406030204"/>
                          </a:rPr>
                          <m:t>𝐷</m:t>
                        </m:r>
                      </m:sub>
                    </m:sSub>
                  </m:oMath>
                </a14:m>
                <a:r>
                  <a:rPr sz="1800" dirty="0"/>
                  <a:t> rises,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>
                            <a:latin typeface="Cambria Math" panose="02040503050406030204"/>
                          </a:rPr>
                          <m:t>𝑟</m:t>
                        </m:r>
                      </m:e>
                      <m:sub>
                        <m:r>
                          <a:rPr lang="en-US" sz="1800">
                            <a:latin typeface="Cambria Math" panose="02040503050406030204"/>
                          </a:rPr>
                          <m:t>𝐸</m:t>
                        </m:r>
                      </m:sub>
                    </m:sSub>
                  </m:oMath>
                </a14:m>
                <a:r>
                  <a:rPr sz="1800" dirty="0"/>
                  <a:t> rises more slowly</a:t>
                </a:r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562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ch16_slide19_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165" y="2228003"/>
            <a:ext cx="4726446" cy="3633046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Levering and Unlevering Betas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 dirty="0"/>
                  <a:t>Just as with costs of capital, we can lever and </a:t>
                </a:r>
                <a:r>
                  <a:rPr sz="2000" dirty="0" err="1"/>
                  <a:t>unlever</a:t>
                </a:r>
                <a:r>
                  <a:rPr sz="2000" dirty="0"/>
                  <a:t> betas</a:t>
                </a:r>
                <a:endParaRPr lang="en-US" sz="2000" dirty="0"/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 b="1" dirty="0"/>
                  <a:t>Asset beta</a:t>
                </a:r>
                <a:r>
                  <a:rPr sz="2000" dirty="0"/>
                  <a:t> (weighted average of debt and equity betas):</a:t>
                </a:r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>
                            <a:latin typeface="Cambria Math" panose="02040503050406030204"/>
                          </a:rPr>
                          <m:t>𝛽</m:t>
                        </m:r>
                      </m:e>
                      <m:sub>
                        <m:r>
                          <a:rPr lang="en-US" sz="1800">
                            <a:latin typeface="Cambria Math" panose="02040503050406030204"/>
                          </a:rPr>
                          <m:t>𝐴</m:t>
                        </m:r>
                      </m:sub>
                    </m:sSub>
                    <m:r>
                      <a:rPr lang="en-US" sz="1800">
                        <a:latin typeface="Cambria Math" panose="02040503050406030204"/>
                      </a:rPr>
                      <m:t>=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>
                            <a:latin typeface="Cambria Math" panose="02040503050406030204"/>
                          </a:rPr>
                          <m:t>𝛽</m:t>
                        </m:r>
                      </m:e>
                      <m:sub>
                        <m:r>
                          <a:rPr lang="en-US" sz="1800">
                            <a:latin typeface="Cambria Math" panose="02040503050406030204"/>
                          </a:rPr>
                          <m:t>𝐷</m:t>
                        </m:r>
                      </m:sub>
                    </m:sSub>
                    <m:f>
                      <m:f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>
                            <a:latin typeface="Cambria Math" panose="02040503050406030204"/>
                          </a:rPr>
                          <m:t>𝐷</m:t>
                        </m:r>
                      </m:num>
                      <m:den>
                        <m:r>
                          <a:rPr lang="en-US" sz="1800">
                            <a:latin typeface="Cambria Math" panose="02040503050406030204"/>
                          </a:rPr>
                          <m:t>𝑉</m:t>
                        </m:r>
                      </m:den>
                    </m:f>
                    <m:r>
                      <a:rPr lang="en-US" sz="1800">
                        <a:latin typeface="Cambria Math" panose="02040503050406030204"/>
                      </a:rPr>
                      <m:t>+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>
                            <a:latin typeface="Cambria Math" panose="02040503050406030204"/>
                          </a:rPr>
                          <m:t>𝛽</m:t>
                        </m:r>
                      </m:e>
                      <m:sub>
                        <m:r>
                          <a:rPr lang="en-US" sz="1800">
                            <a:latin typeface="Cambria Math" panose="02040503050406030204"/>
                          </a:rPr>
                          <m:t>𝐸</m:t>
                        </m:r>
                      </m:sub>
                    </m:sSub>
                    <m:f>
                      <m:f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>
                            <a:latin typeface="Cambria Math" panose="02040503050406030204"/>
                          </a:rPr>
                          <m:t>𝐸</m:t>
                        </m:r>
                      </m:num>
                      <m:den>
                        <m:r>
                          <a:rPr lang="en-US" sz="1800">
                            <a:latin typeface="Cambria Math" panose="02040503050406030204"/>
                          </a:rPr>
                          <m:t>𝑉</m:t>
                        </m:r>
                      </m:den>
                    </m:f>
                  </m:oMath>
                </a14:m>
                <a:endParaRPr sz="1800" dirty="0"/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 b="1" dirty="0"/>
                  <a:t>Equity beta</a:t>
                </a:r>
                <a:r>
                  <a:rPr sz="2000" dirty="0"/>
                  <a:t> (parallels MM Prop 2 exactly):</a:t>
                </a:r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>
                            <a:latin typeface="Cambria Math" panose="02040503050406030204"/>
                          </a:rPr>
                          <m:t>𝛽</m:t>
                        </m:r>
                      </m:e>
                      <m:sub>
                        <m:r>
                          <a:rPr lang="en-US" sz="1800">
                            <a:latin typeface="Cambria Math" panose="02040503050406030204"/>
                          </a:rPr>
                          <m:t>𝐸</m:t>
                        </m:r>
                      </m:sub>
                    </m:sSub>
                    <m:r>
                      <a:rPr lang="en-US" sz="1800">
                        <a:latin typeface="Cambria Math" panose="02040503050406030204"/>
                      </a:rPr>
                      <m:t>=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>
                            <a:latin typeface="Cambria Math" panose="02040503050406030204"/>
                          </a:rPr>
                          <m:t>𝛽</m:t>
                        </m:r>
                      </m:e>
                      <m:sub>
                        <m:r>
                          <a:rPr lang="en-US" sz="1800">
                            <a:latin typeface="Cambria Math" panose="02040503050406030204"/>
                          </a:rPr>
                          <m:t>𝐴</m:t>
                        </m:r>
                      </m:sub>
                    </m:sSub>
                    <m:r>
                      <a:rPr lang="en-US" sz="1800">
                        <a:latin typeface="Cambria Math" panose="02040503050406030204"/>
                      </a:rPr>
                      <m:t>+(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>
                            <a:latin typeface="Cambria Math" panose="02040503050406030204"/>
                          </a:rPr>
                          <m:t>𝛽</m:t>
                        </m:r>
                      </m:e>
                      <m:sub>
                        <m:r>
                          <a:rPr lang="en-US" sz="1800">
                            <a:latin typeface="Cambria Math" panose="02040503050406030204"/>
                          </a:rPr>
                          <m:t>𝐴</m:t>
                        </m:r>
                      </m:sub>
                    </m:sSub>
                    <m:r>
                      <a:rPr lang="en-US" sz="1800">
                        <a:latin typeface="Cambria Math" panose="02040503050406030204"/>
                      </a:rPr>
                      <m:t>−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>
                            <a:latin typeface="Cambria Math" panose="02040503050406030204"/>
                          </a:rPr>
                          <m:t>𝛽</m:t>
                        </m:r>
                      </m:e>
                      <m:sub>
                        <m:r>
                          <a:rPr lang="en-US" sz="1800">
                            <a:latin typeface="Cambria Math" panose="02040503050406030204"/>
                          </a:rPr>
                          <m:t>𝐷</m:t>
                        </m:r>
                      </m:sub>
                    </m:sSub>
                    <m:r>
                      <a:rPr lang="en-US" sz="1800">
                        <a:latin typeface="Cambria Math" panose="02040503050406030204"/>
                      </a:rPr>
                      <m:t>)</m:t>
                    </m:r>
                    <m:f>
                      <m:f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>
                            <a:latin typeface="Cambria Math" panose="02040503050406030204"/>
                          </a:rPr>
                          <m:t>𝐷</m:t>
                        </m:r>
                      </m:num>
                      <m:den>
                        <m:r>
                          <a:rPr lang="en-US" sz="1800">
                            <a:latin typeface="Cambria Math" panose="02040503050406030204"/>
                          </a:rPr>
                          <m:t>𝐸</m:t>
                        </m:r>
                      </m:den>
                    </m:f>
                  </m:oMath>
                </a14:m>
                <a:endParaRPr sz="1800" dirty="0"/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 dirty="0"/>
                  <a:t>Example: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>
                            <a:latin typeface="Cambria Math" panose="02040503050406030204"/>
                          </a:rPr>
                          <m:t>𝛽</m:t>
                        </m:r>
                      </m:e>
                      <m:sub>
                        <m:r>
                          <a:rPr lang="en-US" sz="2000">
                            <a:latin typeface="Cambria Math" panose="02040503050406030204"/>
                          </a:rPr>
                          <m:t>𝐷</m:t>
                        </m:r>
                      </m:sub>
                    </m:sSub>
                    <m:r>
                      <a:rPr lang="en-US" sz="2000">
                        <a:latin typeface="Cambria Math" panose="02040503050406030204"/>
                      </a:rPr>
                      <m:t>=0.1</m:t>
                    </m:r>
                  </m:oMath>
                </a14:m>
                <a:r>
                  <a:rPr sz="20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>
                            <a:latin typeface="Cambria Math" panose="02040503050406030204"/>
                          </a:rPr>
                          <m:t>𝛽</m:t>
                        </m:r>
                      </m:e>
                      <m:sub>
                        <m:r>
                          <a:rPr lang="en-US" sz="2000">
                            <a:latin typeface="Cambria Math" panose="02040503050406030204"/>
                          </a:rPr>
                          <m:t>𝐸</m:t>
                        </m:r>
                      </m:sub>
                    </m:sSub>
                    <m:r>
                      <a:rPr lang="en-US" sz="2000">
                        <a:latin typeface="Cambria Math" panose="02040503050406030204"/>
                      </a:rPr>
                      <m:t>=1.1</m:t>
                    </m:r>
                  </m:oMath>
                </a14:m>
                <a:r>
                  <a:rPr sz="2000" dirty="0"/>
                  <a:t>, D/V = 1/3</a:t>
                </a:r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>
                            <a:latin typeface="Cambria Math" panose="02040503050406030204"/>
                          </a:rPr>
                          <m:t>𝛽</m:t>
                        </m:r>
                      </m:e>
                      <m:sub>
                        <m:r>
                          <a:rPr lang="en-US" sz="1800">
                            <a:latin typeface="Cambria Math" panose="02040503050406030204"/>
                          </a:rPr>
                          <m:t>𝐴</m:t>
                        </m:r>
                      </m:sub>
                    </m:sSub>
                    <m:r>
                      <a:rPr lang="en-US" sz="1800">
                        <a:latin typeface="Cambria Math" panose="02040503050406030204"/>
                      </a:rPr>
                      <m:t>=0.1×</m:t>
                    </m:r>
                    <m:f>
                      <m:f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>
                            <a:latin typeface="Cambria Math" panose="02040503050406030204"/>
                          </a:rPr>
                          <m:t>33.3</m:t>
                        </m:r>
                      </m:num>
                      <m:den>
                        <m:r>
                          <a:rPr lang="en-US" sz="1800">
                            <a:latin typeface="Cambria Math" panose="02040503050406030204"/>
                          </a:rPr>
                          <m:t>100</m:t>
                        </m:r>
                      </m:den>
                    </m:f>
                    <m:r>
                      <a:rPr lang="en-US" sz="1800">
                        <a:latin typeface="Cambria Math" panose="02040503050406030204"/>
                      </a:rPr>
                      <m:t>+1.1×</m:t>
                    </m:r>
                    <m:f>
                      <m:f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>
                            <a:latin typeface="Cambria Math" panose="02040503050406030204"/>
                          </a:rPr>
                          <m:t>66.7</m:t>
                        </m:r>
                      </m:num>
                      <m:den>
                        <m:r>
                          <a:rPr lang="en-US" sz="1800">
                            <a:latin typeface="Cambria Math" panose="02040503050406030204"/>
                          </a:rPr>
                          <m:t>100</m:t>
                        </m:r>
                      </m:den>
                    </m:f>
                    <m:r>
                      <a:rPr lang="en-US" sz="1800">
                        <a:latin typeface="Cambria Math" panose="02040503050406030204"/>
                      </a:rPr>
                      <m:t>=0.767</m:t>
                    </m:r>
                  </m:oMath>
                </a14:m>
                <a:endParaRPr sz="1800" dirty="0"/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 dirty="0" err="1"/>
                  <a:t>Relever</a:t>
                </a:r>
                <a:r>
                  <a:rPr sz="2000" dirty="0"/>
                  <a:t> to D/E = 1,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>
                            <a:latin typeface="Cambria Math" panose="02040503050406030204"/>
                          </a:rPr>
                          <m:t>𝛽</m:t>
                        </m:r>
                      </m:e>
                      <m:sub>
                        <m:r>
                          <a:rPr lang="en-US" sz="2000">
                            <a:latin typeface="Cambria Math" panose="02040503050406030204"/>
                          </a:rPr>
                          <m:t>𝐷</m:t>
                        </m:r>
                      </m:sub>
                    </m:sSub>
                  </m:oMath>
                </a14:m>
                <a:r>
                  <a:rPr sz="2000" dirty="0"/>
                  <a:t> rises to 0.15:</a:t>
                </a:r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>
                            <a:latin typeface="Cambria Math" panose="02040503050406030204"/>
                          </a:rPr>
                          <m:t>𝛽</m:t>
                        </m:r>
                      </m:e>
                      <m:sub>
                        <m:r>
                          <a:rPr lang="en-US" sz="1800">
                            <a:latin typeface="Cambria Math" panose="02040503050406030204"/>
                          </a:rPr>
                          <m:t>𝐸</m:t>
                        </m:r>
                      </m:sub>
                    </m:sSub>
                    <m:r>
                      <a:rPr lang="en-US" sz="1800">
                        <a:latin typeface="Cambria Math" panose="02040503050406030204"/>
                      </a:rPr>
                      <m:t>=0.767+(0.767−0.15)×1=1.384</m:t>
                    </m:r>
                  </m:oMath>
                </a14:m>
                <a:endParaRPr sz="1800" dirty="0"/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 dirty="0"/>
                  <a:t>Equity risk = business risk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>
                            <a:latin typeface="Cambria Math" panose="02040503050406030204"/>
                          </a:rPr>
                          <m:t>𝛽</m:t>
                        </m:r>
                      </m:e>
                      <m:sub>
                        <m:r>
                          <a:rPr lang="en-US" sz="2000">
                            <a:latin typeface="Cambria Math" panose="02040503050406030204"/>
                          </a:rPr>
                          <m:t>𝐴</m:t>
                        </m:r>
                      </m:sub>
                    </m:sSub>
                  </m:oMath>
                </a14:m>
                <a:r>
                  <a:rPr sz="2000" dirty="0"/>
                  <a:t>) + financial risk (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 panose="02040503050406030204"/>
                      </a:rPr>
                      <m:t>(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>
                            <a:latin typeface="Cambria Math" panose="02040503050406030204"/>
                          </a:rPr>
                          <m:t>𝛽</m:t>
                        </m:r>
                      </m:e>
                      <m:sub>
                        <m:r>
                          <a:rPr lang="en-US" sz="2000">
                            <a:latin typeface="Cambria Math" panose="02040503050406030204"/>
                          </a:rPr>
                          <m:t>𝐴</m:t>
                        </m:r>
                      </m:sub>
                    </m:sSub>
                    <m:r>
                      <a:rPr lang="en-US" sz="2000">
                        <a:latin typeface="Cambria Math" panose="02040503050406030204"/>
                      </a:rPr>
                      <m:t>−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>
                            <a:latin typeface="Cambria Math" panose="02040503050406030204"/>
                          </a:rPr>
                          <m:t>𝛽</m:t>
                        </m:r>
                      </m:e>
                      <m:sub>
                        <m:r>
                          <a:rPr lang="en-US" sz="2000">
                            <a:latin typeface="Cambria Math" panose="02040503050406030204"/>
                          </a:rPr>
                          <m:t>𝐷</m:t>
                        </m:r>
                      </m:sub>
                    </m:sSub>
                    <m:r>
                      <a:rPr lang="en-US" sz="2000">
                        <a:latin typeface="Cambria Math" panose="02040503050406030204"/>
                      </a:rPr>
                      <m:t>)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>
                            <a:latin typeface="Cambria Math" panose="02040503050406030204"/>
                          </a:rPr>
                          <m:t>𝐷</m:t>
                        </m:r>
                      </m:num>
                      <m:den>
                        <m:r>
                          <a:rPr lang="en-US" sz="2000">
                            <a:latin typeface="Cambria Math" panose="02040503050406030204"/>
                          </a:rPr>
                          <m:t>𝐸</m:t>
                        </m:r>
                      </m:den>
                    </m:f>
                  </m:oMath>
                </a14:m>
                <a:r>
                  <a:rPr sz="2000" dirty="0"/>
                  <a:t>)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21" t="-663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Watch Out for Hidden Leverage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 dirty="0"/>
                  <a:t>Some financing arrangements are debt in disguise</a:t>
                </a:r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 b="1" dirty="0"/>
                  <a:t>Example: </a:t>
                </a:r>
                <a:r>
                  <a:rPr sz="2000" b="1" dirty="0" err="1"/>
                  <a:t>Reeby</a:t>
                </a:r>
                <a:r>
                  <a:rPr sz="2000" b="1" dirty="0"/>
                  <a:t> Sports</a:t>
                </a:r>
                <a:r>
                  <a:rPr sz="2000" dirty="0"/>
                  <a:t> — carbon-fiber bocce shoe project</a:t>
                </a:r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1800" dirty="0"/>
                  <a:t>Original analysis: invest $1M, NPV = –$14,000 at 10% cost of capital. Reject.</a:t>
                </a:r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1800" dirty="0"/>
                  <a:t>Equipment seller offers 5 annual payments of $122,000 instead of $500,000 upfront</a:t>
                </a:r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1800" dirty="0"/>
                  <a:t>Revised NPV appears positive (+$23,000). Accept?</a:t>
                </a:r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 dirty="0"/>
                  <a:t>The installments are really a $500,000 loan at 7%:</a:t>
                </a:r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14:m>
                  <m:oMath xmlns:m="http://schemas.openxmlformats.org/officeDocument/2006/math">
                    <m:r>
                      <a:rPr lang="en-US" sz="1800">
                        <a:latin typeface="Cambria Math" panose="02040503050406030204"/>
                      </a:rPr>
                      <m:t>$500,000=$122,000×</m:t>
                    </m:r>
                    <m:d>
                      <m:dPr>
                        <m:sepChr m:val="−"/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800">
                                <a:latin typeface="Cambria Math" panose="02040503050406030204"/>
                              </a:rPr>
                              <m:t>1</m:t>
                            </m:r>
                          </m:num>
                          <m:den>
                            <m:r>
                              <a:rPr lang="en-US" sz="1800">
                                <a:latin typeface="Cambria Math" panose="02040503050406030204"/>
                              </a:rPr>
                              <m:t>0.07</m:t>
                            </m:r>
                          </m:den>
                        </m:f>
                      </m:e>
                      <m:e>
                        <m:f>
                          <m:f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800">
                                <a:latin typeface="Cambria Math" panose="02040503050406030204"/>
                              </a:rPr>
                              <m:t>1</m:t>
                            </m:r>
                          </m:num>
                          <m:den>
                            <m:r>
                              <a:rPr lang="en-US" sz="1800">
                                <a:latin typeface="Cambria Math" panose="02040503050406030204"/>
                              </a:rPr>
                              <m:t>0.07×</m:t>
                            </m:r>
                            <m:sSup>
                              <m:sSupPr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800">
                                    <a:latin typeface="Cambria Math" panose="02040503050406030204"/>
                                  </a:rPr>
                                  <m:t>1.07</m:t>
                                </m:r>
                              </m:e>
                              <m:sup>
                                <m:r>
                                  <a:rPr lang="en-US" sz="1800">
                                    <a:latin typeface="Cambria Math" panose="02040503050406030204"/>
                                  </a:rPr>
                                  <m:t>5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endParaRPr sz="1800" dirty="0"/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 dirty="0"/>
                  <a:t>Discount unlevered cash flows 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>
                            <a:latin typeface="Cambria Math" panose="02040503050406030204"/>
                          </a:rPr>
                          <m:t>𝑟</m:t>
                        </m:r>
                      </m:e>
                      <m:sub>
                        <m:r>
                          <a:rPr lang="en-US" sz="2000">
                            <a:latin typeface="Cambria Math" panose="02040503050406030204"/>
                          </a:rPr>
                          <m:t>𝐴</m:t>
                        </m:r>
                      </m:sub>
                    </m:sSub>
                  </m:oMath>
                </a14:m>
                <a:r>
                  <a:rPr sz="2000" dirty="0"/>
                  <a:t> — never mix investment and financing decisions</a:t>
                </a:r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 dirty="0"/>
                  <a:t>In a perfect capital market, no form of debt (actual or disguised) can create value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76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Why Capital Structure Matters in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7225075" cy="3678303"/>
          </a:xfrm>
        </p:spPr>
        <p:txBody>
          <a:bodyPr>
            <a:norm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000" dirty="0"/>
              <a:t>In Ch. 16 we assumed perfect capital markets → capital structure irrelevant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000" dirty="0"/>
              <a:t>But actual debt ratios vary systematically across industries: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800" dirty="0"/>
              <a:t>Pharmaceuticals: 0.07, Semiconductors: 0.17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800" dirty="0"/>
              <a:t>Oil: 0.35, Retail: 0.48, Telecom: 0.50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000" dirty="0"/>
              <a:t>Drug companies and tech firms use little debt; retailers and utilities borrow heavily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000" dirty="0"/>
              <a:t>The explanation lies in what MM assumed away: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800" dirty="0"/>
              <a:t>Taxes, bankruptcy costs, and agency costs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000" dirty="0"/>
              <a:t>These market imperfections make capital structure matter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rcRect l="18233" r="3" b="3"/>
          <a:stretch>
            <a:fillRect/>
          </a:stretch>
        </p:blipFill>
        <p:spPr>
          <a:xfrm>
            <a:off x="8051799" y="1871133"/>
            <a:ext cx="3683001" cy="4504267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Debt and Taxes: The Interest Tax Shield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 dirty="0"/>
                  <a:t>Interest is a tax-deductible expense; dividends are not</a:t>
                </a:r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 dirty="0"/>
                  <a:t>Compare two identical firms with EBIT = $1,000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>
                            <a:latin typeface="Cambria Math" panose="02040503050406030204"/>
                          </a:rPr>
                          <m:t>𝑡</m:t>
                        </m:r>
                      </m:e>
                      <m:sub>
                        <m:r>
                          <a:rPr lang="en-US" sz="2000">
                            <a:latin typeface="Cambria Math" panose="02040503050406030204"/>
                          </a:rPr>
                          <m:t>𝑐</m:t>
                        </m:r>
                      </m:sub>
                    </m:sSub>
                    <m:r>
                      <a:rPr lang="en-US" sz="2000">
                        <a:latin typeface="Cambria Math" panose="02040503050406030204"/>
                      </a:rPr>
                      <m:t>=21%</m:t>
                    </m:r>
                  </m:oMath>
                </a14:m>
                <a:r>
                  <a:rPr sz="2000" dirty="0"/>
                  <a:t>:</a:t>
                </a:r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1800" b="1" dirty="0"/>
                  <a:t>Firm U (unlevered):</a:t>
                </a:r>
                <a:r>
                  <a:rPr sz="1800" dirty="0"/>
                  <a:t> Tax = $210, total to investors = $790</a:t>
                </a:r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1800" b="1" dirty="0"/>
                  <a:t>Firm L</a:t>
                </a:r>
                <a:r>
                  <a:rPr sz="1800" dirty="0"/>
                  <a:t> ($3,000 debt at 8%): interest = $240, tax = $160, total to investors = $840</a:t>
                </a:r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1800" dirty="0"/>
                  <a:t>Difference: </a:t>
                </a:r>
                <a14:m>
                  <m:oMath xmlns:m="http://schemas.openxmlformats.org/officeDocument/2006/math">
                    <m:r>
                      <a:rPr lang="en-US" sz="1800">
                        <a:latin typeface="Cambria Math" panose="02040503050406030204"/>
                      </a:rPr>
                      <m:t>$50=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>
                            <a:latin typeface="Cambria Math" panose="02040503050406030204"/>
                          </a:rPr>
                          <m:t>𝑡</m:t>
                        </m:r>
                      </m:e>
                      <m:sub>
                        <m:r>
                          <a:rPr lang="en-US" sz="1800">
                            <a:latin typeface="Cambria Math" panose="02040503050406030204"/>
                          </a:rPr>
                          <m:t>𝑐</m:t>
                        </m:r>
                      </m:sub>
                    </m:sSub>
                    <m:r>
                      <a:rPr lang="en-US" sz="1800">
                        <a:latin typeface="Cambria Math" panose="02040503050406030204"/>
                      </a:rPr>
                      <m:t>×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>
                            <a:latin typeface="Cambria Math" panose="02040503050406030204"/>
                          </a:rPr>
                          <m:t>𝑟</m:t>
                        </m:r>
                      </m:e>
                      <m:sub>
                        <m:r>
                          <a:rPr lang="en-US" sz="1800">
                            <a:latin typeface="Cambria Math" panose="02040503050406030204"/>
                          </a:rPr>
                          <m:t>𝐷</m:t>
                        </m:r>
                      </m:sub>
                    </m:sSub>
                    <m:r>
                      <a:rPr lang="en-US" sz="1800">
                        <a:latin typeface="Cambria Math" panose="02040503050406030204"/>
                      </a:rPr>
                      <m:t>×</m:t>
                    </m:r>
                    <m:r>
                      <a:rPr lang="en-US" sz="1800">
                        <a:latin typeface="Cambria Math" panose="02040503050406030204"/>
                      </a:rPr>
                      <m:t>𝐷</m:t>
                    </m:r>
                    <m:r>
                      <a:rPr lang="en-US" sz="1800">
                        <a:latin typeface="Cambria Math" panose="02040503050406030204"/>
                      </a:rPr>
                      <m:t>=0.21×0.08×$3,000</m:t>
                    </m:r>
                  </m:oMath>
                </a14:m>
                <a:endParaRPr sz="1800" dirty="0"/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 dirty="0"/>
                  <a:t>The government effectively subsidizes 21% of interest expense</a:t>
                </a:r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 dirty="0"/>
                  <a:t>The annual tax shield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>
                            <a:latin typeface="Cambria Math" panose="02040503050406030204"/>
                          </a:rPr>
                          <m:t>𝑡</m:t>
                        </m:r>
                      </m:e>
                      <m:sub>
                        <m:r>
                          <a:rPr lang="en-US" sz="2000">
                            <a:latin typeface="Cambria Math" panose="02040503050406030204"/>
                          </a:rPr>
                          <m:t>𝑐</m:t>
                        </m:r>
                      </m:sub>
                    </m:sSub>
                    <m:r>
                      <a:rPr lang="en-US" sz="2000">
                        <a:latin typeface="Cambria Math" panose="02040503050406030204"/>
                      </a:rPr>
                      <m:t>×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>
                            <a:latin typeface="Cambria Math" panose="02040503050406030204"/>
                          </a:rPr>
                          <m:t>𝑟</m:t>
                        </m:r>
                      </m:e>
                      <m:sub>
                        <m:r>
                          <a:rPr lang="en-US" sz="2000">
                            <a:latin typeface="Cambria Math" panose="02040503050406030204"/>
                          </a:rPr>
                          <m:t>𝐷</m:t>
                        </m:r>
                      </m:sub>
                    </m:sSub>
                    <m:r>
                      <a:rPr lang="en-US" sz="2000">
                        <a:latin typeface="Cambria Math" panose="02040503050406030204"/>
                      </a:rPr>
                      <m:t>×</m:t>
                    </m:r>
                    <m:r>
                      <a:rPr lang="en-US" sz="2000">
                        <a:latin typeface="Cambria Math" panose="02040503050406030204"/>
                      </a:rPr>
                      <m:t>𝐷</m:t>
                    </m:r>
                  </m:oMath>
                </a14:m>
                <a:endParaRPr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76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PV of Tax Shields: Two Benchmark Policies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dirty="0"/>
              <a:t>Debt Fixed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r>
                  <a:rPr dirty="0"/>
                  <a:t>Debt stays constant regardless of </a:t>
                </a:r>
                <a:r>
                  <a:rPr lang="en-US" dirty="0"/>
                  <a:t> </a:t>
                </a:r>
                <a:r>
                  <a:rPr dirty="0"/>
                  <a:t>V</a:t>
                </a:r>
              </a:p>
              <a:p>
                <a:r>
                  <a:rPr dirty="0"/>
                  <a:t>Tax shields are safe (like coupons)</a:t>
                </a:r>
              </a:p>
              <a:p>
                <a:r>
                  <a:rPr dirty="0"/>
                  <a:t>Discount 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err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i="1" dirty="0" err="1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</m:oMath>
                </a14:m>
                <a:r>
                  <a:rPr dirty="0"/>
                  <a:t>:</a:t>
                </a:r>
              </a:p>
              <a:p>
                <a14:m>
                  <m:oMath xmlns:m="http://schemas.openxmlformats.org/officeDocument/2006/math">
                    <m:r>
                      <a:rPr lang="en-US">
                        <a:latin typeface="Cambria Math" panose="02040503050406030204"/>
                      </a:rPr>
                      <m:t>𝑃𝑉</m:t>
                    </m:r>
                    <m:r>
                      <a:rPr lang="en-US">
                        <a:latin typeface="Cambria Math" panose="02040503050406030204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>
                                <a:latin typeface="Cambria Math" panose="02040503050406030204"/>
                              </a:rPr>
                              <m:t>𝑡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/>
                              </a:rPr>
                              <m:t>𝑐</m:t>
                            </m:r>
                          </m:sub>
                        </m:sSub>
                        <m:r>
                          <a:rPr lang="en-US">
                            <a:latin typeface="Cambria Math" panose="02040503050406030204"/>
                          </a:rPr>
                          <m:t>×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>
                                <a:latin typeface="Cambria Math" panose="02040503050406030204"/>
                              </a:rPr>
                              <m:t>𝑟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/>
                              </a:rPr>
                              <m:t>𝐷</m:t>
                            </m:r>
                          </m:sub>
                        </m:sSub>
                        <m:r>
                          <a:rPr lang="en-US">
                            <a:latin typeface="Cambria Math" panose="02040503050406030204"/>
                          </a:rPr>
                          <m:t>×</m:t>
                        </m:r>
                        <m:r>
                          <a:rPr lang="en-US">
                            <a:latin typeface="Cambria Math" panose="02040503050406030204"/>
                          </a:rPr>
                          <m:t>𝐷</m:t>
                        </m:r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>
                                <a:latin typeface="Cambria Math" panose="02040503050406030204"/>
                              </a:rPr>
                              <m:t>𝑟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/>
                              </a:rPr>
                              <m:t>𝐷</m:t>
                            </m:r>
                          </m:sub>
                        </m:sSub>
                      </m:den>
                    </m:f>
                    <m:r>
                      <a:rPr lang="en-US">
                        <a:latin typeface="Cambria Math" panose="02040503050406030204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>
                            <a:latin typeface="Cambria Math" panose="02040503050406030204"/>
                          </a:rPr>
                          <m:t>𝑡</m:t>
                        </m:r>
                      </m:e>
                      <m:sub>
                        <m:r>
                          <a:rPr lang="en-US">
                            <a:latin typeface="Cambria Math" panose="02040503050406030204"/>
                          </a:rPr>
                          <m:t>𝑐</m:t>
                        </m:r>
                      </m:sub>
                    </m:sSub>
                    <m:r>
                      <a:rPr lang="en-US">
                        <a:latin typeface="Cambria Math" panose="02040503050406030204"/>
                      </a:rPr>
                      <m:t>𝐷</m:t>
                    </m:r>
                  </m:oMath>
                </a14:m>
                <a:endParaRPr dirty="0"/>
              </a:p>
              <a:p>
                <a:r>
                  <a:rPr dirty="0"/>
                  <a:t>PV of tax shield = tax rate x debt</a:t>
                </a:r>
              </a:p>
              <a:p>
                <a:r>
                  <a:rPr dirty="0"/>
                  <a:t>Example: 0.21 x $3,000 = $630</a:t>
                </a:r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452" t="-124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b="1" dirty="0"/>
              <a:t>Debt Rebalanced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/>
              <p:cNvSpPr>
                <a:spLocks noGrp="1"/>
              </p:cNvSpPr>
              <p:nvPr>
                <p:ph sz="quarter" idx="4"/>
              </p:nvPr>
            </p:nvSpPr>
            <p:spPr/>
            <p:txBody>
              <a:bodyPr/>
              <a:lstStyle/>
              <a:p>
                <a:r>
                  <a:rPr dirty="0"/>
                  <a:t>Debt maintained as constant fraction of V</a:t>
                </a:r>
                <a:r>
                  <a:rPr lang="en-US" dirty="0"/>
                  <a:t> (constant D/E aka leverage ratio)</a:t>
                </a:r>
                <a:endParaRPr dirty="0"/>
              </a:p>
              <a:p>
                <a:r>
                  <a:rPr dirty="0"/>
                  <a:t>Tax shields vary with V (riskier)</a:t>
                </a:r>
              </a:p>
              <a:p>
                <a:r>
                  <a:rPr dirty="0"/>
                  <a:t>Discount 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err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i="1" dirty="0" err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dirty="0"/>
                  <a:t>:</a:t>
                </a:r>
              </a:p>
              <a:p>
                <a14:m>
                  <m:oMath xmlns:m="http://schemas.openxmlformats.org/officeDocument/2006/math">
                    <m:r>
                      <a:rPr lang="en-US">
                        <a:latin typeface="Cambria Math" panose="02040503050406030204"/>
                      </a:rPr>
                      <m:t>𝑃𝑉</m:t>
                    </m:r>
                    <m:r>
                      <a:rPr lang="en-US">
                        <a:latin typeface="Cambria Math" panose="02040503050406030204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>
                                <a:latin typeface="Cambria Math" panose="02040503050406030204"/>
                              </a:rPr>
                              <m:t>𝑡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/>
                              </a:rPr>
                              <m:t>𝑐</m:t>
                            </m:r>
                          </m:sub>
                        </m:sSub>
                        <m:r>
                          <a:rPr lang="en-US">
                            <a:latin typeface="Cambria Math" panose="02040503050406030204"/>
                          </a:rPr>
                          <m:t>×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>
                                <a:latin typeface="Cambria Math" panose="02040503050406030204"/>
                              </a:rPr>
                              <m:t>𝑟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/>
                              </a:rPr>
                              <m:t>𝐷</m:t>
                            </m:r>
                          </m:sub>
                        </m:sSub>
                        <m:r>
                          <a:rPr lang="en-US">
                            <a:latin typeface="Cambria Math" panose="02040503050406030204"/>
                          </a:rPr>
                          <m:t>×</m:t>
                        </m:r>
                        <m:r>
                          <a:rPr lang="en-US">
                            <a:latin typeface="Cambria Math" panose="02040503050406030204"/>
                          </a:rPr>
                          <m:t>𝐷</m:t>
                        </m:r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>
                                <a:latin typeface="Cambria Math" panose="02040503050406030204"/>
                              </a:rPr>
                              <m:t>𝑟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/>
                              </a:rPr>
                              <m:t>𝐴</m:t>
                            </m:r>
                          </m:sub>
                        </m:sSub>
                      </m:den>
                    </m:f>
                  </m:oMath>
                </a14:m>
                <a:endParaRPr dirty="0"/>
              </a:p>
              <a:p>
                <a:r>
                  <a:rPr dirty="0"/>
                  <a:t>Worth less than debt fixed</a:t>
                </a:r>
              </a:p>
              <a:p>
                <a:r>
                  <a:rPr dirty="0"/>
                  <a:t>Either way: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>
                            <a:latin typeface="Cambria Math" panose="02040503050406030204"/>
                          </a:rPr>
                          <m:t>𝑉</m:t>
                        </m:r>
                      </m:e>
                      <m:sub>
                        <m:r>
                          <a:rPr lang="en-US">
                            <a:latin typeface="Cambria Math" panose="02040503050406030204"/>
                          </a:rPr>
                          <m:t>𝐿</m:t>
                        </m:r>
                      </m:sub>
                    </m:sSub>
                    <m:r>
                      <a:rPr lang="en-US">
                        <a:latin typeface="Cambria Math" panose="02040503050406030204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>
                            <a:latin typeface="Cambria Math" panose="02040503050406030204"/>
                          </a:rPr>
                          <m:t>𝑉</m:t>
                        </m:r>
                      </m:e>
                      <m:sub>
                        <m:r>
                          <a:rPr lang="en-US">
                            <a:latin typeface="Cambria Math" panose="02040503050406030204"/>
                          </a:rPr>
                          <m:t>𝑈</m:t>
                        </m:r>
                      </m:sub>
                    </m:sSub>
                    <m:r>
                      <a:rPr lang="en-US">
                        <a:latin typeface="Cambria Math" panose="02040503050406030204"/>
                      </a:rPr>
                      <m:t>+</m:t>
                    </m:r>
                    <m:r>
                      <a:rPr lang="en-US">
                        <a:latin typeface="Cambria Math" panose="02040503050406030204"/>
                      </a:rPr>
                      <m:t>𝑃𝑉</m:t>
                    </m:r>
                    <m:r>
                      <a:rPr lang="en-US">
                        <a:latin typeface="Cambria Math" panose="02040503050406030204"/>
                      </a:rPr>
                      <m:t>(</m:t>
                    </m:r>
                    <m:r>
                      <m:rPr>
                        <m:nor/>
                      </m:rPr>
                      <a:rPr lang="en-US">
                        <a:latin typeface="Cambria Math" panose="02040503050406030204"/>
                      </a:rPr>
                      <m:t>tax</m:t>
                    </m:r>
                    <m:r>
                      <m:rPr>
                        <m:nor/>
                      </m:rPr>
                      <a:rPr lang="en-US">
                        <a:latin typeface="Cambria Math" panose="02040503050406030204"/>
                      </a:rPr>
                      <m:t> </m:t>
                    </m:r>
                    <m:r>
                      <m:rPr>
                        <m:nor/>
                      </m:rPr>
                      <a:rPr lang="en-US">
                        <a:latin typeface="Cambria Math" panose="02040503050406030204"/>
                      </a:rPr>
                      <m:t>shield</m:t>
                    </m:r>
                    <m:r>
                      <a:rPr lang="en-US">
                        <a:latin typeface="Cambria Math" panose="02040503050406030204"/>
                      </a:rPr>
                      <m:t>)</m:t>
                    </m:r>
                  </m:oMath>
                </a14:m>
                <a:endParaRPr dirty="0"/>
              </a:p>
            </p:txBody>
          </p:sp>
        </mc:Choice>
        <mc:Fallback xmlns="">
          <p:sp>
            <p:nvSpPr>
              <p:cNvPr id="6" name="Conten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4"/>
              </p:nvPr>
            </p:nvSpPr>
            <p:spPr>
              <a:blipFill>
                <a:blip r:embed="rId3"/>
                <a:stretch>
                  <a:fillRect l="-452" t="-1247" b="-416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Tax Shields Increase Shareholder Wealth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dirty="0"/>
                  <a:t>Without taxes: leverage changes how the pie is sliced, not its size</a:t>
                </a:r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dirty="0"/>
                  <a:t>With taxes, there is a THIRD slice: the government’s</a:t>
                </a:r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:r>
                  <a:rPr dirty="0"/>
                  <a:t>Unlevered: government gets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>
                            <a:latin typeface="Cambria Math" panose="02040503050406030204"/>
                          </a:rPr>
                          <m:t>𝑡</m:t>
                        </m:r>
                      </m:e>
                      <m:sub>
                        <m:r>
                          <a:rPr lang="en-US">
                            <a:latin typeface="Cambria Math" panose="02040503050406030204"/>
                          </a:rPr>
                          <m:t>𝑐</m:t>
                        </m:r>
                      </m:sub>
                    </m:sSub>
                  </m:oMath>
                </a14:m>
                <a:r>
                  <a:rPr dirty="0"/>
                  <a:t> of total cash flows</a:t>
                </a:r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:r>
                  <a:rPr dirty="0"/>
                  <a:t>Levered: interest is deductible → government’s slice shrinks</a:t>
                </a:r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:r>
                  <a:rPr dirty="0"/>
                  <a:t>The reduction in taxes goes to investors</a:t>
                </a:r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>
                            <a:latin typeface="Cambria Math" panose="02040503050406030204"/>
                          </a:rPr>
                          <m:t>𝑉</m:t>
                        </m:r>
                      </m:e>
                      <m:sub>
                        <m:r>
                          <a:rPr lang="en-US">
                            <a:latin typeface="Cambria Math" panose="02040503050406030204"/>
                          </a:rPr>
                          <m:t>𝐿</m:t>
                        </m:r>
                      </m:sub>
                    </m:sSub>
                    <m:r>
                      <a:rPr lang="en-US">
                        <a:latin typeface="Cambria Math" panose="02040503050406030204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>
                            <a:latin typeface="Cambria Math" panose="02040503050406030204"/>
                          </a:rPr>
                          <m:t>𝑉</m:t>
                        </m:r>
                      </m:e>
                      <m:sub>
                        <m:r>
                          <a:rPr lang="en-US">
                            <a:latin typeface="Cambria Math" panose="02040503050406030204"/>
                          </a:rPr>
                          <m:t>𝑈</m:t>
                        </m:r>
                      </m:sub>
                    </m:sSub>
                    <m:r>
                      <a:rPr lang="en-US">
                        <a:latin typeface="Cambria Math" panose="02040503050406030204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>
                            <a:latin typeface="Cambria Math" panose="02040503050406030204"/>
                          </a:rPr>
                          <m:t>𝑡</m:t>
                        </m:r>
                      </m:e>
                      <m:sub>
                        <m:r>
                          <a:rPr lang="en-US">
                            <a:latin typeface="Cambria Math" panose="02040503050406030204"/>
                          </a:rPr>
                          <m:t>𝑐</m:t>
                        </m:r>
                      </m:sub>
                    </m:sSub>
                    <m:r>
                      <a:rPr lang="en-US">
                        <a:latin typeface="Cambria Math" panose="02040503050406030204"/>
                      </a:rPr>
                      <m:t>𝐷</m:t>
                    </m:r>
                  </m:oMath>
                </a14:m>
                <a:r>
                  <a:rPr dirty="0"/>
                  <a:t> (permanent, fixed debt)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449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DCA5A6DF-F5BE-D49C-1DA6-19B01E74C4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3471" y="3054021"/>
            <a:ext cx="6105570" cy="208599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Changing Alphabet’s Capital Structure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 dirty="0"/>
                  <a:t>Alphabet (Google) Dec 2022: market value $1.16 trillion</a:t>
                </a:r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1800" dirty="0"/>
                  <a:t>Long-term debt: only $14.7B, PV of existing tax shield: $3.1B</a:t>
                </a:r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 dirty="0"/>
                  <a:t>Suppose Alphabet borrows an additional $20B to repurchase shares:</a:t>
                </a:r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1800" dirty="0"/>
                  <a:t>PV(tax shield)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>
                            <a:latin typeface="Cambria Math" panose="02040503050406030204"/>
                          </a:rPr>
                          <m:t>𝑡</m:t>
                        </m:r>
                      </m:e>
                      <m:sub>
                        <m:r>
                          <a:rPr lang="en-US" sz="1800">
                            <a:latin typeface="Cambria Math" panose="02040503050406030204"/>
                          </a:rPr>
                          <m:t>𝑐</m:t>
                        </m:r>
                      </m:sub>
                    </m:sSub>
                    <m:r>
                      <a:rPr lang="en-US" sz="1800">
                        <a:latin typeface="Cambria Math" panose="02040503050406030204"/>
                      </a:rPr>
                      <m:t>×</m:t>
                    </m:r>
                    <m:r>
                      <a:rPr lang="en-US" sz="1800">
                        <a:latin typeface="Cambria Math" panose="02040503050406030204"/>
                      </a:rPr>
                      <m:t>𝐷</m:t>
                    </m:r>
                    <m:r>
                      <a:rPr lang="en-US" sz="1800">
                        <a:latin typeface="Cambria Math" panose="02040503050406030204"/>
                      </a:rPr>
                      <m:t>=0.21×$20</m:t>
                    </m:r>
                    <m:r>
                      <a:rPr lang="en-US" sz="1800">
                        <a:latin typeface="Cambria Math" panose="02040503050406030204"/>
                      </a:rPr>
                      <m:t>𝐵</m:t>
                    </m:r>
                    <m:r>
                      <a:rPr lang="en-US" sz="1800">
                        <a:latin typeface="Cambria Math" panose="02040503050406030204"/>
                      </a:rPr>
                      <m:t>=$4.2</m:t>
                    </m:r>
                    <m:r>
                      <a:rPr lang="en-US" sz="1800">
                        <a:latin typeface="Cambria Math" panose="02040503050406030204"/>
                      </a:rPr>
                      <m:t>𝐵</m:t>
                    </m:r>
                  </m:oMath>
                </a14:m>
                <a:endParaRPr sz="1800" dirty="0"/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1800" dirty="0"/>
                  <a:t>Firm value increases by $4.2 billion</a:t>
                </a:r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1800" dirty="0"/>
                  <a:t>Equity drops by only $15.8B (not $20B) → shareholders gain $4.2B</a:t>
                </a:r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 dirty="0"/>
                  <a:t>Why doesn’t Alphabet borrow $50B or $100B?</a:t>
                </a:r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1800" dirty="0"/>
                  <a:t>Bankruptcy costs, agency costs, and personal taxes limit the benefit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76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Limits to the Tax Advantages of Debt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spcBef>
                <a:spcPts val="200"/>
              </a:spcBef>
              <a:spcAft>
                <a:spcPts val="200"/>
              </a:spcAft>
              <a:buFont typeface="+mj-lt"/>
              <a:buAutoNum type="arabicPeriod"/>
            </a:pPr>
            <a:r>
              <a:rPr sz="2000" b="1" dirty="0"/>
              <a:t>Must have taxable profits to shield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800" dirty="0"/>
              <a:t>If EBIT &lt; interest, excess interest provides no current tax benefit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800" dirty="0"/>
              <a:t>Tax loss carry</a:t>
            </a:r>
            <a:r>
              <a:rPr lang="en-US" sz="1800" dirty="0"/>
              <a:t>-</a:t>
            </a:r>
            <a:r>
              <a:rPr sz="1800" dirty="0"/>
              <a:t>forwards help but have lower PV (some countries limit the number of years)</a:t>
            </a:r>
          </a:p>
          <a:p>
            <a:pPr marL="342900" indent="-342900">
              <a:spcBef>
                <a:spcPts val="200"/>
              </a:spcBef>
              <a:spcAft>
                <a:spcPts val="200"/>
              </a:spcAft>
              <a:buFont typeface="+mj-lt"/>
              <a:buAutoNum type="arabicPeriod"/>
            </a:pPr>
            <a:r>
              <a:rPr sz="2000" b="1" dirty="0"/>
              <a:t>Interest deduction caps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800" dirty="0"/>
              <a:t>US: deductible only up to 30% of EBIT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800" dirty="0"/>
              <a:t>EU: 30% of EBITDA</a:t>
            </a:r>
          </a:p>
          <a:p>
            <a:pPr marL="342900" indent="-342900">
              <a:spcBef>
                <a:spcPts val="200"/>
              </a:spcBef>
              <a:spcAft>
                <a:spcPts val="200"/>
              </a:spcAft>
              <a:buFont typeface="+mj-lt"/>
              <a:buAutoNum type="arabicPeriod"/>
            </a:pPr>
            <a:r>
              <a:rPr sz="2000" b="1" dirty="0"/>
              <a:t>Personal taxes can offset the corporate advantage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800" dirty="0"/>
              <a:t>Interest income is taxed at the personal level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800" dirty="0"/>
              <a:t>If personal tax on interest &gt; personal tax on equity income, the net advantage shrinks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Personal Taxes and the Relative Tax Advantage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 dirty="0"/>
                  <a:t>Operating income $1 flows down two paths:</a:t>
                </a:r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1800" dirty="0"/>
                  <a:t>Interest: Corp tax = 0, personal tax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>
                            <a:latin typeface="Cambria Math" panose="02040503050406030204"/>
                          </a:rPr>
                          <m:t>𝑡</m:t>
                        </m:r>
                      </m:e>
                      <m:sub>
                        <m:r>
                          <a:rPr lang="en-US" sz="1800">
                            <a:latin typeface="Cambria Math" panose="02040503050406030204"/>
                          </a:rPr>
                          <m:t>𝐷</m:t>
                        </m:r>
                      </m:sub>
                    </m:sSub>
                  </m:oMath>
                </a14:m>
                <a:endParaRPr sz="1800" dirty="0"/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1800" dirty="0"/>
                  <a:t>Equity: Corp tax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>
                            <a:latin typeface="Cambria Math" panose="02040503050406030204"/>
                          </a:rPr>
                          <m:t>𝑡</m:t>
                        </m:r>
                      </m:e>
                      <m:sub>
                        <m:r>
                          <a:rPr lang="en-US" sz="1800">
                            <a:latin typeface="Cambria Math" panose="02040503050406030204"/>
                          </a:rPr>
                          <m:t>𝑐</m:t>
                        </m:r>
                      </m:sub>
                    </m:sSub>
                  </m:oMath>
                </a14:m>
                <a:r>
                  <a:rPr sz="1800" dirty="0"/>
                  <a:t>, personal tax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>
                            <a:latin typeface="Cambria Math" panose="02040503050406030204"/>
                          </a:rPr>
                          <m:t>𝑡</m:t>
                        </m:r>
                      </m:e>
                      <m:sub>
                        <m:r>
                          <a:rPr lang="en-US" sz="1800">
                            <a:latin typeface="Cambria Math" panose="02040503050406030204"/>
                          </a:rPr>
                          <m:t>𝐸</m:t>
                        </m:r>
                      </m:sub>
                    </m:sSub>
                  </m:oMath>
                </a14:m>
                <a:endParaRPr sz="1800" dirty="0"/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 dirty="0"/>
                  <a:t>Net advantage of debt:</a:t>
                </a:r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>
                            <a:latin typeface="Cambria Math" panose="02040503050406030204"/>
                          </a:rPr>
                          <m:t>𝑡</m:t>
                        </m:r>
                      </m:e>
                      <m:sup>
                        <m:r>
                          <a:rPr lang="en-US" sz="1800">
                            <a:latin typeface="Cambria Math" panose="02040503050406030204"/>
                          </a:rPr>
                          <m:t>∗</m:t>
                        </m:r>
                      </m:sup>
                    </m:sSup>
                    <m:r>
                      <a:rPr lang="en-US" sz="1800">
                        <a:latin typeface="Cambria Math" panose="02040503050406030204"/>
                      </a:rPr>
                      <m:t>=1−</m:t>
                    </m:r>
                    <m:f>
                      <m:f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>
                                <a:latin typeface="Cambria Math" panose="02040503050406030204"/>
                              </a:rPr>
                              <m:t>1−</m:t>
                            </m:r>
                            <m:sSub>
                              <m:sSubPr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>
                                    <a:latin typeface="Cambria Math" panose="02040503050406030204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sz="1800">
                                    <a:latin typeface="Cambria Math" panose="02040503050406030204"/>
                                  </a:rPr>
                                  <m:t>𝐸</m:t>
                                </m:r>
                              </m:sub>
                            </m:sSub>
                            <m:r>
                              <a:rPr lang="en-US" sz="1800">
                                <a:latin typeface="Cambria Math" panose="02040503050406030204"/>
                              </a:rPr>
                              <m:t>)(1−</m:t>
                            </m:r>
                            <m:sSub>
                              <m:sSubPr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>
                                    <a:latin typeface="Cambria Math" panose="02040503050406030204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sz="1800">
                                    <a:latin typeface="Cambria Math" panose="02040503050406030204"/>
                                  </a:rPr>
                                  <m:t>𝑐</m:t>
                                </m:r>
                              </m:sub>
                            </m:sSub>
                          </m:e>
                        </m:d>
                      </m:num>
                      <m:den>
                        <m:r>
                          <a:rPr lang="en-US" sz="1800">
                            <a:latin typeface="Cambria Math" panose="02040503050406030204"/>
                          </a:rPr>
                          <m:t>1−</m:t>
                        </m:r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>
                                <a:latin typeface="Cambria Math" panose="02040503050406030204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800">
                                <a:latin typeface="Cambria Math" panose="02040503050406030204"/>
                              </a:rPr>
                              <m:t>𝐷</m:t>
                            </m:r>
                          </m:sub>
                        </m:sSub>
                      </m:den>
                    </m:f>
                  </m:oMath>
                </a14:m>
                <a:endParaRPr sz="1800" dirty="0"/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1800" dirty="0"/>
                  <a:t>If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>
                            <a:latin typeface="Cambria Math" panose="02040503050406030204"/>
                          </a:rPr>
                          <m:t>𝑡</m:t>
                        </m:r>
                      </m:e>
                      <m:sup>
                        <m:r>
                          <a:rPr lang="en-US" sz="1800">
                            <a:latin typeface="Cambria Math" panose="02040503050406030204"/>
                          </a:rPr>
                          <m:t>∗</m:t>
                        </m:r>
                      </m:sup>
                    </m:sSup>
                    <m:r>
                      <a:rPr lang="en-US" sz="1800">
                        <a:latin typeface="Cambria Math" panose="02040503050406030204"/>
                      </a:rPr>
                      <m:t>&gt;0</m:t>
                    </m:r>
                  </m:oMath>
                </a14:m>
                <a:r>
                  <a:rPr sz="1800" dirty="0"/>
                  <a:t>: debt wins</a:t>
                </a:r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1800" dirty="0"/>
                  <a:t>If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>
                            <a:latin typeface="Cambria Math" panose="02040503050406030204"/>
                          </a:rPr>
                          <m:t>𝑡</m:t>
                        </m:r>
                      </m:e>
                      <m:sup>
                        <m:r>
                          <a:rPr lang="en-US" sz="1800">
                            <a:latin typeface="Cambria Math" panose="02040503050406030204"/>
                          </a:rPr>
                          <m:t>∗</m:t>
                        </m:r>
                      </m:sup>
                    </m:sSup>
                    <m:r>
                      <a:rPr lang="en-US" sz="1800">
                        <a:latin typeface="Cambria Math" panose="02040503050406030204"/>
                      </a:rPr>
                      <m:t>&lt;0</m:t>
                    </m:r>
                  </m:oMath>
                </a14:m>
                <a:r>
                  <a:rPr sz="1800" dirty="0"/>
                  <a:t>: equity wins</a:t>
                </a:r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 dirty="0"/>
                  <a:t>US: break-even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>
                            <a:latin typeface="Cambria Math" panose="02040503050406030204"/>
                          </a:rPr>
                          <m:t>𝑡</m:t>
                        </m:r>
                      </m:e>
                      <m:sub>
                        <m:r>
                          <a:rPr lang="en-US" sz="2000">
                            <a:latin typeface="Cambria Math" panose="02040503050406030204"/>
                          </a:rPr>
                          <m:t>𝐸</m:t>
                        </m:r>
                      </m:sub>
                    </m:sSub>
                    <m:r>
                      <a:rPr lang="en-US" sz="2000">
                        <a:latin typeface="Cambria Math" panose="02040503050406030204"/>
                      </a:rPr>
                      <m:t>≈20%</m:t>
                    </m:r>
                  </m:oMath>
                </a14:m>
                <a:endParaRPr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562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ch17_slide11_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4295" y="2228003"/>
            <a:ext cx="4850635" cy="3633047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Is There a Net Tax Advantage to Debt?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 dirty="0"/>
                  <a:t>US corporate tax: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>
                            <a:latin typeface="Cambria Math" panose="02040503050406030204"/>
                          </a:rPr>
                          <m:t>𝑡</m:t>
                        </m:r>
                      </m:e>
                      <m:sub>
                        <m:r>
                          <a:rPr lang="en-US" sz="2000">
                            <a:latin typeface="Cambria Math" panose="02040503050406030204"/>
                          </a:rPr>
                          <m:t>𝑐</m:t>
                        </m:r>
                      </m:sub>
                    </m:sSub>
                    <m:r>
                      <a:rPr lang="en-US" sz="2000">
                        <a:latin typeface="Cambria Math" panose="02040503050406030204"/>
                      </a:rPr>
                      <m:t>=21%</m:t>
                    </m:r>
                  </m:oMath>
                </a14:m>
                <a:endParaRPr sz="2000" dirty="0"/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 dirty="0"/>
                  <a:t>Top personal tax on interest: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>
                            <a:latin typeface="Cambria Math" panose="02040503050406030204"/>
                          </a:rPr>
                          <m:t>𝑡</m:t>
                        </m:r>
                      </m:e>
                      <m:sub>
                        <m:r>
                          <a:rPr lang="en-US" sz="2000">
                            <a:latin typeface="Cambria Math" panose="02040503050406030204"/>
                          </a:rPr>
                          <m:t>𝐷</m:t>
                        </m:r>
                      </m:sub>
                    </m:sSub>
                    <m:r>
                      <a:rPr lang="en-US" sz="2000">
                        <a:latin typeface="Cambria Math" panose="02040503050406030204"/>
                      </a:rPr>
                      <m:t>=37%</m:t>
                    </m:r>
                  </m:oMath>
                </a14:m>
                <a:endParaRPr sz="2000" dirty="0"/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 dirty="0"/>
                  <a:t>Top personal tax on equity income: 20% statutory, but lower effective rate due to capital gains deferral</a:t>
                </a:r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 dirty="0"/>
                  <a:t>Break-even: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>
                            <a:latin typeface="Cambria Math" panose="02040503050406030204"/>
                          </a:rPr>
                          <m:t>𝑡</m:t>
                        </m:r>
                      </m:e>
                      <m:sup>
                        <m:r>
                          <a:rPr lang="en-US" sz="2000">
                            <a:latin typeface="Cambria Math" panose="02040503050406030204"/>
                          </a:rPr>
                          <m:t>∗</m:t>
                        </m:r>
                      </m:sup>
                    </m:sSup>
                    <m:r>
                      <a:rPr lang="en-US" sz="2000">
                        <a:latin typeface="Cambria Math" panose="02040503050406030204"/>
                      </a:rPr>
                      <m:t>=0</m:t>
                    </m:r>
                  </m:oMath>
                </a14:m>
                <a:r>
                  <a:rPr sz="2000" dirty="0"/>
                  <a:t> 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>
                            <a:latin typeface="Cambria Math" panose="02040503050406030204"/>
                          </a:rPr>
                          <m:t>𝑡</m:t>
                        </m:r>
                      </m:e>
                      <m:sub>
                        <m:r>
                          <a:rPr lang="en-US" sz="2000">
                            <a:latin typeface="Cambria Math" panose="02040503050406030204"/>
                          </a:rPr>
                          <m:t>𝐸</m:t>
                        </m:r>
                      </m:sub>
                    </m:sSub>
                    <m:r>
                      <a:rPr lang="en-US" sz="2000">
                        <a:latin typeface="Cambria Math" panose="02040503050406030204"/>
                      </a:rPr>
                      <m:t>=20%</m:t>
                    </m:r>
                  </m:oMath>
                </a14:m>
                <a:endParaRPr sz="2000" dirty="0"/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1800" dirty="0"/>
                  <a:t>If effective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>
                            <a:latin typeface="Cambria Math" panose="02040503050406030204"/>
                          </a:rPr>
                          <m:t>𝑡</m:t>
                        </m:r>
                      </m:e>
                      <m:sub>
                        <m:r>
                          <a:rPr lang="en-US" sz="1800">
                            <a:latin typeface="Cambria Math" panose="02040503050406030204"/>
                          </a:rPr>
                          <m:t>𝐸</m:t>
                        </m:r>
                      </m:sub>
                    </m:sSub>
                    <m:r>
                      <a:rPr lang="en-US" sz="1800">
                        <a:latin typeface="Cambria Math" panose="02040503050406030204"/>
                      </a:rPr>
                      <m:t>&lt;20%</m:t>
                    </m:r>
                  </m:oMath>
                </a14:m>
                <a:r>
                  <a:rPr sz="1800" dirty="0"/>
                  <a:t> →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>
                            <a:latin typeface="Cambria Math" panose="02040503050406030204"/>
                          </a:rPr>
                          <m:t>𝑡</m:t>
                        </m:r>
                      </m:e>
                      <m:sup>
                        <m:r>
                          <a:rPr lang="en-US" sz="1800">
                            <a:latin typeface="Cambria Math" panose="02040503050406030204"/>
                          </a:rPr>
                          <m:t>∗</m:t>
                        </m:r>
                      </m:sup>
                    </m:sSup>
                    <m:r>
                      <a:rPr lang="en-US" sz="1800">
                        <a:latin typeface="Cambria Math" panose="02040503050406030204"/>
                      </a:rPr>
                      <m:t>&lt;0</m:t>
                    </m:r>
                  </m:oMath>
                </a14:m>
                <a:r>
                  <a:rPr sz="1800" dirty="0"/>
                  <a:t>: personal tax disadvantage of debt for high-tax individuals</a:t>
                </a:r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1800" dirty="0"/>
                  <a:t>Tax-exempt institutions (pension funds, endowments): clear preference for debt</a:t>
                </a:r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 dirty="0"/>
                  <a:t>Most financial managers believe there is a moderate net tax advantage to corporate borrowing</a:t>
                </a:r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 dirty="0"/>
                  <a:t>For companies that cannot use the corporate shield, there may be a moderate tax disadvantage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76" r="-221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Clientele Effects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000" dirty="0"/>
              <a:t>Some investors cannot borrow as cheaply as corporations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000" dirty="0"/>
              <a:t>They may prefer levered companies for the higher returns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800" dirty="0"/>
              <a:t>This creates a clientele of investors who favor corporate debt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800" dirty="0"/>
              <a:t>But as firms respond by levering up, supply adjusts to meet demand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800" dirty="0"/>
              <a:t>Once supply matches the clientele’s demand, no individual firm can add value by changing its leverage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000" dirty="0"/>
              <a:t>Clientele effects explain why some firms use debt, but not that all should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Are Bankruptcy Costs?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7268263" cy="4369279"/>
          </a:xfrm>
        </p:spPr>
        <p:txBody>
          <a:bodyPr>
            <a:norm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000" dirty="0"/>
              <a:t>Devonshire: V = $100, D = $50, E = $50. Recession → V drops to $30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800" dirty="0"/>
              <a:t>Debtholders owed $50, recover only $30; </a:t>
            </a:r>
            <a:r>
              <a:rPr sz="1800" dirty="0" err="1"/>
              <a:t>equityholders</a:t>
            </a:r>
            <a:r>
              <a:rPr sz="1800" dirty="0"/>
              <a:t> get $0 (limited liability)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000" dirty="0"/>
              <a:t>Bankruptcy is costly not because of the recession, but because of the bankruptcy PROCESS:</a:t>
            </a:r>
          </a:p>
          <a:p>
            <a:pPr marL="666900" lvl="1" indent="-342900">
              <a:spcBef>
                <a:spcPts val="200"/>
              </a:spcBef>
              <a:spcAft>
                <a:spcPts val="200"/>
              </a:spcAft>
              <a:buFont typeface="+mj-lt"/>
              <a:buAutoNum type="arabicPeriod"/>
            </a:pPr>
            <a:r>
              <a:rPr sz="1800" b="1" dirty="0"/>
              <a:t>Legal fees:</a:t>
            </a:r>
            <a:r>
              <a:rPr sz="1800" dirty="0"/>
              <a:t> courts, lawyers for each class of claimants</a:t>
            </a:r>
          </a:p>
          <a:p>
            <a:pPr lvl="2">
              <a:spcBef>
                <a:spcPts val="200"/>
              </a:spcBef>
              <a:spcAft>
                <a:spcPts val="200"/>
              </a:spcAft>
            </a:pPr>
            <a:r>
              <a:rPr sz="1600" dirty="0"/>
              <a:t>Enron: $757M in professional fees; Lehman Brothers: $5.9B</a:t>
            </a:r>
          </a:p>
          <a:p>
            <a:pPr marL="666900" lvl="1" indent="-342900">
              <a:spcBef>
                <a:spcPts val="200"/>
              </a:spcBef>
              <a:spcAft>
                <a:spcPts val="200"/>
              </a:spcAft>
              <a:buFont typeface="+mj-lt"/>
              <a:buAutoNum type="arabicPeriod"/>
            </a:pPr>
            <a:r>
              <a:rPr sz="1800" b="1" dirty="0"/>
              <a:t>Fire sale discounts:</a:t>
            </a:r>
            <a:r>
              <a:rPr sz="1800" dirty="0"/>
              <a:t> assets sold quickly at deep discounts</a:t>
            </a:r>
          </a:p>
          <a:p>
            <a:pPr lvl="2">
              <a:spcBef>
                <a:spcPts val="200"/>
              </a:spcBef>
              <a:spcAft>
                <a:spcPts val="200"/>
              </a:spcAft>
            </a:pPr>
            <a:r>
              <a:rPr sz="1600" dirty="0"/>
              <a:t>Lehman: $60B recovered was $11B less than estimated value</a:t>
            </a:r>
          </a:p>
          <a:p>
            <a:pPr marL="666900" lvl="1" indent="-342900">
              <a:spcBef>
                <a:spcPts val="200"/>
              </a:spcBef>
              <a:spcAft>
                <a:spcPts val="200"/>
              </a:spcAft>
              <a:buFont typeface="+mj-lt"/>
              <a:buAutoNum type="arabicPeriod"/>
            </a:pPr>
            <a:r>
              <a:rPr sz="1800" b="1" dirty="0"/>
              <a:t>Loss of intangible assets:</a:t>
            </a:r>
            <a:r>
              <a:rPr sz="1800" dirty="0"/>
              <a:t> employees leave, brand erodes, R&amp;D abandoned, customer relationships severed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000" dirty="0"/>
              <a:t>Average direct costs: ~3% of book assets, ~20% of equity value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2056" y="2180496"/>
            <a:ext cx="426720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Costs of Financial Distress (Pre-Bankruptcy)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000" dirty="0"/>
              <a:t>Even without actual bankruptcy, the mere POSSIBILITY of default erodes firm value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000" b="1" dirty="0"/>
              <a:t>Customers</a:t>
            </a:r>
            <a:r>
              <a:rPr sz="2000" dirty="0"/>
              <a:t> worry about warranties, service, and resale value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800" dirty="0"/>
              <a:t>Chrysler saw plummeting sales before its 2009 bankruptcy — buyers feared the company wouldn’t honor warranties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000" b="1" dirty="0"/>
              <a:t>Suppliers</a:t>
            </a:r>
            <a:r>
              <a:rPr sz="2000" dirty="0"/>
              <a:t> demand cash upfront or refuse trade credit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800" dirty="0"/>
              <a:t>Creates a liquidity squeeze at the worst possible time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000" b="1" dirty="0"/>
              <a:t>Employees</a:t>
            </a:r>
            <a:r>
              <a:rPr sz="2000" dirty="0"/>
              <a:t> leave for safer employers; stop investing in firm-specific human capital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000" dirty="0"/>
              <a:t>These indirect costs can far exceed the direct legal fees of bankruptcy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Bankruptcy Costs Vary with Asset Type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Heartbreak Hotel (tangible)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dirty="0"/>
              <a:t>Recession: default on mortgage</a:t>
            </a:r>
          </a:p>
          <a:p>
            <a:r>
              <a:rPr dirty="0"/>
              <a:t>Lender sells to new operator</a:t>
            </a:r>
          </a:p>
          <a:p>
            <a:r>
              <a:rPr dirty="0"/>
              <a:t>Hotel worth almost the same</a:t>
            </a:r>
          </a:p>
          <a:p>
            <a:r>
              <a:rPr dirty="0"/>
              <a:t>Bankruptcy costs are minimal</a:t>
            </a:r>
          </a:p>
          <a:p>
            <a:r>
              <a:rPr dirty="0"/>
              <a:t>Tangible assets survive well</a:t>
            </a:r>
          </a:p>
          <a:p>
            <a:r>
              <a:rPr dirty="0"/>
              <a:t>This is why airlines can borrow heavily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Digital Organics (intangible)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>
            <a:normAutofit lnSpcReduction="10000"/>
          </a:bodyPr>
          <a:lstStyle/>
          <a:p>
            <a:r>
              <a:rPr dirty="0"/>
              <a:t>Employees walk away</a:t>
            </a:r>
          </a:p>
          <a:p>
            <a:r>
              <a:rPr dirty="0"/>
              <a:t>Technology is specialized, hard to sell</a:t>
            </a:r>
          </a:p>
          <a:p>
            <a:r>
              <a:rPr dirty="0"/>
              <a:t>Half-finished R&amp;D is worthless</a:t>
            </a:r>
          </a:p>
          <a:p>
            <a:r>
              <a:rPr dirty="0"/>
              <a:t>Going concern value destroyed</a:t>
            </a:r>
          </a:p>
          <a:p>
            <a:r>
              <a:rPr dirty="0"/>
              <a:t>This is why tech/pharma firms use little debt</a:t>
            </a:r>
          </a:p>
          <a:p>
            <a:r>
              <a:rPr dirty="0"/>
              <a:t>Do not think only about the probability of bankruptcy — think also of the value that may be lost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n-SG">
                <a:solidFill>
                  <a:srgbClr val="FFFFFF"/>
                </a:solidFill>
              </a:rPr>
              <a:t>Agency Costs of Equity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7225075" cy="3678303"/>
          </a:xfrm>
        </p:spPr>
        <p:txBody>
          <a:bodyPr>
            <a:norm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dirty="0"/>
              <a:t>Arise when managers have too little equity stake in the firm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dirty="0"/>
              <a:t>Example:</a:t>
            </a:r>
            <a:r>
              <a:rPr dirty="0"/>
              <a:t> Stevie starts $10M business with only $1M of own money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dirty="0"/>
              <a:t>Owns 10% → bears only 10% of costs, gets only 10% of benefits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dirty="0"/>
              <a:t>Free cash flow problem: empire building, perks, reduced effort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b="1" dirty="0"/>
              <a:t>How debt helps:</a:t>
            </a:r>
          </a:p>
          <a:p>
            <a:pPr marL="666900" lvl="1" indent="-342900">
              <a:spcBef>
                <a:spcPts val="200"/>
              </a:spcBef>
              <a:spcAft>
                <a:spcPts val="200"/>
              </a:spcAft>
              <a:buFont typeface="+mj-lt"/>
              <a:buAutoNum type="arabicPeriod"/>
            </a:pPr>
            <a:r>
              <a:rPr dirty="0"/>
              <a:t>Concentration: higher leverage → larger ownership fraction</a:t>
            </a:r>
          </a:p>
          <a:p>
            <a:pPr marL="666900" lvl="1" indent="-342900">
              <a:spcBef>
                <a:spcPts val="200"/>
              </a:spcBef>
              <a:spcAft>
                <a:spcPts val="200"/>
              </a:spcAft>
              <a:buFont typeface="+mj-lt"/>
              <a:buAutoNum type="arabicPeriod"/>
            </a:pPr>
            <a:r>
              <a:rPr dirty="0"/>
              <a:t>Reduced free cash flow: interest commits cash outflows, harder to waste</a:t>
            </a:r>
          </a:p>
          <a:p>
            <a:pPr marL="666900" lvl="1" indent="-342900">
              <a:spcBef>
                <a:spcPts val="200"/>
              </a:spcBef>
              <a:spcAft>
                <a:spcPts val="200"/>
              </a:spcAft>
              <a:buFont typeface="+mj-lt"/>
              <a:buAutoNum type="arabicPeriod"/>
            </a:pPr>
            <a:r>
              <a:rPr dirty="0"/>
              <a:t>Discipline: must generate enough cash to cover interest or face bankruptcy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dirty="0"/>
              <a:t>Debt alleviates agency costs of equity, but creates its own agency costs...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rcRect l="10200" r="8036" b="3"/>
          <a:stretch>
            <a:fillRect/>
          </a:stretch>
        </p:blipFill>
        <p:spPr>
          <a:xfrm>
            <a:off x="8051799" y="1871133"/>
            <a:ext cx="3683001" cy="4504267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Agency Costs of Debt: Risk Shifting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000" dirty="0"/>
              <a:t>Circular File: V = $30, D = $27, E = $3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800" dirty="0"/>
              <a:t>Negative-NPV gamble: invest $20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800" dirty="0"/>
              <a:t>20% chance: $90 (V = $100)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800" dirty="0"/>
              <a:t>80% chance: $0 (V = $10)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800" dirty="0"/>
              <a:t>Expected V = $28 &lt; $30, NPV = -$2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000" dirty="0"/>
              <a:t>But shareholder sees: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800" dirty="0"/>
              <a:t>Succeeds: E jumps $3 to $50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800" dirty="0"/>
              <a:t>Fails: loses only $3 (limited liability)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000" dirty="0"/>
              <a:t>Shareholders gamble with debtholders’ money</a:t>
            </a:r>
          </a:p>
        </p:txBody>
      </p:sp>
      <p:pic>
        <p:nvPicPr>
          <p:cNvPr id="4" name="Picture 3" descr="ch17_slide17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8417" y="2494188"/>
            <a:ext cx="5422392" cy="3100677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Shifting: The Decision Tree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000" dirty="0"/>
              <a:t>Invest $20 cash: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800" dirty="0"/>
              <a:t>20% probability: assets = $100</a:t>
            </a:r>
          </a:p>
          <a:p>
            <a:pPr lvl="2">
              <a:spcBef>
                <a:spcPts val="200"/>
              </a:spcBef>
              <a:spcAft>
                <a:spcPts val="200"/>
              </a:spcAft>
            </a:pPr>
            <a:r>
              <a:rPr sz="1600" dirty="0"/>
              <a:t>Debt = $50, equity = $50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800" dirty="0"/>
              <a:t>80% probability: assets = $10</a:t>
            </a:r>
          </a:p>
          <a:p>
            <a:pPr lvl="2">
              <a:spcBef>
                <a:spcPts val="200"/>
              </a:spcBef>
              <a:spcAft>
                <a:spcPts val="200"/>
              </a:spcAft>
            </a:pPr>
            <a:r>
              <a:rPr sz="1600" dirty="0"/>
              <a:t>Debt = $10, equity = $0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800" dirty="0"/>
              <a:t>Expected debt: $18 (down from $27)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800" dirty="0"/>
              <a:t>Expected equity: $10 (up from $3)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000" dirty="0"/>
              <a:t>Firm loses $2, but E gains $7 at D’s expense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800" dirty="0"/>
              <a:t>Also called “gambling for resurrection”</a:t>
            </a:r>
          </a:p>
        </p:txBody>
      </p:sp>
      <p:pic>
        <p:nvPicPr>
          <p:cNvPr id="4" name="Picture 3" descr="ch17_slide15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8417" y="2954888"/>
            <a:ext cx="5422392" cy="2179277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Agency Costs of Debt: Debt Overhang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000" dirty="0"/>
              <a:t>Circular File finds a good project: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800" dirty="0"/>
              <a:t>Invest $30 → assets worth $35, NPV = +$5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000" dirty="0"/>
              <a:t>Shareholder must contribute $10 new equity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800" dirty="0"/>
              <a:t>V rises from $30 to $45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800" dirty="0"/>
              <a:t>Debt rises from $27 to $35 (+$8 windfall)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800" dirty="0"/>
              <a:t>Equity rises from $3 to $10 (+$7 gain on $10 invested)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000" dirty="0"/>
              <a:t>Shareholder puts in $10 but gains only $7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800" dirty="0"/>
              <a:t>The $8 windfall to debtholders acts like a tax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000" dirty="0"/>
              <a:t>Shareholder declines the positive-NPV project!</a:t>
            </a:r>
          </a:p>
        </p:txBody>
      </p:sp>
      <p:pic>
        <p:nvPicPr>
          <p:cNvPr id="4" name="Picture 3" descr="ch17_slide19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8417" y="2471241"/>
            <a:ext cx="5422392" cy="314657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the Games Cost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000" dirty="0"/>
              <a:t>Bondholders are NOT fooled — they anticipate risk shifting and debt overhang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000" dirty="0"/>
              <a:t>They respond by demanding higher interest rates or imposing covenants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000" b="1" dirty="0"/>
              <a:t>Covenants</a:t>
            </a:r>
            <a:r>
              <a:rPr sz="2000" dirty="0"/>
              <a:t> restrict dividends, additional borrowing, asset sales, and investment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800" dirty="0"/>
              <a:t>But covenants are blunt instruments: cannot be written on NPV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800" dirty="0"/>
              <a:t>May inadvertently prevent positive-NPV projects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800" dirty="0"/>
              <a:t>Like traffic lights: prevent all driving, not just dangerous driving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000" dirty="0"/>
              <a:t>The incidence of these costs falls on shareholders through higher interest rates and tighter restrictions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800" dirty="0"/>
              <a:t>Maximizing shareholder value therefore requires limiting debt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Trade-Off Theory of Capital Structure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/>
              </a:bodyPr>
              <a:lstStyle/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14:m>
                  <m:oMath xmlns:m="http://schemas.openxmlformats.org/officeDocument/2006/math">
                    <m:r>
                      <a:rPr lang="en-US" sz="2000">
                        <a:latin typeface="Cambria Math" panose="02040503050406030204"/>
                      </a:rPr>
                      <m:t>𝑉</m:t>
                    </m:r>
                    <m:r>
                      <a:rPr lang="en-US" sz="2000">
                        <a:latin typeface="Cambria Math" panose="02040503050406030204"/>
                      </a:rPr>
                      <m:t>=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>
                            <a:latin typeface="Cambria Math" panose="02040503050406030204"/>
                          </a:rPr>
                          <m:t>𝑉</m:t>
                        </m:r>
                      </m:e>
                      <m:sub>
                        <m:r>
                          <a:rPr lang="en-US" sz="2000">
                            <a:latin typeface="Cambria Math" panose="02040503050406030204"/>
                          </a:rPr>
                          <m:t>𝑈</m:t>
                        </m:r>
                      </m:sub>
                    </m:sSub>
                    <m:r>
                      <a:rPr lang="en-US" sz="2000">
                        <a:latin typeface="Cambria Math" panose="02040503050406030204"/>
                      </a:rPr>
                      <m:t>+</m:t>
                    </m:r>
                    <m:r>
                      <a:rPr lang="en-US" sz="2000">
                        <a:latin typeface="Cambria Math" panose="02040503050406030204"/>
                      </a:rPr>
                      <m:t>𝑃𝑉</m:t>
                    </m:r>
                    <m:r>
                      <a:rPr lang="en-US" sz="2000">
                        <a:latin typeface="Cambria Math" panose="02040503050406030204"/>
                      </a:rPr>
                      <m:t>(</m:t>
                    </m:r>
                    <m:r>
                      <m:rPr>
                        <m:nor/>
                      </m:rPr>
                      <a:rPr lang="en-US" sz="2000">
                        <a:latin typeface="Cambria Math" panose="02040503050406030204"/>
                      </a:rPr>
                      <m:t>tax</m:t>
                    </m:r>
                    <m:r>
                      <m:rPr>
                        <m:nor/>
                      </m:rPr>
                      <a:rPr lang="en-US" sz="2000">
                        <a:latin typeface="Cambria Math" panose="02040503050406030204"/>
                      </a:rPr>
                      <m:t> </m:t>
                    </m:r>
                    <m:r>
                      <m:rPr>
                        <m:nor/>
                      </m:rPr>
                      <a:rPr lang="en-US" sz="2000">
                        <a:latin typeface="Cambria Math" panose="02040503050406030204"/>
                      </a:rPr>
                      <m:t>shield</m:t>
                    </m:r>
                    <m:r>
                      <a:rPr lang="en-US" sz="2000">
                        <a:latin typeface="Cambria Math" panose="02040503050406030204"/>
                      </a:rPr>
                      <m:t>)−</m:t>
                    </m:r>
                    <m:r>
                      <a:rPr lang="en-US" sz="2000">
                        <a:latin typeface="Cambria Math" panose="02040503050406030204"/>
                      </a:rPr>
                      <m:t>𝑃𝑉</m:t>
                    </m:r>
                    <m:r>
                      <a:rPr lang="en-US" sz="2000">
                        <a:latin typeface="Cambria Math" panose="02040503050406030204"/>
                      </a:rPr>
                      <m:t>(</m:t>
                    </m:r>
                    <m:r>
                      <m:rPr>
                        <m:nor/>
                      </m:rPr>
                      <a:rPr lang="en-US" sz="2000">
                        <a:latin typeface="Cambria Math" panose="02040503050406030204"/>
                      </a:rPr>
                      <m:t>bankruptcy</m:t>
                    </m:r>
                    <m:r>
                      <m:rPr>
                        <m:nor/>
                      </m:rPr>
                      <a:rPr lang="en-US" sz="2000">
                        <a:latin typeface="Cambria Math" panose="02040503050406030204"/>
                      </a:rPr>
                      <m:t> </m:t>
                    </m:r>
                    <m:r>
                      <m:rPr>
                        <m:nor/>
                      </m:rPr>
                      <a:rPr lang="en-US" sz="2000">
                        <a:latin typeface="Cambria Math" panose="02040503050406030204"/>
                      </a:rPr>
                      <m:t>costs</m:t>
                    </m:r>
                    <m:r>
                      <a:rPr lang="en-US" sz="2000">
                        <a:latin typeface="Cambria Math" panose="02040503050406030204"/>
                      </a:rPr>
                      <m:t>)−</m:t>
                    </m:r>
                    <m:r>
                      <a:rPr lang="en-US" sz="2000">
                        <a:latin typeface="Cambria Math" panose="02040503050406030204"/>
                      </a:rPr>
                      <m:t>𝑃𝑉</m:t>
                    </m:r>
                    <m:r>
                      <a:rPr lang="en-US" sz="2000">
                        <a:latin typeface="Cambria Math" panose="02040503050406030204"/>
                      </a:rPr>
                      <m:t>(</m:t>
                    </m:r>
                    <m:r>
                      <m:rPr>
                        <m:nor/>
                      </m:rPr>
                      <a:rPr lang="en-US" sz="2000">
                        <a:latin typeface="Cambria Math" panose="02040503050406030204"/>
                      </a:rPr>
                      <m:t>agency</m:t>
                    </m:r>
                    <m:r>
                      <m:rPr>
                        <m:nor/>
                      </m:rPr>
                      <a:rPr lang="en-US" sz="2000">
                        <a:latin typeface="Cambria Math" panose="02040503050406030204"/>
                      </a:rPr>
                      <m:t> </m:t>
                    </m:r>
                    <m:r>
                      <m:rPr>
                        <m:nor/>
                      </m:rPr>
                      <a:rPr lang="en-US" sz="2000">
                        <a:latin typeface="Cambria Math" panose="02040503050406030204"/>
                      </a:rPr>
                      <m:t>costs</m:t>
                    </m:r>
                    <m:r>
                      <a:rPr lang="en-US" sz="2000">
                        <a:latin typeface="Cambria Math" panose="02040503050406030204"/>
                      </a:rPr>
                      <m:t>)</m:t>
                    </m:r>
                  </m:oMath>
                </a14:m>
                <a:endParaRPr sz="2000" dirty="0"/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2000" dirty="0"/>
                  <a:t>Optimal D/E balances benefits and costs</a:t>
                </a:r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1800" dirty="0"/>
                  <a:t>Tax shields grow with leverage</a:t>
                </a:r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1800" dirty="0"/>
                  <a:t>Bankruptcy and agency costs eventually dominate</a:t>
                </a:r>
              </a:p>
              <a:p>
                <a:pPr lvl="1">
                  <a:spcBef>
                    <a:spcPts val="200"/>
                  </a:spcBef>
                  <a:spcAft>
                    <a:spcPts val="200"/>
                  </a:spcAft>
                </a:pPr>
                <a:r>
                  <a:rPr sz="1800" dirty="0"/>
                  <a:t>The curve is flat near the optimum</a:t>
                </a:r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562" r="-112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ch17_slide21_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193" y="2266728"/>
            <a:ext cx="5422390" cy="3555597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Trade-Off Theory: Predictions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000" dirty="0"/>
              <a:t>Costs and benefits of debt vary by firm → optimal D/E varies by firm:</a:t>
            </a:r>
          </a:p>
          <a:p>
            <a:pPr marL="666900" lvl="1" indent="-342900">
              <a:spcBef>
                <a:spcPts val="200"/>
              </a:spcBef>
              <a:spcAft>
                <a:spcPts val="200"/>
              </a:spcAft>
              <a:buFont typeface="+mj-lt"/>
              <a:buAutoNum type="arabicPeriod"/>
            </a:pPr>
            <a:r>
              <a:rPr sz="1800" dirty="0"/>
              <a:t>Profitable firms should borrow more (more profits to shield)</a:t>
            </a:r>
          </a:p>
          <a:p>
            <a:pPr marL="666900" lvl="1" indent="-342900">
              <a:spcBef>
                <a:spcPts val="200"/>
              </a:spcBef>
              <a:spcAft>
                <a:spcPts val="200"/>
              </a:spcAft>
              <a:buFont typeface="+mj-lt"/>
              <a:buAutoNum type="arabicPeriod"/>
            </a:pPr>
            <a:r>
              <a:rPr sz="1800" dirty="0"/>
              <a:t>Safer firms should borrow more (lower bankruptcy probability)</a:t>
            </a:r>
          </a:p>
          <a:p>
            <a:pPr marL="666900" lvl="1" indent="-342900">
              <a:spcBef>
                <a:spcPts val="200"/>
              </a:spcBef>
              <a:spcAft>
                <a:spcPts val="200"/>
              </a:spcAft>
              <a:buFont typeface="+mj-lt"/>
              <a:buAutoNum type="arabicPeriod"/>
            </a:pPr>
            <a:r>
              <a:rPr sz="1800" dirty="0"/>
              <a:t>Tangible assets → borrow more (lower distress costs; e.g. airlines vs. biotech)</a:t>
            </a:r>
          </a:p>
          <a:p>
            <a:pPr marL="666900" lvl="1" indent="-342900">
              <a:spcBef>
                <a:spcPts val="200"/>
              </a:spcBef>
              <a:spcAft>
                <a:spcPts val="200"/>
              </a:spcAft>
              <a:buFont typeface="+mj-lt"/>
              <a:buAutoNum type="arabicPeriod"/>
            </a:pPr>
            <a:r>
              <a:rPr sz="1800" dirty="0"/>
              <a:t>Fewer growth opportunities → borrow more (lower agency costs of debt; lower costs of financial distress)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sz="2000" b="1" dirty="0"/>
              <a:t>Evidence: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800" dirty="0"/>
              <a:t>Implications 2, 3, 4 are generally supported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800" dirty="0"/>
              <a:t>Implication 1 is contradicted: most profitable firms borrow the LEAST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800" dirty="0"/>
              <a:t>65% of small firms and 91% of large firms report target debt ratios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800" dirty="0"/>
              <a:t>The trade-off curve may be flat near the optimum → little cost to deviating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n-SG">
                <a:solidFill>
                  <a:srgbClr val="FFFFFF"/>
                </a:solidFill>
              </a:rPr>
              <a:t>The Pecking Order Theory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7225075" cy="3678303"/>
          </a:xfrm>
        </p:spPr>
        <p:txBody>
          <a:bodyPr>
            <a:norm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000" dirty="0"/>
              <a:t>Built on asymmetric information: managers know more than outside investors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000" dirty="0"/>
              <a:t>We observe this: stock prices react to financing announcements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800" dirty="0"/>
              <a:t>Dividend increases signal confidence → stock price rises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sz="2000" b="1" dirty="0"/>
              <a:t>The signaling problem with equity issuance: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800" dirty="0"/>
              <a:t>Optimistic manager (stock undervalued): refuses to sell underpriced shares → issues debt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800" dirty="0"/>
              <a:t>Pessimistic manager (stock overvalued): eager to issue equity at the inflated price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800" dirty="0"/>
              <a:t>Investors learn this → equity issuance is interpreted as bad news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800" dirty="0"/>
              <a:t>Result: smart managers of BOTH types end up issuing debt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rcRect l="7174" r="11062" b="3"/>
          <a:stretch>
            <a:fillRect/>
          </a:stretch>
        </p:blipFill>
        <p:spPr>
          <a:xfrm>
            <a:off x="8051799" y="1871133"/>
            <a:ext cx="3683001" cy="4504267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Issuance Decision: Smith &amp; Jones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000" dirty="0"/>
              <a:t>Two identical companies, stock priced at $100. True value could be $80 or $120.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000" dirty="0"/>
              <a:t>Both need $120M to fund investment. Which security do they issue?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sz="2000" b="1" dirty="0"/>
              <a:t>Jones Inc. (optimistic — true value = $120):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800" dirty="0"/>
              <a:t>“Sell shares at $100? They’re worth $120! Issue debt instead.”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sz="2000" b="1" dirty="0"/>
              <a:t>Smith &amp; Co. (pessimistic — true value = $80):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800" dirty="0"/>
              <a:t>“Stock trades above true value. Now’s the time to sell equity.”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sz="2000" b="1" dirty="0"/>
              <a:t>What investors infer from the announcement: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800" dirty="0"/>
              <a:t>Jones issues debt → she’s optimistic → good signal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800" dirty="0"/>
              <a:t>Smith issues equity → he’s pessimistic → bad signal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000" dirty="0"/>
              <a:t>Both end up issuing debt! Equity is a last resort because of the negative signal it sends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Pecking Order of Financing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spcBef>
                <a:spcPts val="200"/>
              </a:spcBef>
              <a:spcAft>
                <a:spcPts val="200"/>
              </a:spcAft>
              <a:buFont typeface="+mj-lt"/>
              <a:buAutoNum type="arabicPeriod"/>
            </a:pPr>
            <a:r>
              <a:rPr sz="2000" b="1" dirty="0"/>
              <a:t>Internal funds (retained earnings)</a:t>
            </a:r>
            <a:r>
              <a:rPr sz="2000" dirty="0"/>
              <a:t> — no information costs, no signal, no underpricing</a:t>
            </a:r>
          </a:p>
          <a:p>
            <a:pPr marL="457200" indent="-457200">
              <a:spcBef>
                <a:spcPts val="200"/>
              </a:spcBef>
              <a:spcAft>
                <a:spcPts val="200"/>
              </a:spcAft>
              <a:buFont typeface="+mj-lt"/>
              <a:buAutoNum type="arabicPeriod"/>
            </a:pPr>
            <a:r>
              <a:rPr sz="2000" b="1" dirty="0"/>
              <a:t>Debt</a:t>
            </a:r>
            <a:r>
              <a:rPr sz="2000" dirty="0"/>
              <a:t> — minimal information asymmetry (debt is a relatively safe claim)</a:t>
            </a:r>
          </a:p>
          <a:p>
            <a:pPr marL="457200" indent="-457200">
              <a:spcBef>
                <a:spcPts val="200"/>
              </a:spcBef>
              <a:spcAft>
                <a:spcPts val="200"/>
              </a:spcAft>
              <a:buFont typeface="+mj-lt"/>
              <a:buAutoNum type="arabicPeriod"/>
            </a:pPr>
            <a:r>
              <a:rPr sz="2000" b="1" dirty="0"/>
              <a:t>Equity</a:t>
            </a:r>
            <a:r>
              <a:rPr sz="2000" dirty="0"/>
              <a:t> — last resort only (sends a negative signal to the market)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000" dirty="0"/>
              <a:t>There is no well-defined target debt ratio — observed leverage reflects cumulative financing needs: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800" dirty="0"/>
              <a:t>High-profitability firms: generate cash internally → low leverage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800" dirty="0"/>
              <a:t>Medium-profitability: need external funds → issue debt → high leverage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800" dirty="0"/>
              <a:t>Low-profitability: exhaust debt capacity → forced to issue equity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000" dirty="0"/>
              <a:t>Explains why the most profitable firms borrow the least (trade-off theory cannot)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Slack: Bright Side and Dark Side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000" b="1" dirty="0"/>
              <a:t>Financial slack:</a:t>
            </a:r>
            <a:r>
              <a:rPr sz="2000" dirty="0"/>
              <a:t> cash in the bank or ready access to debt markets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000" b="1" dirty="0"/>
              <a:t>Bright side:</a:t>
            </a:r>
            <a:r>
              <a:rPr sz="2000" dirty="0"/>
              <a:t> firms can seize positive-NPV opportunities quickly without information costs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800" dirty="0"/>
              <a:t>Growth companies aspire to conservative capital structures to maintain slack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800" dirty="0"/>
              <a:t>“Raise capital when you can, not when you need it”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800" dirty="0"/>
              <a:t>Companies typically issue equity before major multi-year capex programs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000" b="1" dirty="0"/>
              <a:t>Dark side:</a:t>
            </a:r>
            <a:r>
              <a:rPr sz="2000" dirty="0"/>
              <a:t> too much slack → agency costs of equity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800" dirty="0"/>
              <a:t>Surplus cash tempts managers to overinvest (empire-building)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800" dirty="0"/>
              <a:t>Debt can discipline managers by forcing cash outflows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000" dirty="0"/>
              <a:t>Ideal: enough cash to finance all positive-NPV projects, with not a penny left over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Capital Structure Decision: What the Evidence Says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000" b="1" dirty="0"/>
              <a:t>Four key determinants</a:t>
            </a:r>
            <a:r>
              <a:rPr sz="2000" dirty="0"/>
              <a:t> of debt ratios across seven economies (Rajan &amp; Zingales, 1995):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800" dirty="0"/>
              <a:t>1. Size (+): large firms borrow more — lower distress costs, more diversified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800" dirty="0"/>
              <a:t>2. Tangible assets (+): better collateral, lower distress costs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800" dirty="0"/>
              <a:t>3. Market-to-book (–): growth firms borrow less — higher distress costs, more agency problems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800" dirty="0"/>
              <a:t>4. Profitability (–): more profitable firms borrow less — the key puzzle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000" b="1" dirty="0"/>
              <a:t>Trade-off theory</a:t>
            </a:r>
            <a:r>
              <a:rPr sz="2000" dirty="0"/>
              <a:t> explains #1, #2, #3 but FAILS on #4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800" dirty="0"/>
              <a:t>Predicts profitable firms should borrow MORE to use tax shields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000" b="1" dirty="0"/>
              <a:t>Pecking order</a:t>
            </a:r>
            <a:r>
              <a:rPr sz="2000" dirty="0"/>
              <a:t> explains #4 (profitable firms have internal funds) but lacks a target ratio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800" dirty="0"/>
              <a:t>Fits best for large, mature firms with bond market access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000" dirty="0"/>
              <a:t>There is no single, unified theory of optimal capital structure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ppt/theme/theme2.xml><?xml version="1.0" encoding="utf-8"?>
<a:theme xmlns:a="http://schemas.openxmlformats.org/drawingml/2006/main" name="3_MainContentSlideMaster">
  <a:themeElements>
    <a:clrScheme name="Custom 13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E21A23"/>
      </a:accent1>
      <a:accent2>
        <a:srgbClr val="FFB600"/>
      </a:accent2>
      <a:accent3>
        <a:srgbClr val="625D9C"/>
      </a:accent3>
      <a:accent4>
        <a:srgbClr val="AF1858"/>
      </a:accent4>
      <a:accent5>
        <a:srgbClr val="692146"/>
      </a:accent5>
      <a:accent6>
        <a:srgbClr val="EC7700"/>
      </a:accent6>
      <a:hlink>
        <a:srgbClr val="000000"/>
      </a:hlink>
      <a:folHlink>
        <a:srgbClr val="0000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Presentation1" id="{21D45154-5908-4760-96C7-F0E2BCA85E9B}" vid="{B9FDA032-B3B1-4FDF-8A44-9303BC60C76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7718</TotalTime>
  <Words>4619</Words>
  <Application>Microsoft Office PowerPoint</Application>
  <PresentationFormat>Widescreen</PresentationFormat>
  <Paragraphs>436</Paragraphs>
  <Slides>46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46</vt:i4>
      </vt:variant>
    </vt:vector>
  </HeadingPairs>
  <TitlesOfParts>
    <vt:vector size="53" baseType="lpstr">
      <vt:lpstr>Arial</vt:lpstr>
      <vt:lpstr>Calibri</vt:lpstr>
      <vt:lpstr>Cambria Math</vt:lpstr>
      <vt:lpstr>Gill Sans MT</vt:lpstr>
      <vt:lpstr>Wingdings 2</vt:lpstr>
      <vt:lpstr>Dividend</vt:lpstr>
      <vt:lpstr>3_MainContentSlideMaster</vt:lpstr>
      <vt:lpstr>Advanced Corporate Finance (LL4554V/LL5554V/LLJ5554V/LL6554V) 9. capital structures and MM</vt:lpstr>
      <vt:lpstr>Today’s Roadmap</vt:lpstr>
      <vt:lpstr>What Is Capital Structure?</vt:lpstr>
      <vt:lpstr>Capital Structure and Firm Value</vt:lpstr>
      <vt:lpstr>Why Maximizing V Maximizes Shareholder Wealth</vt:lpstr>
      <vt:lpstr>Modigliani and Miller’s Proposition 1</vt:lpstr>
      <vt:lpstr>The DIY Principle: Low-Risk Strategy</vt:lpstr>
      <vt:lpstr>The DIY Principle: High-Risk Strategy</vt:lpstr>
      <vt:lpstr>The Law of Conservation of Value</vt:lpstr>
      <vt:lpstr>Implications of MM Proposition 1</vt:lpstr>
      <vt:lpstr>The “Cheap Debt” Fallacy</vt:lpstr>
      <vt:lpstr>Macbeth Spot Removers: Setup</vt:lpstr>
      <vt:lpstr>Macbeth: EPS After Levering Up</vt:lpstr>
      <vt:lpstr>How Leverage Affects Operating Income and EPS</vt:lpstr>
      <vt:lpstr>Why the Stock Price Is Unchanged</vt:lpstr>
      <vt:lpstr>Home-Made Leverage</vt:lpstr>
      <vt:lpstr>Deriving MM Proposition 2</vt:lpstr>
      <vt:lpstr>MM Proposition 2: Numerical Example</vt:lpstr>
      <vt:lpstr>Leverage and the Cost of Capital</vt:lpstr>
      <vt:lpstr>When Leverage Increases the Cost of Debt</vt:lpstr>
      <vt:lpstr>Levering and Unlevering Betas</vt:lpstr>
      <vt:lpstr>Watch Out for Hidden Leverage</vt:lpstr>
      <vt:lpstr>Why Capital Structure Matters in Practice</vt:lpstr>
      <vt:lpstr>Debt and Taxes: The Interest Tax Shield</vt:lpstr>
      <vt:lpstr>PV of Tax Shields: Two Benchmark Policies</vt:lpstr>
      <vt:lpstr>How Tax Shields Increase Shareholder Wealth</vt:lpstr>
      <vt:lpstr>Changing Alphabet’s Capital Structure</vt:lpstr>
      <vt:lpstr>Limits to the Tax Advantages of Debt</vt:lpstr>
      <vt:lpstr>Personal Taxes and the Relative Tax Advantage</vt:lpstr>
      <vt:lpstr>Is There a Net Tax Advantage to Debt?</vt:lpstr>
      <vt:lpstr>Clientele Effects</vt:lpstr>
      <vt:lpstr>What Are Bankruptcy Costs?</vt:lpstr>
      <vt:lpstr>Costs of Financial Distress (Pre-Bankruptcy)</vt:lpstr>
      <vt:lpstr>Bankruptcy Costs Vary with Asset Type</vt:lpstr>
      <vt:lpstr>Agency Costs of Equity</vt:lpstr>
      <vt:lpstr>Agency Costs of Debt: Risk Shifting</vt:lpstr>
      <vt:lpstr>Risk Shifting: The Decision Tree</vt:lpstr>
      <vt:lpstr>Agency Costs of Debt: Debt Overhang</vt:lpstr>
      <vt:lpstr>What the Games Cost</vt:lpstr>
      <vt:lpstr>The Trade-Off Theory of Capital Structure</vt:lpstr>
      <vt:lpstr>Trade-Off Theory: Predictions</vt:lpstr>
      <vt:lpstr>The Pecking Order Theory</vt:lpstr>
      <vt:lpstr>The Issuance Decision: Smith &amp; Jones</vt:lpstr>
      <vt:lpstr>The Pecking Order of Financing</vt:lpstr>
      <vt:lpstr>Financial Slack: Bright Side and Dark Side</vt:lpstr>
      <vt:lpstr>The Capital Structure Decision: What the Evidence Says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Company Law (LC2008A) seminar 2: FOUNDATIONS OF COMPANY LAW (PART I)</dc:title>
  <dc:creator>Khoo Chian Yian Kenneth</dc:creator>
  <cp:lastModifiedBy>Kenneth Khoo</cp:lastModifiedBy>
  <cp:revision>564</cp:revision>
  <dcterms:created xsi:type="dcterms:W3CDTF">2020-08-16T02:59:54Z</dcterms:created>
  <dcterms:modified xsi:type="dcterms:W3CDTF">2026-03-20T04:07:00Z</dcterms:modified>
</cp:coreProperties>
</file>