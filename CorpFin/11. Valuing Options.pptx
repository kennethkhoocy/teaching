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  <p:sldMasterId id="2147483842" r:id="rId2"/>
  </p:sldMasterIdLst>
  <p:notesMasterIdLst>
    <p:notesMasterId r:id="rId5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86093" autoAdjust="0"/>
  </p:normalViewPr>
  <p:slideViewPr>
    <p:cSldViewPr snapToGrid="0">
      <p:cViewPr varScale="1">
        <p:scale>
          <a:sx n="93" d="100"/>
          <a:sy n="93" d="100"/>
        </p:scale>
        <p:origin x="11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2B2E0-41D4-4BD0-8F27-233CF851A42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B39C3-7704-43B7-896D-E2F268455E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1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B39C3-7704-43B7-896D-E2F268455EE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237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B39C3-7704-43B7-896D-E2F268455EE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42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9AB8A9-18BE-4EDF-90DD-E48A588FE9E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79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6308-2A9A-43A3-8189-DAED754C869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93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C51178D-1D9D-49FF-BA4D-77D5F3F2ABE7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6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3D5F-7352-4D75-84BB-BEEE9669436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541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C2FA-EF00-4A47-8C60-11D9B66273AB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62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3762-E4E4-41FB-87AC-4875A8A2537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06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3EE-997E-48D6-BC05-B28D307B015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67CB83A-8CDA-4EB5-9F88-80628B7C644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11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EB533-51F5-4A09-A69B-BDA5FA92A366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7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1933-86B0-441A-B639-BD29FDFEFE7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1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662F02-AFBF-41E7-AC4B-D00C212D7A7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331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Appendix Link">
            <a:extLst>
              <a:ext uri="{FF2B5EF4-FFF2-40B4-BE49-F238E27FC236}">
                <a16:creationId xmlns:a16="http://schemas.microsoft.com/office/drawing/2014/main" id="{B99614B3-68E1-0DE1-8128-450F1A4F37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01A60C2A-770F-089E-ED18-3A2EE77616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42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Appendix Link">
            <a:extLst>
              <a:ext uri="{FF2B5EF4-FFF2-40B4-BE49-F238E27FC236}">
                <a16:creationId xmlns:a16="http://schemas.microsoft.com/office/drawing/2014/main" id="{B99614B3-68E1-0DE1-8128-450F1A4F37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01A60C2A-770F-089E-ED18-3A2EE77616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2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4343400"/>
            <a:ext cx="11277600" cy="1905000"/>
          </a:xfrm>
        </p:spPr>
        <p:txBody>
          <a:bodyPr/>
          <a:lstStyle>
            <a:lvl1pPr>
              <a:defRPr/>
            </a:lvl1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2D4455DD-B128-CECB-404F-2A75BE70BF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8" name="Image Credit">
            <a:extLst>
              <a:ext uri="{FF2B5EF4-FFF2-40B4-BE49-F238E27FC236}">
                <a16:creationId xmlns:a16="http://schemas.microsoft.com/office/drawing/2014/main" id="{79309574-D610-BFFB-5373-969996406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22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5435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99200" y="1280160"/>
            <a:ext cx="54356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68583DF4-3680-1BFA-EEF3-AB9E3536D2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8" name="Image Credit">
            <a:extLst>
              <a:ext uri="{FF2B5EF4-FFF2-40B4-BE49-F238E27FC236}">
                <a16:creationId xmlns:a16="http://schemas.microsoft.com/office/drawing/2014/main" id="{D1776C0A-7638-5444-47F7-AC1D483DCB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969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80161"/>
            <a:ext cx="7721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57403" y="1280160"/>
            <a:ext cx="3177396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C7C4A88E-C6C1-9C26-54D3-56A7322E0B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8" name="Image Credit">
            <a:extLst>
              <a:ext uri="{FF2B5EF4-FFF2-40B4-BE49-F238E27FC236}">
                <a16:creationId xmlns:a16="http://schemas.microsoft.com/office/drawing/2014/main" id="{4774A48E-4907-6467-DBA3-7082350CDF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9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1" y="4343400"/>
            <a:ext cx="77216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4343400"/>
            <a:ext cx="32004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440D52BF-78D2-BC33-D8BC-6EC31F5A60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AE400176-E509-870D-D3BF-2E071B2553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88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070496"/>
            <a:ext cx="112776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2900944"/>
            <a:ext cx="112776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3755354"/>
            <a:ext cx="112776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635164"/>
            <a:ext cx="112776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5514976"/>
            <a:ext cx="112776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9EC53C63-EC17-7106-362C-B3EB75D4B5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62AAB954-99EB-E7CF-6444-CABDCDE5B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182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GH Shape">
            <a:extLst>
              <a:ext uri="{FF2B5EF4-FFF2-40B4-BE49-F238E27FC236}">
                <a16:creationId xmlns:a16="http://schemas.microsoft.com/office/drawing/2014/main" id="{7270E885-EF49-1A67-8A6F-D8E31640E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830323" y="1"/>
            <a:ext cx="3361677" cy="6623843"/>
            <a:chOff x="3491346" y="0"/>
            <a:chExt cx="2508933" cy="6367263"/>
          </a:xfrm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1527B357-5D9A-BEAB-AA19-315A33642D17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2"/>
                </a:solidFill>
              </a:endParaRPr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13789522-1B9E-0A06-3374-29C8718672C2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2F359338-0AA2-A49E-B0A1-A042CE3D667B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2"/>
                </a:solidFill>
              </a:endParaRPr>
            </a:p>
          </p:txBody>
        </p:sp>
      </p:grpSp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Appendix Link">
            <a:extLst>
              <a:ext uri="{FF2B5EF4-FFF2-40B4-BE49-F238E27FC236}">
                <a16:creationId xmlns:a16="http://schemas.microsoft.com/office/drawing/2014/main" id="{B99614B3-68E1-0DE1-8128-450F1A4F37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01A60C2A-770F-089E-ED18-3A2EE77616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08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7933" y="418392"/>
            <a:ext cx="3056137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949" y="1005698"/>
            <a:ext cx="3258105" cy="2443579"/>
          </a:xfrm>
          <a:prstGeom prst="rect">
            <a:avLst/>
          </a:prstGeom>
        </p:spPr>
      </p:pic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2307662" y="3796683"/>
            <a:ext cx="7576677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4358781" y="5329121"/>
            <a:ext cx="3474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1892E2-935E-4CF8-A8C9-889BC59AE0F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5533" y="6551614"/>
            <a:ext cx="11745384" cy="17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766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4819377-49A4-4FAF-9376-1B9935A9676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22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257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73877"/>
            <a:ext cx="112776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C2E4AF62-4201-4F5D-966F-4A59CD13C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286672F0-EFBD-F477-833D-074BA85D520A}"/>
              </a:ext>
            </a:extLst>
          </p:cNvPr>
          <p:cNvSpPr txBox="1"/>
          <p:nvPr userDrawn="1"/>
        </p:nvSpPr>
        <p:spPr>
          <a:xfrm>
            <a:off x="287544" y="6619890"/>
            <a:ext cx="1644771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 LLC</a:t>
            </a:r>
          </a:p>
        </p:txBody>
      </p:sp>
    </p:spTree>
    <p:extLst>
      <p:ext uri="{BB962C8B-B14F-4D97-AF65-F5344CB8AC3E}">
        <p14:creationId xmlns:p14="http://schemas.microsoft.com/office/powerpoint/2010/main" val="3683504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46">
            <a:extLst>
              <a:ext uri="{FF2B5EF4-FFF2-40B4-BE49-F238E27FC236}">
                <a16:creationId xmlns:a16="http://schemas.microsoft.com/office/drawing/2014/main" id="{4B526CBF-0AA4-49A9-B305-EE0AF3AF6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6">
            <a:extLst>
              <a:ext uri="{FF2B5EF4-FFF2-40B4-BE49-F238E27FC236}">
                <a16:creationId xmlns:a16="http://schemas.microsoft.com/office/drawing/2014/main" id="{D0C97962-9B04-4057-B188-11149357C5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0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54" name="Group 48">
            <a:extLst>
              <a:ext uri="{FF2B5EF4-FFF2-40B4-BE49-F238E27FC236}">
                <a16:creationId xmlns:a16="http://schemas.microsoft.com/office/drawing/2014/main" id="{CC8B5139-02E6-4DEA-9CCE-962CAF0AF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0470BC0-AB0D-4A03-B4F1-5DDA9A31C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55" name="Rectangle 50">
              <a:extLst>
                <a:ext uri="{FF2B5EF4-FFF2-40B4-BE49-F238E27FC236}">
                  <a16:creationId xmlns:a16="http://schemas.microsoft.com/office/drawing/2014/main" id="{724A08B2-EC2C-4641-81BE-FE8B068BE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45297A-70E3-4F5C-AA43-1D8C6B3C1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2142067"/>
            <a:ext cx="3412067" cy="29718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FFFF"/>
                </a:solidFill>
              </a:rPr>
              <a:t>Advanced Corporate Finance (LL4554V/LL5554V/LLJ5554V/LL6554V)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11. valuing options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399D7-8786-400E-A7D4-C11F30DD6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5145513"/>
            <a:ext cx="3412067" cy="7388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cap="none" dirty="0">
                <a:solidFill>
                  <a:srgbClr val="EBEBEB"/>
                </a:solidFill>
              </a:rPr>
              <a:t>Kenneth Khoo</a:t>
            </a:r>
          </a:p>
          <a:p>
            <a:pPr>
              <a:lnSpc>
                <a:spcPct val="90000"/>
              </a:lnSpc>
            </a:pPr>
            <a:r>
              <a:rPr lang="en-US" sz="1000" cap="none" dirty="0">
                <a:solidFill>
                  <a:srgbClr val="EBEBEB"/>
                </a:solidFill>
              </a:rPr>
              <a:t>kenneth.khoo@nus.edu.sg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180A0-7C01-47B5-8308-3D0F8B7C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14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Today’s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410" y="2477541"/>
            <a:ext cx="11029615" cy="3678303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A Simple Option-Valuation Model (Ch. 22-1)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Why DCF doesn’t work for options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Replicating portfolio approach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Risk-neutral valuation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The Binomial Method (Ch. 22-2)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Multi-period binomial trees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Working backward through the tree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The Black-Scholes Formula (Ch. 22-3)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The formula and its inputs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Using Black-Scholes in practice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Black-Scholes in Action (Ch. 22-4)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Implied volatility and the VIX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Dividends and early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Recap: Five Factors Driving Option 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7225075" cy="3678303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2000" dirty="0"/>
                  <a:t>From Chapter 21, the value of a call option depends on five variables:</a:t>
                </a:r>
              </a:p>
              <a:p>
                <a:pPr marL="666900" lvl="1" indent="-3429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sz="1800" dirty="0"/>
                  <a:t>Stock price (S) – higher S means more valuable call</a:t>
                </a:r>
              </a:p>
              <a:p>
                <a:pPr marL="666900" lvl="1" indent="-3429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sz="1800" dirty="0"/>
                  <a:t>Exercise price (X) – lower X means more valuable call</a:t>
                </a:r>
              </a:p>
              <a:p>
                <a:pPr marL="666900" lvl="1" indent="-3429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sz="1800" dirty="0"/>
                  <a:t>Interest rate (r) – higher r delays PV of exercise price, increases call value</a:t>
                </a:r>
              </a:p>
              <a:p>
                <a:pPr marL="666900" lvl="1" indent="-3429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sz="1800" dirty="0"/>
                  <a:t>Volatility (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lang="en-US" sz="1800" dirty="0"/>
                  <a:t>) – more volatility increases upside without symmetric downside (limited liability)</a:t>
                </a:r>
              </a:p>
              <a:p>
                <a:pPr marL="666900" lvl="1" indent="-3429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lang="en-US" sz="1800" dirty="0"/>
                  <a:t>Time to maturity (t) – longer maturity delays exercise cost and allows larger price jumps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2000" dirty="0"/>
                  <a:t>Our task: combine these into </a:t>
                </a:r>
                <a:r>
                  <a:rPr lang="en-US" sz="2000" b="1" dirty="0"/>
                  <a:t>an exact valuation model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7225075" cy="3678303"/>
              </a:xfrm>
              <a:blipFill>
                <a:blip r:embed="rId2"/>
                <a:stretch>
                  <a:fillRect l="-422" b="-6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l="15435" r="2801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Why Discounted Cash Flow Fails for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Standard DCF: estimate expected cash flows, discount at opportunity cost of capital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/>
              <a:t>Problem:</a:t>
            </a:r>
            <a:r>
              <a:rPr sz="2000"/>
              <a:t> an option’s risk changes every time the stock price moves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Deep in-the-money call is almost certain to be exercised → relatively safe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Out-of-the-money call may expire worthless → very risky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The option’s discount rate changes day by day, even hour by hour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/>
              <a:t>Key rule:</a:t>
            </a:r>
            <a:r>
              <a:rPr sz="2000"/>
              <a:t> the higher the stock price relative to the exercise price, the safer the call option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Because there is no single constant discount rate, we need a different approach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Solution: the replicating portfolio and risk-neutral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 Simple One-Step Binomial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Setup:</a:t>
                </a:r>
                <a:r>
                  <a:rPr sz="2000"/>
                  <a:t> Amazon stock at $140, six-month call with X = $140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Risk-free rate: 2.0% for six months (~4% per year)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Assume the stock can do only two things over six months: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1. Rise by 20% to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140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20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168</m:t>
                    </m:r>
                  </m:oMath>
                </a14:m>
                <a:r>
                  <a:rPr sz="2000"/>
                  <a:t> (up move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𝑢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20</m:t>
                    </m:r>
                  </m:oMath>
                </a14:m>
                <a:r>
                  <a:rPr sz="2000"/>
                  <a:t>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2. Fall to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140</m:t>
                    </m:r>
                    <m:r>
                      <a:rPr lang="en-US">
                        <a:latin typeface="Cambria Math" panose="02040503050406030204"/>
                      </a:rPr>
                      <m:t>÷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20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116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67</m:t>
                    </m:r>
                  </m:oMath>
                </a14:m>
                <a:r>
                  <a:rPr sz="2000"/>
                  <a:t> (down move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/</m:t>
                    </m:r>
                    <m:r>
                      <a:rPr lang="en-US">
                        <a:latin typeface="Cambria Math" panose="02040503050406030204"/>
                      </a:rPr>
                      <m:t>𝑢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833</m:t>
                    </m:r>
                  </m:oMath>
                </a14:m>
                <a:r>
                  <a:rPr sz="2000"/>
                  <a:t>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If stock rises to $168: call pays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$</m:t>
                    </m:r>
                    <m:r>
                      <a:rPr lang="en-US">
                        <a:latin typeface="Cambria Math" panose="02040503050406030204"/>
                      </a:rPr>
                      <m:t>168</m:t>
                    </m:r>
                    <m:r>
                      <a:rPr lang="en-US">
                        <a:latin typeface="Cambria Math" panose="02040503050406030204"/>
                      </a:rPr>
                      <m:t>−$</m:t>
                    </m:r>
                    <m:r>
                      <a:rPr lang="en-US">
                        <a:latin typeface="Cambria Math" panose="02040503050406030204"/>
                      </a:rPr>
                      <m:t>140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28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If stock falls to $116.67: call pays $0 (expires worthless)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We are NOT assuming up and down are equally likely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63" y="2392594"/>
            <a:ext cx="42672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The Replicating Portfolio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Core idea:</a:t>
                </a:r>
                <a:r>
                  <a:rPr sz="2000"/>
                  <a:t> construct a portfolio of stock + borrowing that exactly replicates the option’s payoff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If two portfolios have identical future payoffs, they must have the same price today (no arbitrage)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Recipe:</a:t>
                </a:r>
                <a:r>
                  <a:rPr sz="2000"/>
                  <a:t> buy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sz="2000"/>
                  <a:t> shares of Amazon and borrow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𝐵</m:t>
                    </m:r>
                  </m:oMath>
                </a14:m>
                <a:r>
                  <a:rPr sz="2000"/>
                  <a:t> dollars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Choose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sz="200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𝐵</m:t>
                    </m:r>
                  </m:oMath>
                </a14:m>
                <a:r>
                  <a:rPr sz="2000"/>
                  <a:t> so the portfolio payoffs match the option in BOTH states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Up state:</a:t>
                </a:r>
                <a:r>
                  <a:rPr sz="200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168</m:t>
                    </m:r>
                    <m:r>
                      <a:rPr lang="en-US">
                        <a:latin typeface="Cambria Math" panose="02040503050406030204"/>
                      </a:rPr>
                      <m:t>+(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𝑟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𝐵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28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Down state:</a:t>
                </a:r>
                <a:r>
                  <a:rPr sz="200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116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67</m:t>
                    </m:r>
                    <m:r>
                      <a:rPr lang="en-US">
                        <a:latin typeface="Cambria Math" panose="02040503050406030204"/>
                      </a:rPr>
                      <m:t>+(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𝑟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𝐵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Two equations, two unknowns → we can solve 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sz="200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𝐵</m:t>
                    </m:r>
                  </m:oMath>
                </a14:m>
                <a:endParaRPr sz="200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Option Delta (Hedge Ratio)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137588-E70B-486E-AFA8-21B0111C4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533078"/>
            <a:ext cx="3305175" cy="3305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05325" y="2180496"/>
                <a:ext cx="7105481" cy="4045683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lang="en-SG" dirty="0"/>
                  <a:t>The </a:t>
                </a:r>
                <a:r>
                  <a:rPr lang="en-SG" b="1" dirty="0"/>
                  <a:t>Option delta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lang="en-US" dirty="0"/>
                  <a:t> is the number of shares needed to replicate one call option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lang="en-US" b="1" dirty="0"/>
                  <a:t>Formula: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𝑢</m:t>
                            </m:r>
                          </m:sub>
                        </m:sSub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𝑢</m:t>
                            </m:r>
                          </m:sub>
                        </m:sSub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𝑑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spread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option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prices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spread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stock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/>
                          </a:rPr>
                          <m:t>prices</m:t>
                        </m:r>
                      </m:den>
                    </m:f>
                  </m:oMath>
                </a14:m>
                <a:endParaRPr lang="en-SG" b="1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lang="en-SG" b="1" dirty="0"/>
                  <a:t>Amazon example: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28</m:t>
                        </m:r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168</m:t>
                        </m:r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r>
                          <a:rPr lang="en-US">
                            <a:latin typeface="Cambria Math" panose="02040503050406030204"/>
                          </a:rPr>
                          <m:t>116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67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5455</m:t>
                    </m:r>
                  </m:oMath>
                </a14:m>
                <a:endParaRPr lang="en-SG" b="1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lang="en-US" dirty="0"/>
                  <a:t> is always between 0 and 1 for a call option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dirty="0"/>
                  <a:t>Owning one call gives the same exposure as owning 0.5455 shares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lang="en-US" dirty="0"/>
                  <a:t> measures the slope of the option value curve: how much the option price changes per $1 change in stock price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05325" y="2180496"/>
                <a:ext cx="7105481" cy="4045683"/>
              </a:xfrm>
              <a:blipFill>
                <a:blip r:embed="rId3"/>
                <a:stretch>
                  <a:fillRect l="-686" r="-6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Valuing the Amazon Call: Replicating Portfolio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Buy 0.5455 shares and borrow PV of $63.64: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Check payoffs: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Up state: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5455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168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63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64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28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00</m:t>
                    </m:r>
                  </m:oMath>
                </a14:m>
                <a:r>
                  <a:rPr sz="2000"/>
                  <a:t> (matches call)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Down state: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5455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116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67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63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64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</m:oMath>
                </a14:m>
                <a:r>
                  <a:rPr sz="2000"/>
                  <a:t> (matches call)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Value of call = value of replicating portfolio: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𝐵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5455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140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63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64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02</m:t>
                        </m:r>
                      </m:den>
                    </m:f>
                  </m:oMath>
                </a14:m>
                <a:endParaRPr sz="2000" b="1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76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37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62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39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13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98</m:t>
                    </m:r>
                  </m:oMath>
                </a14:m>
                <a:endParaRPr sz="2000" b="1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A call option is equivalent to a leveraged investment in the stock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Invest $76.37 in shares, borrow $62.39 → that is why calls create leverage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General Formulas for the Replicating Portfolio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Option delta: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𝑢</m:t>
                            </m:r>
                          </m:sub>
                        </m:sSub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𝑢</m:t>
                            </m:r>
                          </m:sub>
                        </m:sSub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endParaRPr sz="2000" b="1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Borrowing amount: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𝐵</m:t>
                    </m:r>
                    <m:r>
                      <a:rPr lang="en-US">
                        <a:latin typeface="Cambria Math" panose="02040503050406030204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  <m:r>
                          <a:rPr lang="en-US">
                            <a:latin typeface="Cambria Math" panose="02040503050406030204"/>
                          </a:rPr>
                          <m:t>+</m:t>
                        </m:r>
                        <m:r>
                          <a:rPr lang="en-US">
                            <a:latin typeface="Cambria Math" panose="02040503050406030204"/>
                          </a:rPr>
                          <m:t>𝑟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𝑢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𝑑</m:t>
                            </m:r>
                          </m:sub>
                        </m:sSub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𝑢</m:t>
                            </m:r>
                          </m:sub>
                        </m:sSub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𝑢</m:t>
                        </m:r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den>
                    </m:f>
                  </m:oMath>
                </a14:m>
                <a:endParaRPr sz="2000" b="1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Call value: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𝐵</m:t>
                    </m:r>
                  </m:oMath>
                </a14:m>
                <a:endParaRPr sz="2000" b="1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Sense checks: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For a call: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≤</m:t>
                    </m:r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≤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</m:oMath>
                </a14:m>
                <a:r>
                  <a:rPr sz="200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𝐵</m:t>
                    </m:r>
                  </m:oMath>
                </a14:m>
                <a:r>
                  <a:rPr sz="2000"/>
                  <a:t> is always negative (borrowing)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For a put: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≤</m:t>
                    </m:r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≤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</m:oMath>
                </a14:m>
                <a:r>
                  <a:rPr sz="200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𝐵</m:t>
                    </m:r>
                  </m:oMath>
                </a14:m>
                <a:r>
                  <a:rPr sz="2000"/>
                  <a:t> is always positive (lending)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The Risk-Neutral Approach: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256" y="1993187"/>
            <a:ext cx="7272012" cy="4340831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If the option price deviates from $13.98, arbitrage is possible: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1800" dirty="0"/>
              <a:t>If price &gt; $13.98: buy 0.5455 shares, sell the call, borrow → risk-free profit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1800" dirty="0"/>
              <a:t>If price &lt; $13.98: sell 0.5455 shares, buy the call, lend → risk-free profit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Because the arbitrage is risk-free, we never needed to know investors’ risk preferences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000" b="1" dirty="0"/>
              <a:t>Key insight:</a:t>
            </a:r>
            <a:r>
              <a:rPr lang="en-US" sz="2000" dirty="0"/>
              <a:t> the option price cannot depend on investors’ attitude to risk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So we may assume any risk preference that is convenient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1800" dirty="0"/>
              <a:t>The most convenient: assume investors are risk-neutral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1800" dirty="0"/>
              <a:t>Then the expected return on every asset equals the risk-free rate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l="10575" r="7660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Risk-Neutral Valuation: Three Steps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Step 1: Find risk-neutral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𝑝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𝑝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×20%+(1−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𝑝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)×(−16.67%)=2.0%</m:t>
                    </m:r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𝑝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=0.5091</m:t>
                    </m:r>
                  </m:oMath>
                </a14:m>
                <a:r>
                  <a:rPr sz="2000"/>
                  <a:t> (50.91%)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Step 2: Expected future value of call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0.5091×$28+0.4909×$0=$14.25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Step 3: Discount at risk-free rate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=$14.25/1.02=$13.98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Same answer as replicating portfolio!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lide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225" y="2228003"/>
            <a:ext cx="4053272" cy="42330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The Risk-Neutral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General formula for the risk-neutral probability of a price rise: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𝑝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(1+</m:t>
                        </m:r>
                        <m:r>
                          <a:rPr lang="en-US">
                            <a:latin typeface="Cambria Math" panose="02040503050406030204"/>
                          </a:rPr>
                          <m:t>𝑟</m:t>
                        </m:r>
                        <m:r>
                          <a:rPr lang="en-US">
                            <a:latin typeface="Cambria Math" panose="02040503050406030204"/>
                          </a:rPr>
                          <m:t>)−</m:t>
                        </m:r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𝑢</m:t>
                        </m:r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den>
                    </m:f>
                  </m:oMath>
                </a14:m>
                <a:endParaRPr sz="2000" b="1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Amazon example: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𝑝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1.02−0.833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1.20−0.833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=0.5091</m:t>
                    </m:r>
                  </m:oMath>
                </a14:m>
                <a:endParaRPr sz="2000" b="1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This is NOT the true probability that Amazon stock will rise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Risk-averse investors require more than the risk-free rate → the true probability is higher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𝑝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</m:oMath>
                </a14:m>
                <a:r>
                  <a:rPr sz="2000"/>
                  <a:t> is the probability a risk-neutral investor would assign to make the expected return equal the risk-free rate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Certainty equivalent:</a:t>
                </a:r>
                <a:r>
                  <a:rPr sz="2000"/>
                  <a:t> the risk-neutral expected value is the certain amount worth the same as the risky payoff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 r="-55" b="-18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Valuing the Amazon Put Option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Six-month put, X = $140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Up: put pays $0 (stock at $168)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Down: put pays $140 - $116.67 = $23.33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Replicating portfolio: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  <m:r>
                      <a:rPr lang="en-US">
                        <a:latin typeface="Cambria Math" panose="02040503050406030204"/>
                      </a:rPr>
                      <m:t>=(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23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33</m:t>
                    </m:r>
                    <m:r>
                      <a:rPr lang="en-US">
                        <a:latin typeface="Cambria Math" panose="02040503050406030204"/>
                      </a:rPr>
                      <m:t>)/(</m:t>
                    </m:r>
                    <m:r>
                      <a:rPr lang="en-US">
                        <a:latin typeface="Cambria Math" panose="02040503050406030204"/>
                      </a:rPr>
                      <m:t>168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116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67</m:t>
                    </m:r>
                    <m:r>
                      <a:rPr lang="en-US">
                        <a:latin typeface="Cambria Math" panose="02040503050406030204"/>
                      </a:rPr>
                      <m:t>)=−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4545</m:t>
                    </m:r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Sell 0.4545 shares, lend PV of $76.36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Put value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=−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4545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140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76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36</m:t>
                    </m:r>
                    <m:r>
                      <a:rPr lang="en-US">
                        <a:latin typeface="Cambria Math" panose="02040503050406030204"/>
                      </a:rPr>
                      <m:t>/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02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11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23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Risk-neutral: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5091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4909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23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33</m:t>
                    </m:r>
                    <m:r>
                      <a:rPr lang="en-US">
                        <a:latin typeface="Cambria Math" panose="02040503050406030204"/>
                      </a:rPr>
                      <m:t>)/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02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11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23</m:t>
                    </m:r>
                  </m:oMath>
                </a14:m>
                <a:endParaRPr sz="200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lide1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417" y="2304232"/>
            <a:ext cx="5422392" cy="34805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Put-Call Parity: A Consistency Check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For European options with the same X and maturity: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𝑃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𝑃𝑉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r>
                      <a:rPr lang="en-US">
                        <a:latin typeface="Cambria Math" panose="02040503050406030204"/>
                      </a:rPr>
                      <m:t>)−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Amazon check: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𝑃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13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98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140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02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140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11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23</m:t>
                    </m:r>
                  </m:oMath>
                </a14:m>
                <a:endParaRPr sz="2000" b="1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Matches our replicating portfolio and risk-neutral valuations exactly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Summary of two equivalent methods: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1. Replicating portfolio: find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sz="2000"/>
                  <a:t> shares + loan that replicate option payoffs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2. Risk-neutral: pretend investors are risk-neutral, discount expected payoff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sub>
                    </m:sSub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Both methods always give the same answer because they rest on the same no-arbitrage logic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The Binomial Method: Adding Realism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One step: stock takes only 2 values (unrealistic)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Solution: divide option life into many short periods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Each period: stock goes up or down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More periods = wider range of final prices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Two 3-month periods give 3 possible prices at maturity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26 weekly periods give 27 possible prices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As periods increase, distribution approaches lognormal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Work backward through the tree to find today's value</a:t>
            </a:r>
          </a:p>
        </p:txBody>
      </p:sp>
      <p:pic>
        <p:nvPicPr>
          <p:cNvPr id="5" name="Picture 4" descr="slide1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2340605"/>
            <a:ext cx="5422390" cy="34078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Two-Step Binomial: Amazon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Divide six months into two 3-month periods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Each quarter: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𝑢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𝑒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h</m:t>
                            </m:r>
                          </m:e>
                        </m:rad>
                      </m:sup>
                    </m:sSup>
                    <m:r>
                      <a:rPr lang="en-US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𝑒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258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0</m:t>
                            </m:r>
                            <m:r>
                              <a:rPr lang="en-US">
                                <a:latin typeface="Cambria Math" panose="02040503050406030204"/>
                              </a:rPr>
                              <m:t>.</m:t>
                            </m:r>
                            <m:r>
                              <a:rPr lang="en-US">
                                <a:latin typeface="Cambria Math" panose="02040503050406030204"/>
                              </a:rPr>
                              <m:t>25</m:t>
                            </m:r>
                          </m:e>
                        </m:rad>
                      </m:sup>
                    </m:sSup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1376</m:t>
                    </m:r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/</m:t>
                    </m:r>
                    <m:r>
                      <a:rPr lang="en-US">
                        <a:latin typeface="Cambria Math" panose="02040503050406030204"/>
                      </a:rPr>
                      <m:t>𝑢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8790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Stock price tree: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Now: $140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Month 3: $159.26 (up) or $123.07 (down)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Month 6: $181.18, $140, or $108.17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Option values at month 6</a:t>
                </a:r>
                <a:r>
                  <a:rPr sz="2000"/>
                  <a:t> (call with X = $140):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$181.18 → call worth $41.18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$140 → call worth $0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$108.17 → call worth $0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 t="-166" b="-215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Working Backward Through the Binomial Tree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Quarterly risk-neutral probability: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𝑝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010</m:t>
                        </m:r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879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1376</m:t>
                        </m:r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879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5063</m:t>
                    </m:r>
                  </m:oMath>
                </a14:m>
                <a:endParaRPr sz="2000" b="1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Option value at month 3 if stock = $159.26: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Expected value at month 6: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5063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41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18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4937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20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85</m:t>
                    </m:r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Discount: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20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85</m:t>
                    </m:r>
                    <m:r>
                      <a:rPr lang="en-US">
                        <a:latin typeface="Cambria Math" panose="02040503050406030204"/>
                      </a:rPr>
                      <m:t>/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01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20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64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Option value at month 3 if stock = $123.07: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Option is certainly worthless at month 6 → value = $0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Option value today: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5063</m:t>
                        </m:r>
                        <m:r>
                          <a:rPr lang="en-US">
                            <a:latin typeface="Cambria Math" panose="02040503050406030204"/>
                          </a:rPr>
                          <m:t>×</m:t>
                        </m:r>
                        <m:r>
                          <a:rPr lang="en-US">
                            <a:latin typeface="Cambria Math" panose="02040503050406030204"/>
                          </a:rPr>
                          <m:t>20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64</m:t>
                        </m:r>
                        <m:r>
                          <a:rPr lang="en-US">
                            <a:latin typeface="Cambria Math" panose="02040503050406030204"/>
                          </a:rPr>
                          <m:t>+</m:t>
                        </m:r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4937</m:t>
                        </m:r>
                        <m:r>
                          <a:rPr lang="en-US">
                            <a:latin typeface="Cambria Math" panose="02040503050406030204"/>
                          </a:rPr>
                          <m:t>×</m:t>
                        </m:r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01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10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35</m:t>
                    </m:r>
                  </m:oMath>
                </a14:m>
                <a:endParaRPr sz="2000" b="1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Calibrating the Up and Down Moves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How do we pick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𝑢</m:t>
                    </m:r>
                  </m:oMath>
                </a14:m>
                <a:r>
                  <a:rPr sz="200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</m:oMath>
                </a14:m>
                <a:r>
                  <a:rPr sz="2000"/>
                  <a:t>?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They must be consistent with the stock's volatility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Formula: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𝑢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𝑒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h</m:t>
                            </m:r>
                          </m:e>
                        </m:rad>
                      </m:sup>
                    </m:sSup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/</m:t>
                    </m:r>
                    <m:r>
                      <a:rPr lang="en-US">
                        <a:latin typeface="Cambria Math" panose="02040503050406030204"/>
                      </a:rPr>
                      <m:t>𝑢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sz="2000"/>
                  <a:t> = annualized standard deviation of returns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h</m:t>
                    </m:r>
                  </m:oMath>
                </a14:m>
                <a:r>
                  <a:rPr sz="2000"/>
                  <a:t> = length of each interval as a fraction of a year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More steps = closer to Black-Scholes value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562" b="-16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lide18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417" y="2588166"/>
            <a:ext cx="5422392" cy="29127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Binomial Method: Convergence to Black-Scholes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Amazon call (X = $140,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258</m:t>
                    </m:r>
                  </m:oMath>
                </a14:m>
                <a:r>
                  <a:rPr sz="2000"/>
                  <a:t>, 6 months):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As we increase the number of steps, the estimate converges: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1 step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𝑢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200</m:t>
                    </m:r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833</m:t>
                    </m:r>
                  </m:oMath>
                </a14:m>
                <a:r>
                  <a:rPr sz="2000"/>
                  <a:t>): option value = $13.98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2 steps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𝑢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138</m:t>
                    </m:r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879</m:t>
                    </m:r>
                  </m:oMath>
                </a14:m>
                <a:r>
                  <a:rPr sz="2000"/>
                  <a:t>): option value = $10.35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6 steps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𝑢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077</m:t>
                    </m:r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928</m:t>
                    </m:r>
                  </m:oMath>
                </a14:m>
                <a:r>
                  <a:rPr sz="2000"/>
                  <a:t>): option value = $11.09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26 steps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𝑢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036</m:t>
                    </m:r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965</m:t>
                    </m:r>
                  </m:oMath>
                </a14:m>
                <a:r>
                  <a:rPr sz="2000"/>
                  <a:t>): option value = $11.40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Black-Scholes value = $11.50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 binomial method approaches the Black-Scholes value as the number of time steps increases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In practice, 50–100 steps give excellent accuracy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American Options and the Binomial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European options: can only exercise at maturity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American options: can exercise at any time before maturity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/>
              <a:t>American calls on non-dividend-paying stocks: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Never optimal to exercise early → value = European call → use Black-Scholes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Early exercise throws away time value and the interest saved by delaying payment of X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/>
              <a:t>American puts: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Can be optimal to exercise early (e.g., if stock price drops to zero)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Exercise immediately and reinvest the exercise price at the risk-free rate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To value American options, use the binomial method and check at each node whether exercising early gives higher value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The Black-Scholes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1240" y="1967502"/>
                <a:ext cx="7546369" cy="4188342"/>
              </a:xfrm>
            </p:spPr>
            <p:txBody>
              <a:bodyPr>
                <a:normAutofit lnSpcReduction="10000"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2000" dirty="0"/>
                  <a:t>The Nobel Prize-winning formula is the binomial method taken to its limit: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800" dirty="0"/>
                  <a:t>Infinitely many infinitely short time periods → continuum of possible prices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800" dirty="0"/>
                  <a:t>Stock price changes are lognormally distributed (can’t fall below zero, can rise without limit)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lang="en-US" sz="2000" b="1" dirty="0"/>
                  <a:t>The formula: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ar-AE" sz="1800" smtClean="0">
                        <a:latin typeface="Cambria Math" panose="02040503050406030204"/>
                      </a:rPr>
                      <m:t>𝐶</m:t>
                    </m:r>
                    <m:r>
                      <a:rPr lang="ar-AE" sz="1800" smtClean="0">
                        <a:latin typeface="Cambria Math" panose="02040503050406030204"/>
                      </a:rPr>
                      <m:t>=</m:t>
                    </m:r>
                    <m:r>
                      <a:rPr lang="ar-AE" sz="1800" smtClean="0">
                        <a:latin typeface="Cambria Math" panose="02040503050406030204"/>
                      </a:rPr>
                      <m:t>𝑁</m:t>
                    </m:r>
                    <m:r>
                      <a:rPr lang="ar-AE" sz="1800" smtClean="0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ar-AE" sz="1800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ar-AE" sz="1800">
                        <a:latin typeface="Cambria Math" panose="02040503050406030204"/>
                      </a:rPr>
                      <m:t>)×</m:t>
                    </m:r>
                    <m:r>
                      <a:rPr lang="ar-AE" sz="1800">
                        <a:latin typeface="Cambria Math" panose="02040503050406030204"/>
                      </a:rPr>
                      <m:t>𝑆</m:t>
                    </m:r>
                    <m:r>
                      <a:rPr lang="ar-AE" sz="1800">
                        <a:latin typeface="Cambria Math" panose="02040503050406030204"/>
                      </a:rPr>
                      <m:t>−</m:t>
                    </m:r>
                    <m:r>
                      <a:rPr lang="ar-AE" sz="1800">
                        <a:latin typeface="Cambria Math" panose="02040503050406030204"/>
                      </a:rPr>
                      <m:t>𝑁</m:t>
                    </m:r>
                    <m:r>
                      <a:rPr lang="ar-AE" sz="1800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ar-AE" sz="1800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ar-AE" sz="1800">
                        <a:latin typeface="Cambria Math" panose="02040503050406030204"/>
                      </a:rPr>
                      <m:t>)×</m:t>
                    </m:r>
                    <m:r>
                      <a:rPr lang="ar-AE" sz="1800">
                        <a:latin typeface="Cambria Math" panose="02040503050406030204"/>
                      </a:rPr>
                      <m:t>𝑃𝑉</m:t>
                    </m:r>
                    <m:r>
                      <a:rPr lang="ar-AE" sz="1800">
                        <a:latin typeface="Cambria Math" panose="02040503050406030204"/>
                      </a:rPr>
                      <m:t>(</m:t>
                    </m:r>
                    <m:r>
                      <a:rPr lang="ar-AE" sz="1800">
                        <a:latin typeface="Cambria Math" panose="02040503050406030204"/>
                      </a:rPr>
                      <m:t>𝑋</m:t>
                    </m:r>
                    <m:r>
                      <a:rPr lang="ar-AE" sz="1800">
                        <a:latin typeface="Cambria Math" panose="02040503050406030204"/>
                      </a:rPr>
                      <m:t>)</m:t>
                    </m:r>
                  </m:oMath>
                </a14:m>
                <a:endParaRPr lang="en-SG" sz="1800" b="1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lang="en-SG" sz="2000" b="1" dirty="0"/>
                  <a:t>Interpretation as a replicating portfolio: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ar-AE" sz="1800" smtClean="0">
                        <a:latin typeface="Cambria Math" panose="02040503050406030204"/>
                      </a:rPr>
                      <m:t>𝑁</m:t>
                    </m:r>
                    <m:r>
                      <a:rPr lang="ar-AE" sz="1800" smtClean="0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ar-AE" sz="1800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ar-AE" sz="180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SG" sz="1800" dirty="0"/>
                  <a:t> = option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lang="en-US" sz="1800" dirty="0"/>
                  <a:t> (number of shares to buy)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ar-AE" sz="1800" smtClean="0">
                        <a:latin typeface="Cambria Math" panose="02040503050406030204"/>
                      </a:rPr>
                      <m:t>𝑁</m:t>
                    </m:r>
                    <m:r>
                      <a:rPr lang="ar-AE" sz="1800" smtClean="0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ar-AE" sz="1800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ar-AE" sz="1800">
                        <a:latin typeface="Cambria Math" panose="02040503050406030204"/>
                      </a:rPr>
                      <m:t>)×</m:t>
                    </m:r>
                    <m:r>
                      <a:rPr lang="ar-AE" sz="1800">
                        <a:latin typeface="Cambria Math" panose="02040503050406030204"/>
                      </a:rPr>
                      <m:t>𝑃𝑉</m:t>
                    </m:r>
                    <m:r>
                      <a:rPr lang="ar-AE" sz="1800">
                        <a:latin typeface="Cambria Math" panose="02040503050406030204"/>
                      </a:rPr>
                      <m:t>(</m:t>
                    </m:r>
                    <m:r>
                      <a:rPr lang="ar-AE" sz="1800">
                        <a:latin typeface="Cambria Math" panose="02040503050406030204"/>
                      </a:rPr>
                      <m:t>𝑋</m:t>
                    </m:r>
                    <m:r>
                      <a:rPr lang="ar-AE" sz="180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sz="1800" dirty="0"/>
                  <a:t> = amount to borrow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2000" dirty="0"/>
                  <a:t>Assumptions: lognormal returns, continuous hedging, known risk-free rate, no dividends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240" y="1967502"/>
                <a:ext cx="7546369" cy="4188342"/>
              </a:xfrm>
              <a:blipFill>
                <a:blip r:embed="rId2"/>
                <a:stretch>
                  <a:fillRect l="-8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l="8710" r="9525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:r>
                  <a:rPr sz="3000"/>
                  <a:t>Black-Scholes: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</m:oMath>
                </a14:m>
                <a:r>
                  <a:rPr sz="300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endParaRPr sz="300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71" b="-186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126210" cy="41227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 dirty="0"/>
                  <a:t>The key quantities: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/>
                          </a:rPr>
                          <m:t>ln</m:t>
                        </m:r>
                        <m:r>
                          <a:rPr lang="en-US">
                            <a:latin typeface="Cambria Math" panose="02040503050406030204"/>
                          </a:rPr>
                          <m:t>(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  <m:r>
                          <a:rPr lang="en-US">
                            <a:latin typeface="Cambria Math" panose="02040503050406030204"/>
                          </a:rPr>
                          <m:t>/</m:t>
                        </m:r>
                        <m:r>
                          <a:rPr lang="en-US">
                            <a:latin typeface="Cambria Math" panose="02040503050406030204"/>
                          </a:rPr>
                          <m:t>𝑃𝑉</m:t>
                        </m:r>
                        <m:r>
                          <a:rPr lang="en-US">
                            <a:latin typeface="Cambria Math" panose="02040503050406030204"/>
                          </a:rPr>
                          <m:t>(</m:t>
                        </m:r>
                        <m:r>
                          <a:rPr lang="en-US">
                            <a:latin typeface="Cambria Math" panose="02040503050406030204"/>
                          </a:rPr>
                          <m:t>𝑋</m:t>
                        </m:r>
                        <m:r>
                          <a:rPr lang="en-US">
                            <a:latin typeface="Cambria Math" panose="02040503050406030204"/>
                          </a:rPr>
                          <m:t>))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𝑡</m:t>
                            </m:r>
                          </m:e>
                        </m:rad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𝑡</m:t>
                            </m:r>
                          </m:e>
                        </m:rad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</m:oMath>
                </a14:m>
                <a:endParaRPr sz="2000" b="1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e>
                    </m:rad>
                  </m:oMath>
                </a14:m>
                <a:endParaRPr sz="2000" b="1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Where: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S = current stock price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X = exercise price;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𝑃𝑉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 dirty="0"/>
                  <a:t> = X discounted at risk-free rate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sz="2000" dirty="0"/>
                  <a:t> = annualized standard deviation of continuously compounded returns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 = time to maturity in years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 dirty="0"/>
                  <a:t> = cumulative standard normal distribution function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Probability that a standard normal variable is less than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</m:oMath>
                </a14:m>
                <a:endParaRPr sz="20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Easily computed in Excel: NORMSDIST(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</m:oMath>
                </a14:m>
                <a:r>
                  <a:rPr sz="2000" dirty="0"/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126210" cy="4122700"/>
              </a:xfrm>
              <a:blipFill>
                <a:blip r:embed="rId3"/>
                <a:stretch>
                  <a:fillRect l="-548" b="-118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Black-Scholes: Amazon Call Worked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Inputs:</a:t>
                </a:r>
                <a:r>
                  <a:rPr sz="2000"/>
                  <a:t> S = $140, X = $140,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258</m:t>
                    </m:r>
                  </m:oMath>
                </a14:m>
                <a:r>
                  <a:rPr sz="2000"/>
                  <a:t>, t = 0.5 years, r = 4% per annum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Step 1: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1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endParaRPr sz="2000" b="1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/>
                          </a:rPr>
                          <m:t>ln</m:t>
                        </m:r>
                        <m:r>
                          <a:rPr lang="en-US">
                            <a:latin typeface="Cambria Math" panose="02040503050406030204"/>
                          </a:rPr>
                          <m:t>(</m:t>
                        </m:r>
                        <m:r>
                          <a:rPr lang="en-US">
                            <a:latin typeface="Cambria Math" panose="02040503050406030204"/>
                          </a:rPr>
                          <m:t>140</m:t>
                        </m:r>
                        <m:r>
                          <a:rPr lang="en-US">
                            <a:latin typeface="Cambria Math" panose="02040503050406030204"/>
                          </a:rPr>
                          <m:t>/(</m:t>
                        </m:r>
                        <m:r>
                          <a:rPr lang="en-US">
                            <a:latin typeface="Cambria Math" panose="02040503050406030204"/>
                          </a:rPr>
                          <m:t>140</m:t>
                        </m:r>
                        <m:r>
                          <a:rPr lang="en-US">
                            <a:latin typeface="Cambria Math" panose="02040503050406030204"/>
                          </a:rPr>
                          <m:t>/</m:t>
                        </m:r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02</m:t>
                        </m:r>
                        <m:r>
                          <a:rPr lang="en-US">
                            <a:latin typeface="Cambria Math" panose="02040503050406030204"/>
                          </a:rPr>
                          <m:t>))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258</m:t>
                        </m:r>
                        <m:r>
                          <a:rPr lang="en-US">
                            <a:latin typeface="Cambria Math" panose="02040503050406030204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0</m:t>
                            </m:r>
                            <m:r>
                              <a:rPr lang="en-US">
                                <a:latin typeface="Cambria Math" panose="02040503050406030204"/>
                              </a:rPr>
                              <m:t>.</m:t>
                            </m:r>
                            <m:r>
                              <a:rPr lang="en-US">
                                <a:latin typeface="Cambria Math" panose="02040503050406030204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258</m:t>
                        </m:r>
                        <m:r>
                          <a:rPr lang="en-US">
                            <a:latin typeface="Cambria Math" panose="02040503050406030204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0</m:t>
                            </m:r>
                            <m:r>
                              <a:rPr lang="en-US">
                                <a:latin typeface="Cambria Math" panose="02040503050406030204"/>
                              </a:rPr>
                              <m:t>.</m:t>
                            </m:r>
                            <m:r>
                              <a:rPr lang="en-US">
                                <a:latin typeface="Cambria Math" panose="02040503050406030204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1998</m:t>
                    </m:r>
                  </m:oMath>
                </a14:m>
                <a:endParaRPr sz="2000" b="1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1998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258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  <m:r>
                          <a:rPr lang="en-US">
                            <a:latin typeface="Cambria Math" panose="02040503050406030204"/>
                          </a:rPr>
                          <m:t>.</m:t>
                        </m:r>
                        <m:r>
                          <a:rPr lang="en-US">
                            <a:latin typeface="Cambria Math" panose="02040503050406030204"/>
                          </a:rPr>
                          <m:t>5</m:t>
                        </m:r>
                      </m:e>
                    </m:rad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0175</m:t>
                    </m:r>
                  </m:oMath>
                </a14:m>
                <a:endParaRPr sz="2000" b="1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Step 2: Find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 b="1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 b="1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1998</m:t>
                    </m:r>
                    <m:r>
                      <a:rPr lang="en-US">
                        <a:latin typeface="Cambria Math" panose="02040503050406030204"/>
                      </a:rPr>
                      <m:t>)=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5792</m:t>
                    </m:r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0175</m:t>
                    </m:r>
                    <m:r>
                      <a:rPr lang="en-US">
                        <a:latin typeface="Cambria Math" panose="02040503050406030204"/>
                      </a:rPr>
                      <m:t>)=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5070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Step 3: Plug into the formula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5792</m:t>
                    </m:r>
                    <m:r>
                      <a:rPr lang="en-US">
                        <a:latin typeface="Cambria Math" panose="02040503050406030204"/>
                      </a:rPr>
                      <m:t>×</m:t>
                    </m:r>
                    <m:r>
                      <a:rPr lang="en-US">
                        <a:latin typeface="Cambria Math" panose="02040503050406030204"/>
                      </a:rPr>
                      <m:t>140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5070</m:t>
                    </m:r>
                    <m:r>
                      <a:rPr lang="en-US">
                        <a:latin typeface="Cambria Math" panose="02040503050406030204"/>
                      </a:rPr>
                      <m:t>×(</m:t>
                    </m:r>
                    <m:r>
                      <a:rPr lang="en-US">
                        <a:latin typeface="Cambria Math" panose="02040503050406030204"/>
                      </a:rPr>
                      <m:t>140</m:t>
                    </m:r>
                    <m:r>
                      <a:rPr lang="en-US">
                        <a:latin typeface="Cambria Math" panose="02040503050406030204"/>
                      </a:rPr>
                      <m:t>/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02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 b="1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81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09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69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59</m:t>
                    </m:r>
                    <m:r>
                      <a:rPr lang="en-US">
                        <a:latin typeface="Cambria Math" panose="02040503050406030204"/>
                      </a:rPr>
                      <m:t>=$</m:t>
                    </m:r>
                    <m:r>
                      <a:rPr lang="en-US">
                        <a:latin typeface="Cambria Math" panose="02040503050406030204"/>
                      </a:rPr>
                      <m:t>11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50</m:t>
                    </m:r>
                  </m:oMath>
                </a14:m>
                <a:endParaRPr sz="2000" b="1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Black-Scholes as a Replicating Portfolio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</m:oMath>
                </a14:m>
                <a:r>
                  <a:rPr sz="2000"/>
                  <a:t> = $11.50 means: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Invest $81.09 in Amazon shares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Borrow $69.59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Net cost = $11.50 = call value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As stock price changes, you must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adjust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sz="2000"/>
                  <a:t> continuously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𝛿</m:t>
                    </m:r>
                  </m:oMath>
                </a14:m>
                <a:r>
                  <a:rPr sz="2000"/>
                  <a:t> is slope of the option value curve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Close to 0 for deep OTM calls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Close to 1 for deep ITM calls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lide2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445" y="2228003"/>
            <a:ext cx="5310336" cy="363304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How Option Values Change with Inputs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Stock price (S):</a:t>
                </a:r>
                <a:r>
                  <a:rPr sz="2000"/>
                  <a:t> call value rises as S increases; the curve starts flat (OTM) and steepens toward the 45-degree line (ITM)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Volatility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sz="2000" b="1"/>
                  <a:t>):</a:t>
                </a:r>
                <a:r>
                  <a:rPr sz="2000"/>
                  <a:t> higher volatility shifts the entire option value curve upward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More volatility = larger upside potential; limited liability caps the downside at zero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Time to maturity (t):</a:t>
                </a:r>
                <a:r>
                  <a:rPr sz="2000"/>
                  <a:t> longer maturity increases value via both delayed exercise cost and greater price uncertainty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Interest rate (r):</a:t>
                </a:r>
                <a:r>
                  <a:rPr sz="2000"/>
                  <a:t> higher r reduces PV(X), increasing call value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Exercise price (X):</a:t>
                </a:r>
                <a:r>
                  <a:rPr sz="2000"/>
                  <a:t> higher X reduces call value (must pay more to exercise)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Risk of an Option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137588-E70B-486E-AFA8-21B0111C4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533078"/>
            <a:ext cx="3305175" cy="3305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05325" y="2180496"/>
                <a:ext cx="7105481" cy="4045683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SG" dirty="0"/>
                  <a:t>An option is a leveraged position in the stock → always riskier than the stock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SG" b="1" dirty="0"/>
                  <a:t>Beta of an option</a:t>
                </a:r>
                <a:r>
                  <a:rPr lang="en-SG" dirty="0"/>
                  <a:t> is the weighted average of the betas of the replicating portfolio: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/>
                          </a:rPr>
                          <m:t>𝐶</m:t>
                        </m:r>
                      </m:sub>
                    </m:sSub>
                    <m:r>
                      <a:rPr lang="ar-AE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/>
                          </a:rPr>
                          <m:t>𝛿</m:t>
                        </m:r>
                        <m:r>
                          <a:rPr lang="ar-AE">
                            <a:latin typeface="Cambria Math" panose="02040503050406030204"/>
                          </a:rPr>
                          <m:t>𝑆</m:t>
                        </m:r>
                      </m:num>
                      <m:den>
                        <m:r>
                          <a:rPr lang="ar-AE">
                            <a:latin typeface="Cambria Math" panose="02040503050406030204"/>
                          </a:rPr>
                          <m:t>𝛿</m:t>
                        </m:r>
                        <m:r>
                          <a:rPr lang="ar-AE">
                            <a:latin typeface="Cambria Math" panose="02040503050406030204"/>
                          </a:rPr>
                          <m:t>𝑆</m:t>
                        </m:r>
                        <m:r>
                          <a:rPr lang="ar-AE">
                            <a:latin typeface="Cambria Math" panose="02040503050406030204"/>
                          </a:rPr>
                          <m:t>+</m:t>
                        </m:r>
                        <m:r>
                          <a:rPr lang="ar-AE">
                            <a:latin typeface="Cambria Math" panose="02040503050406030204"/>
                          </a:rPr>
                          <m:t>𝐵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/>
                          </a:rPr>
                          <m:t>𝑆</m:t>
                        </m:r>
                      </m:sub>
                    </m:sSub>
                    <m:r>
                      <a:rPr lang="ar-AE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/>
                          </a:rPr>
                          <m:t>𝐵</m:t>
                        </m:r>
                      </m:num>
                      <m:den>
                        <m:r>
                          <a:rPr lang="ar-AE">
                            <a:latin typeface="Cambria Math" panose="02040503050406030204"/>
                          </a:rPr>
                          <m:t>𝛿</m:t>
                        </m:r>
                        <m:r>
                          <a:rPr lang="ar-AE">
                            <a:latin typeface="Cambria Math" panose="02040503050406030204"/>
                          </a:rPr>
                          <m:t>𝑆</m:t>
                        </m:r>
                        <m:r>
                          <a:rPr lang="ar-AE">
                            <a:latin typeface="Cambria Math" panose="02040503050406030204"/>
                          </a:rPr>
                          <m:t>+</m:t>
                        </m:r>
                        <m:r>
                          <a:rPr lang="ar-AE">
                            <a:latin typeface="Cambria Math" panose="02040503050406030204"/>
                          </a:rPr>
                          <m:t>𝐵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/>
                          </a:rPr>
                          <m:t>𝐵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lang="en-SG" b="1" dirty="0"/>
                  <a:t>Amazon call example: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/>
                          </a:rPr>
                          <m:t>𝑆</m:t>
                        </m:r>
                      </m:sub>
                    </m:sSub>
                    <m:r>
                      <a:rPr lang="ar-AE">
                        <a:latin typeface="Cambria Math" panose="02040503050406030204"/>
                      </a:rPr>
                      <m:t>=</m:t>
                    </m:r>
                    <m:r>
                      <a:rPr lang="ar-AE">
                        <a:latin typeface="Cambria Math" panose="02040503050406030204"/>
                      </a:rPr>
                      <m:t>1</m:t>
                    </m:r>
                    <m:r>
                      <a:rPr lang="ar-AE">
                        <a:latin typeface="Cambria Math" panose="02040503050406030204"/>
                      </a:rPr>
                      <m:t>.</m:t>
                    </m:r>
                    <m:r>
                      <a:rPr lang="ar-AE">
                        <a:latin typeface="Cambria Math" panose="02040503050406030204"/>
                      </a:rPr>
                      <m:t>2</m:t>
                    </m:r>
                  </m:oMath>
                </a14:m>
                <a:r>
                  <a:rPr lang="ar-AE" dirty="0"/>
                  <a:t>, </a:t>
                </a:r>
                <a:r>
                  <a:rPr lang="en-SG" dirty="0"/>
                  <a:t>invest $81.09 in stock, borrow $69.59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/>
                          </a:rPr>
                          <m:t>𝐵</m:t>
                        </m:r>
                      </m:sub>
                    </m:sSub>
                    <m:r>
                      <a:rPr lang="ar-AE" smtClean="0">
                        <a:latin typeface="Cambria Math" panose="02040503050406030204"/>
                      </a:rPr>
                      <m:t>=</m:t>
                    </m:r>
                    <m:r>
                      <a:rPr lang="ar-AE" smtClean="0">
                        <a:latin typeface="Cambria Math" panose="02040503050406030204"/>
                      </a:rPr>
                      <m:t>0</m:t>
                    </m:r>
                  </m:oMath>
                </a14:m>
                <a:r>
                  <a:rPr lang="en-US" dirty="0"/>
                  <a:t>)</a:t>
                </a:r>
                <a:endParaRPr lang="ar-AE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/>
                          </a:rPr>
                          <m:t>𝐶</m:t>
                        </m:r>
                      </m:sub>
                    </m:sSub>
                    <m:r>
                      <a:rPr lang="ar-AE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/>
                          </a:rPr>
                          <m:t>81</m:t>
                        </m:r>
                        <m:r>
                          <a:rPr lang="ar-AE">
                            <a:latin typeface="Cambria Math" panose="02040503050406030204"/>
                          </a:rPr>
                          <m:t>.</m:t>
                        </m:r>
                        <m:r>
                          <a:rPr lang="ar-AE">
                            <a:latin typeface="Cambria Math" panose="02040503050406030204"/>
                          </a:rPr>
                          <m:t>09</m:t>
                        </m:r>
                        <m:r>
                          <a:rPr lang="ar-AE">
                            <a:latin typeface="Cambria Math" panose="02040503050406030204"/>
                          </a:rPr>
                          <m:t>×</m:t>
                        </m:r>
                        <m:r>
                          <a:rPr lang="ar-AE">
                            <a:latin typeface="Cambria Math" panose="02040503050406030204"/>
                          </a:rPr>
                          <m:t>1</m:t>
                        </m:r>
                        <m:r>
                          <a:rPr lang="ar-AE">
                            <a:latin typeface="Cambria Math" panose="02040503050406030204"/>
                          </a:rPr>
                          <m:t>.</m:t>
                        </m:r>
                        <m:r>
                          <a:rPr lang="ar-AE">
                            <a:latin typeface="Cambria Math" panose="02040503050406030204"/>
                          </a:rPr>
                          <m:t>2</m:t>
                        </m:r>
                      </m:num>
                      <m:den>
                        <m:r>
                          <a:rPr lang="ar-AE">
                            <a:latin typeface="Cambria Math" panose="02040503050406030204"/>
                          </a:rPr>
                          <m:t>81</m:t>
                        </m:r>
                        <m:r>
                          <a:rPr lang="ar-AE">
                            <a:latin typeface="Cambria Math" panose="02040503050406030204"/>
                          </a:rPr>
                          <m:t>.</m:t>
                        </m:r>
                        <m:r>
                          <a:rPr lang="ar-AE">
                            <a:latin typeface="Cambria Math" panose="02040503050406030204"/>
                          </a:rPr>
                          <m:t>09</m:t>
                        </m:r>
                        <m:r>
                          <a:rPr lang="ar-AE">
                            <a:latin typeface="Cambria Math" panose="02040503050406030204"/>
                          </a:rPr>
                          <m:t>−</m:t>
                        </m:r>
                        <m:r>
                          <a:rPr lang="ar-AE">
                            <a:latin typeface="Cambria Math" panose="02040503050406030204"/>
                          </a:rPr>
                          <m:t>69</m:t>
                        </m:r>
                        <m:r>
                          <a:rPr lang="ar-AE">
                            <a:latin typeface="Cambria Math" panose="02040503050406030204"/>
                          </a:rPr>
                          <m:t>.</m:t>
                        </m:r>
                        <m:r>
                          <a:rPr lang="ar-AE">
                            <a:latin typeface="Cambria Math" panose="02040503050406030204"/>
                          </a:rPr>
                          <m:t>59</m:t>
                        </m:r>
                      </m:den>
                    </m:f>
                    <m:r>
                      <a:rPr lang="ar-AE">
                        <a:latin typeface="Cambria Math" panose="02040503050406030204"/>
                      </a:rPr>
                      <m:t>=</m:t>
                    </m:r>
                    <m:r>
                      <a:rPr lang="ar-AE">
                        <a:latin typeface="Cambria Math" panose="02040503050406030204"/>
                      </a:rPr>
                      <m:t>8</m:t>
                    </m:r>
                    <m:r>
                      <a:rPr lang="ar-AE">
                        <a:latin typeface="Cambria Math" panose="02040503050406030204"/>
                      </a:rPr>
                      <m:t>.</m:t>
                    </m:r>
                    <m:r>
                      <a:rPr lang="ar-AE">
                        <a:latin typeface="Cambria Math" panose="02040503050406030204"/>
                      </a:rPr>
                      <m:t>5</m:t>
                    </m:r>
                  </m:oMath>
                </a14:m>
                <a:endParaRPr lang="ar-AE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SG" dirty="0"/>
                  <a:t>The call is about 7x as risky as the stock itself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SG" dirty="0"/>
                  <a:t>Option risk changes with the stock price: deep ITM calls are less risky, OTM calls are more risky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05325" y="2180496"/>
                <a:ext cx="7105481" cy="4045683"/>
              </a:xfrm>
              <a:blipFill>
                <a:blip r:embed="rId3"/>
                <a:stretch>
                  <a:fillRect l="-6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Application 1: Executive Stock Options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Companies must report the cost of stock options granted to executives as an expense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Example:</a:t>
                </a:r>
                <a:r>
                  <a:rPr sz="2000"/>
                  <a:t> Netflix (fiscal 2022) valued its CEO’s option package at $49.4 million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Used Black-Scholes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≈</m:t>
                    </m:r>
                    <m:r>
                      <a:rPr lang="en-US">
                        <a:latin typeface="Cambria Math" panose="02040503050406030204"/>
                      </a:rPr>
                      <m:t>40</m:t>
                    </m:r>
                    <m:r>
                      <a:rPr lang="en-US">
                        <a:latin typeface="Cambria Math" panose="02040503050406030204"/>
                      </a:rPr>
                      <m:t>%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Valuing two option packages</a:t>
                </a:r>
                <a:r>
                  <a:rPr sz="2000"/>
                  <a:t> (from Ch. 21, Table 21.4):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Establishment Electronics: S = $25, X = $25,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24</m:t>
                    </m:r>
                  </m:oMath>
                </a14:m>
                <a:r>
                  <a:rPr sz="2000"/>
                  <a:t>, t = 5 years → option value = $5.26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Digital Organics: S = $25, X = $25,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.</m:t>
                    </m:r>
                    <m:r>
                      <a:rPr lang="en-US">
                        <a:latin typeface="Cambria Math" panose="02040503050406030204"/>
                      </a:rPr>
                      <m:t>36</m:t>
                    </m:r>
                  </m:oMath>
                </a14:m>
                <a:r>
                  <a:rPr sz="2000"/>
                  <a:t>, t = 5 years → option value = $7.40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 riskier company’s options are worth 40% more, despite the same stock price and exercise price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Higher volatility is valuable to the option holder because of the asymmetric payoff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Applications: Warrants and Portfolio Insurance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/>
              <a:t>Warrants</a:t>
            </a:r>
            <a:r>
              <a:rPr sz="2000"/>
              <a:t> are call options issued by the firm itself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Owens Corning (2006): issued 7-year warrants with X = $45.25 on a $30 stock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Stock needed to appreciate 50% before warrants would pay off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Warrants traded at $6 each — valued using Black-Scholes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/>
              <a:t>Portfolio insurance</a:t>
            </a:r>
            <a:r>
              <a:rPr sz="2000"/>
              <a:t> is a put option on a portfolio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Pension fund with $800M portfolio worries about a 20% decline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Bank sells a 1-year put on the market index with X at 80% of current level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Black-Scholes gives the fair price for this insurance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In both cases, Black-Scholes provides the standard valuation tool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Implied Volatility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137588-E70B-486E-AFA8-21B0111C4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533078"/>
            <a:ext cx="3305175" cy="3305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05325" y="2180496"/>
                <a:ext cx="7105481" cy="4045683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dirty="0"/>
                  <a:t>In Black-Scholes, all inputs are observable EXCEPT volatility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lang="en-SG" dirty="0"/>
                  <a:t>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SG" b="1" dirty="0"/>
                  <a:t>Implied volatility:</a:t>
                </a:r>
                <a:r>
                  <a:rPr lang="en-SG" dirty="0"/>
                  <a:t>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lang="en-US" dirty="0"/>
                  <a:t> that makes the Black-Scholes value equal the observed market price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dirty="0"/>
                  <a:t>Solve backward: given the market price, what volatility is the market assuming?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b="1" dirty="0"/>
                  <a:t>Example:</a:t>
                </a:r>
                <a:r>
                  <a:rPr lang="en-US" dirty="0"/>
                  <a:t> S&amp;P 500 at 4640, six-month ATM call priced at 210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dirty="0"/>
                  <a:t>Implied volatility ≈ 13% per year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dirty="0"/>
                  <a:t>Options traders are essentially “volatility traders”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dirty="0"/>
                  <a:t>They don’t trade on stock price direction; they trade on whether implied vol is too high or too low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dirty="0"/>
                  <a:t>The options desk is often called the “vol desk”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dirty="0"/>
                  <a:t>If you believe actual future volatility will exceed implied volatility, buy the option (and vice versa)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05325" y="2180496"/>
                <a:ext cx="7105481" cy="4045683"/>
              </a:xfrm>
              <a:blipFill>
                <a:blip r:embed="rId3"/>
                <a:stretch>
                  <a:fillRect l="-343" r="-1544" b="-4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The VIX: The Fear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VIX = implied volatility from S&amp;P 500 options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Published by the CBOE since 1986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Average VIX (1990-2023): 19.7%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Spikes during crises: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Black Monday (1987): VIX hit 150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2008 financial crisis: major spike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COVID-19 (Mar 2020): VIX reached 85%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Active trading: &gt;100,000 VIX contracts/day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Buy VIX when you expect volatility to rise</a:t>
            </a:r>
          </a:p>
        </p:txBody>
      </p:sp>
      <p:pic>
        <p:nvPicPr>
          <p:cNvPr id="4" name="Picture 3" descr="slide26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417" y="3023149"/>
            <a:ext cx="5422392" cy="20427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Dividends and Option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The option holder does NOT receive dividends paid on the underlying stock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/>
              <a:t>European calls and puts on dividend-paying stocks: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Reduce the stock price S by the PV of dividends paid before maturity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Then apply Black-Scholes with the adjusted stock price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/>
              <a:t>Example:</a:t>
            </a:r>
            <a:r>
              <a:rPr sz="2000"/>
              <a:t> if a stock pays a $2 dividend in 3 months and S = $50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Adjusted S = $50 – PV($2) ≈ $48.05 (discounting at the risk-free rate)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Same logic applies to other income the option holder misses: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Foreign currency options: deduct PV of foreign interest earned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Commodity options: deduct PV of convenience yield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American Calls on Dividend-Paying Stocks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/>
              <a:t>Without dividends:</a:t>
            </a:r>
            <a:r>
              <a:rPr sz="2000"/>
              <a:t> never exercise a call early (you throw away time value)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American call = European call → Black-Scholes works directly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/>
              <a:t>With dividends:</a:t>
            </a:r>
            <a:r>
              <a:rPr sz="2000"/>
              <a:t> early exercise CAN be optimal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By exercising just before the ex-dividend date, you capture the dividend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Worth doing if the dividend exceeds the interest saved by delaying exercise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/>
              <a:t>Decision rule at each ex-dividend date: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Exercise early if: dividend &gt; interest on X over the remaining life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Otherwise, hold the option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/>
              <a:t>Use the binomial method: check at each step whether the option is worth more dead (exercised) than alive (held)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American Puts and Early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18079"/>
            <a:ext cx="7335046" cy="3901805"/>
          </a:xfrm>
        </p:spPr>
        <p:txBody>
          <a:bodyPr>
            <a:normAutofit lnSpcReduction="10000"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It can be optimal to exercise an American put before maturity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000" b="1" dirty="0"/>
              <a:t>Extreme case:</a:t>
            </a:r>
            <a:r>
              <a:rPr lang="en-US" sz="2000" dirty="0"/>
              <a:t> stock price falls to zero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1800" dirty="0"/>
              <a:t>Put is maximally in-the-money; it cannot become more valuable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1800" dirty="0"/>
              <a:t>Exercise immediately and invest the exercise price at the risk-free rate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000" b="1" dirty="0"/>
              <a:t>General rule:</a:t>
            </a:r>
            <a:r>
              <a:rPr lang="en-US" sz="2000" dirty="0"/>
              <a:t> exercise when the stock is sufficiently below X that the interest earned on X exceeds the time value sacrificed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000" dirty="0"/>
              <a:t>An American put is always worth at least as much as a European put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1800" dirty="0"/>
              <a:t>Black-Scholes undervalues American puts (it assumes no early exercise)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1800" dirty="0"/>
              <a:t>The binomial method can properly handle early exercise by checking at each node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r="18235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Valuing European Puts via Put-Call Parity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We don’t need a separate formula for European puts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Put-call parity</a:t>
                </a:r>
                <a:r>
                  <a:rPr sz="2000"/>
                  <a:t> gives us the put value from the call value: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𝑃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𝑃𝑉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Amazon example: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=$11.50</m:t>
                    </m:r>
                  </m:oMath>
                </a14:m>
                <a:r>
                  <a:rPr sz="2000"/>
                  <a:t> (Black-Scholes),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=$140</m:t>
                    </m:r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𝑃𝑉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r>
                      <a:rPr lang="en-US">
                        <a:latin typeface="Cambria Math" panose="02040503050406030204"/>
                      </a:rPr>
                      <m:t>)=140/1.02=$137.25</m:t>
                    </m:r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𝑃</m:t>
                    </m:r>
                    <m:r>
                      <a:rPr lang="en-US">
                        <a:latin typeface="Cambria Math" panose="02040503050406030204"/>
                      </a:rPr>
                      <m:t>=11.50−140+137.25=$8.75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This works because put-call parity is a no-arbitrage relationship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It holds regardless of the option pricing model used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For American puts, use the binomial method instead (put-call parity gives only the European value)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Replicating portfolio:</a:t>
                </a:r>
                <a:r>
                  <a:rPr sz="2000"/>
                  <a:t> find the stock + loan package that matches option payoffs → its cost = option value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Risk-neutral valuation:</a:t>
                </a:r>
                <a:r>
                  <a:rPr sz="2000"/>
                  <a:t> assume investors are risk-neutral, calculate expected payoff, discount at the risk-free rate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Binomial method:</a:t>
                </a:r>
                <a:r>
                  <a:rPr sz="2000"/>
                  <a:t> divide the option’s life into many short periods; work backward from maturity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Black-Scholes formula:</a:t>
                </a:r>
                <a:r>
                  <a:rPr sz="2000"/>
                  <a:t> the limit of the binomial method as time steps approach infinity;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𝑃𝑉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Option risk:</a:t>
                </a:r>
                <a:r>
                  <a:rPr sz="2000"/>
                  <a:t> options are leveraged positions in the underlying stock → always riskier than the stock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Early exercise:</a:t>
                </a:r>
                <a:r>
                  <a:rPr sz="2000"/>
                  <a:t> never exercise American calls on non-dividend stocks; may exercise American puts early and American calls on dividend-paying stocks just before ex-dividend dates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Implied volatility:</a:t>
                </a:r>
                <a:r>
                  <a:rPr sz="2000"/>
                  <a:t> the volatility the market is pricing into the option; the VIX tracks this for the S&amp;P 500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 t="-1493" r="-166" b="-281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dirty="0"/>
              <a:t>Appendix: Deriving the Black-Scholes Formula</a:t>
            </a:r>
            <a:br>
              <a:rPr dirty="0"/>
            </a:br>
            <a:r>
              <a:rPr sz="3000" b="1" dirty="0"/>
              <a:t>(Non-Examinable)</a:t>
            </a:r>
            <a:r>
              <a:rPr lang="en-US" sz="3000" b="1" dirty="0"/>
              <a:t> </a:t>
            </a:r>
            <a:r>
              <a:rPr lang="en-US" sz="3000" dirty="0"/>
              <a:t>(See canvas for more details)</a:t>
            </a:r>
            <a:endParaRPr sz="3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A step-by-step mathematical derivation for the curious student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The Road to Black-Scholes: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/>
              <a:t>The goal:</a:t>
            </a:r>
            <a:r>
              <a:rPr sz="2000"/>
              <a:t> find the fair price of a European call option before maturity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/>
              <a:t>The strategy:</a:t>
            </a:r>
            <a:r>
              <a:rPr sz="2000"/>
              <a:t> construct a portfolio of stock + borrowing that perfectly replicates the option payoff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If two portfolios have identical payoffs, they must have the same price (no arbitrage)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/>
              <a:t>The journey in 7 steps: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1. Model how stock prices move (random walk)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2. Learn a calculus rule for functions of random variables (Itô’s Lemma)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3. Build a risk-free portfolio by combining the option with stock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4. Derive a differential equation the option price must satisfy (Black-Scholes PDE)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5. Notice that investor risk preferences disappear from the equation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6. Solve the equation using the risk-neutral trick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000"/>
              <a:t>7. Arrive at the formula and interpret 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Step 1: Modelling Stock Price Movements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Stock prices are unpredictable — we model them as a random walk in continuous time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The model:</a:t>
                </a:r>
                <a:r>
                  <a:rPr sz="2000"/>
                  <a:t> Geometric Brownian Motion (GBM)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𝑑𝑆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𝑑𝑡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In words: the percentage change in stock price over a tiny interval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𝑑𝑡</m:t>
                    </m:r>
                  </m:oMath>
                </a14:m>
                <a:r>
                  <a:rPr sz="2000"/>
                  <a:t> has two parts: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Drift:</a:t>
                </a:r>
                <a:r>
                  <a:rPr sz="200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𝑑𝑡</m:t>
                    </m:r>
                  </m:oMath>
                </a14:m>
                <a:r>
                  <a:rPr sz="2000"/>
                  <a:t> — the expected return (like gravity pulling the price upward)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Random shock:</a:t>
                </a:r>
                <a:r>
                  <a:rPr sz="200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r>
                  <a:rPr sz="2000"/>
                  <a:t> — unpredictable noise, 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r>
                  <a:rPr sz="2000"/>
                  <a:t> is a draw from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r>
                      <a:rPr lang="en-US">
                        <a:latin typeface="Cambria Math" panose="02040503050406030204"/>
                      </a:rPr>
                      <m:t>𝑑𝑡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</m:oMath>
                </a14:m>
                <a:r>
                  <a:rPr sz="2000"/>
                  <a:t> = expected return per year,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sz="2000"/>
                  <a:t> = volatility (standard deviation of annual returns)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Why geometric?</a:t>
                </a:r>
                <a:r>
                  <a:rPr sz="2000"/>
                  <a:t> Percentage changes (not dollar changes) are normally distributed, so the stock price can never go negative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Step 1 (cont.): The Wiener Process 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𝑊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sub>
                    </m:sSub>
                  </m:oMath>
                </a14:m>
                <a:r>
                  <a:rPr sz="2000" b="1"/>
                  <a:t> is a Wiener process</a:t>
                </a:r>
                <a:r>
                  <a:rPr sz="2000"/>
                  <a:t> (also called Brownian motion) — a mathematical model of pure randomness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Properties: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𝑊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</m:oMath>
                </a14:m>
                <a:r>
                  <a:rPr sz="2000"/>
                  <a:t> (starts at zero)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Increments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𝑊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  <m:r>
                          <a:rPr lang="en-US">
                            <a:latin typeface="Cambria Math" panose="02040503050406030204"/>
                          </a:rPr>
                          <m:t>+</m:t>
                        </m:r>
                        <m:r>
                          <a:rPr lang="en-US">
                            <a:latin typeface="Cambria Math" panose="02040503050406030204"/>
                          </a:rPr>
                          <m:t>𝛥</m:t>
                        </m:r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𝑊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~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r>
                      <a:rPr lang="en-US">
                        <a:latin typeface="Cambria Math" panose="02040503050406030204"/>
                      </a:rPr>
                      <m:t>𝛥</m:t>
                    </m:r>
                    <m:r>
                      <a:rPr lang="en-US">
                        <a:latin typeface="Cambria Math" panose="02040503050406030204"/>
                      </a:rPr>
                      <m:t>𝑡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(normally distributed with variance = time elapsed)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Increments over non-overlapping intervals are independent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Paths are continuous but extremely jagged (nowhere differentiable)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The increment</a:t>
                </a:r>
                <a:r>
                  <a:rPr sz="200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r>
                  <a:rPr sz="2000"/>
                  <a:t> over an infinitesimal time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𝑑𝑡</m:t>
                    </m:r>
                  </m:oMath>
                </a14:m>
                <a:r>
                  <a:rPr sz="2000"/>
                  <a:t>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𝑑𝑊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𝜖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/>
                          </a:rPr>
                          <m:t>𝑑𝑡</m:t>
                        </m:r>
                      </m:e>
                    </m:rad>
                  </m:oMath>
                </a14:m>
                <a:r>
                  <a:rPr sz="2000"/>
                  <a:t> 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𝜖</m:t>
                    </m:r>
                    <m:r>
                      <a:rPr lang="en-US">
                        <a:latin typeface="Cambria Math" panose="02040503050406030204"/>
                      </a:rPr>
                      <m:t>~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r>
                      <a:rPr lang="en-US">
                        <a:latin typeface="Cambria Math" panose="02040503050406030204"/>
                      </a:rPr>
                      <m:t>1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𝐸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𝑑𝑊</m:t>
                    </m:r>
                    <m:r>
                      <a:rPr lang="en-US">
                        <a:latin typeface="Cambria Math" panose="02040503050406030204"/>
                      </a:rPr>
                      <m:t>)=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𝐸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𝑑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𝑊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)=</m:t>
                    </m:r>
                    <m:r>
                      <a:rPr lang="en-US">
                        <a:latin typeface="Cambria Math" panose="02040503050406030204"/>
                      </a:rPr>
                      <m:t>𝑑𝑡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 key surprise: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sepChr m:val="=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/>
                          </a:rPr>
                          <m:t>𝑑𝑊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e>
                      <m:e>
                        <m:r>
                          <a:rPr lang="en-US">
                            <a:latin typeface="Cambria Math" panose="02040503050406030204"/>
                          </a:rPr>
                          <m:t>𝑑𝑡</m:t>
                        </m:r>
                      </m:e>
                    </m:d>
                  </m:oMath>
                </a14:m>
                <a:r>
                  <a:rPr sz="2000"/>
                  <a:t> (not zero!) — this is what makes stochastic calculus different from ordinary calculus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Step 2: Itô’s Lemma — Why We Need a New Chain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In ordinary calculus, if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𝑦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𝑓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𝑥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𝑥</m:t>
                    </m:r>
                  </m:oMath>
                </a14:m>
                <a:r>
                  <a:rPr sz="2000"/>
                  <a:t> changes by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𝑑𝑥</m:t>
                    </m:r>
                  </m:oMath>
                </a14:m>
                <a:r>
                  <a:rPr sz="2000"/>
                  <a:t>, then: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𝑑𝑦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′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𝑥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𝑑𝑥</m:t>
                    </m:r>
                  </m:oMath>
                </a14:m>
                <a:r>
                  <a:rPr sz="2000"/>
                  <a:t> (the chain rule — ignore higher-order terms)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But when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𝑥</m:t>
                    </m:r>
                  </m:oMath>
                </a14:m>
                <a:r>
                  <a:rPr sz="2000"/>
                  <a:t> follows a random process,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/>
                          </a:rPr>
                          <m:t>𝑑𝑥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000"/>
                  <a:t> is NOT negligible!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Because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sepChr m:val="=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/>
                          </a:rPr>
                          <m:t>𝑑𝑊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e>
                      <m:e>
                        <m:r>
                          <a:rPr lang="en-US">
                            <a:latin typeface="Cambria Math" panose="02040503050406030204"/>
                          </a:rPr>
                          <m:t>𝑑𝑡</m:t>
                        </m:r>
                      </m:e>
                    </m:d>
                  </m:oMath>
                </a14:m>
                <a:r>
                  <a:rPr sz="2000"/>
                  <a:t>, the second-order term contributes at first order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Itô’s Lemma</a:t>
                </a:r>
                <a:r>
                  <a:rPr sz="2000"/>
                  <a:t> (the stochastic chain rule):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𝑆</m:t>
                    </m:r>
                  </m:oMath>
                </a14:m>
                <a:r>
                  <a:rPr sz="2000"/>
                  <a:t> follows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𝑑𝑆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𝑆𝑑𝑡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𝑆𝑑𝑊</m:t>
                    </m:r>
                  </m:oMath>
                </a14:m>
                <a:r>
                  <a:rPr sz="200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𝑓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r>
                      <a:rPr lang="en-US">
                        <a:latin typeface="Cambria Math" panose="02040503050406030204"/>
                      </a:rPr>
                      <m:t>𝑡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is any smooth function, then: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𝑑𝑓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𝑑𝑡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𝑑𝑆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𝑑𝑆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)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Since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/>
                          </a:rPr>
                          <m:t>𝑑𝑆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𝜎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(</m:t>
                        </m:r>
                        <m:r>
                          <a:rPr lang="en-US">
                            <a:latin typeface="Cambria Math" panose="02040503050406030204"/>
                          </a:rPr>
                          <m:t>𝑑𝑊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)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𝜎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𝑑𝑡</m:t>
                        </m:r>
                      </m:e>
                    </m:d>
                  </m:oMath>
                </a14:m>
                <a:r>
                  <a:rPr sz="2000"/>
                  <a:t>, this becomes: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𝑑𝑓</m:t>
                    </m:r>
                    <m:r>
                      <a:rPr lang="en-US">
                        <a:latin typeface="Cambria Math" panose="02040503050406030204"/>
                      </a:rPr>
                      <m:t>=(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𝑑𝑡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endParaRPr sz="200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 b="-101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Step 2 (cont.): Applying Itô’s Lemma to ln(S)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Let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𝑓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ln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</m:oMath>
                </a14:m>
                <a:r>
                  <a:rPr sz="2000"/>
                  <a:t>. Compute the partial derivatives: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00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Substituting into Itô’s Lemma: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ln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𝑑𝑆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𝑑𝑡</m:t>
                    </m:r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=(</m:t>
                    </m:r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𝜎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𝑑𝑡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This is huge!</a:t>
                </a:r>
                <a:r>
                  <a:rPr sz="2000"/>
                  <a:t> Log returns follow a simple process with constant drift and constant volatility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Integrating from 0 to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𝑇</m:t>
                    </m:r>
                  </m:oMath>
                </a14:m>
                <a:r>
                  <a:rPr sz="2000"/>
                  <a:t>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ln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ln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+(</m:t>
                    </m:r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𝜎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𝑇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𝑊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𝑊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~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r>
                      <a:rPr lang="en-US">
                        <a:latin typeface="Cambria Math" panose="02040503050406030204"/>
                      </a:rPr>
                      <m:t>𝑇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, we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ln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)~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((</m:t>
                    </m:r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/</m:t>
                    </m:r>
                    <m:r>
                      <a:rPr lang="en-US">
                        <a:latin typeface="Cambria Math" panose="02040503050406030204"/>
                      </a:rPr>
                      <m:t>2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𝑇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𝑇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</m:oMath>
                </a14:m>
                <a:r>
                  <a:rPr sz="2000"/>
                  <a:t> is </a:t>
                </a:r>
                <a:r>
                  <a:rPr sz="2000" b="1"/>
                  <a:t>lognormally distributed</a:t>
                </a:r>
                <a:r>
                  <a:rPr sz="2000"/>
                  <a:t> —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/</m:t>
                    </m:r>
                    <m:r>
                      <a:rPr lang="en-US">
                        <a:latin typeface="Cambria Math" panose="02040503050406030204"/>
                      </a:rPr>
                      <m:t>2</m:t>
                    </m:r>
                  </m:oMath>
                </a14:m>
                <a:r>
                  <a:rPr sz="2000"/>
                  <a:t> correction comes from Itô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 t="-1327" b="-248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Step 3: Building a Risk-Free Portfolio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Let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r>
                      <a:rPr lang="en-US">
                        <a:latin typeface="Cambria Math" panose="02040503050406030204"/>
                      </a:rPr>
                      <m:t>𝑡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be the call option price. By Itô’s Lemma: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𝑑𝐶</m:t>
                    </m:r>
                    <m:r>
                      <a:rPr lang="en-US">
                        <a:latin typeface="Cambria Math" panose="02040503050406030204"/>
                      </a:rPr>
                      <m:t>=(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𝑑𝑡</m:t>
                    </m:r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Construct a portfolio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𝛱</m:t>
                    </m:r>
                  </m:oMath>
                </a14:m>
                <a:r>
                  <a:rPr sz="2000" b="1"/>
                  <a:t>:</a:t>
                </a:r>
                <a:r>
                  <a:rPr sz="2000"/>
                  <a:t> short 1 call, long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𝛥</m:t>
                    </m:r>
                  </m:oMath>
                </a14:m>
                <a:r>
                  <a:rPr sz="2000"/>
                  <a:t> shares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𝛱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𝛥</m:t>
                    </m:r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𝐶</m:t>
                    </m:r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𝛱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𝛥</m:t>
                    </m:r>
                    <m:r>
                      <a:rPr lang="en-US">
                        <a:latin typeface="Cambria Math" panose="02040503050406030204"/>
                      </a:rPr>
                      <m:t>𝑑𝑆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𝑑𝐶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Choose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𝛥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</m:oMath>
                </a14:m>
                <a:r>
                  <a:rPr sz="2000"/>
                  <a:t> (the option delta)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>
                      <a:rPr lang="en-US">
                        <a:latin typeface="Cambria Math" panose="02040503050406030204"/>
                      </a:rPr>
                      <m:t>𝑆𝑑𝑊</m:t>
                    </m:r>
                  </m:oMath>
                </a14:m>
                <a:r>
                  <a:rPr sz="2000"/>
                  <a:t> terms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𝑑𝑆</m:t>
                    </m:r>
                  </m:oMath>
                </a14:m>
                <a:r>
                  <a:rPr sz="200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𝑑𝐶</m:t>
                    </m:r>
                  </m:oMath>
                </a14:m>
                <a:r>
                  <a:rPr sz="2000"/>
                  <a:t> cancel perfectly!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𝛱</m:t>
                    </m:r>
                    <m:r>
                      <a:rPr lang="en-US">
                        <a:latin typeface="Cambria Math" panose="02040503050406030204"/>
                      </a:rPr>
                      <m:t>=(−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𝑑𝑡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The portfolio is risk-free</a:t>
                </a:r>
                <a:r>
                  <a:rPr sz="2000"/>
                  <a:t> — no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r>
                  <a:rPr sz="2000"/>
                  <a:t> term remains. It earns a known return over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𝑑𝑡</m:t>
                    </m:r>
                  </m:oMath>
                </a14:m>
                <a:r>
                  <a:rPr sz="200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Step 4: The Black-Scholes PDE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A risk-free portfolio must earn the risk-free rate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𝑟</m:t>
                    </m:r>
                  </m:oMath>
                </a14:m>
                <a:r>
                  <a:rPr sz="2000"/>
                  <a:t> (no arbitrage):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𝛱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𝑟</m:t>
                    </m:r>
                    <m:r>
                      <a:rPr lang="en-US">
                        <a:latin typeface="Cambria Math" panose="02040503050406030204"/>
                      </a:rPr>
                      <m:t>𝛱</m:t>
                    </m:r>
                    <m:r>
                      <a:rPr lang="en-US">
                        <a:latin typeface="Cambria Math" panose="02040503050406030204"/>
                      </a:rPr>
                      <m:t>𝑑𝑡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Substituting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𝛱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𝐶</m:t>
                    </m:r>
                  </m:oMath>
                </a14:m>
                <a:r>
                  <a:rPr sz="2000"/>
                  <a:t> and the expression 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</m:t>
                    </m:r>
                    <m:r>
                      <a:rPr lang="en-US">
                        <a:latin typeface="Cambria Math" panose="02040503050406030204"/>
                      </a:rPr>
                      <m:t>𝛱</m:t>
                    </m:r>
                  </m:oMath>
                </a14:m>
                <a:r>
                  <a:rPr sz="2000"/>
                  <a:t>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𝑟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Rearranging: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𝑟𝑆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𝑟𝐶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This is the Black-Scholes PDE</a:t>
                </a:r>
                <a:r>
                  <a:rPr sz="2000"/>
                  <a:t> — a partial differential equation that every European option must satisfy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Step 5: The Disappearing 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Look at the PDE again: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𝑟𝑆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𝑆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𝑟𝐶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</m:oMath>
                </a14:m>
                <a:r>
                  <a:rPr sz="2000" b="1"/>
                  <a:t> does not appear!</a:t>
                </a:r>
                <a:r>
                  <a:rPr sz="2000"/>
                  <a:t> The expected return on the stock has vanished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Why?</a:t>
                </a:r>
                <a:r>
                  <a:rPr sz="2000"/>
                  <a:t> Because we hedged away all the risk by holding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𝛥</m:t>
                    </m:r>
                  </m:oMath>
                </a14:m>
                <a:r>
                  <a:rPr sz="2000"/>
                  <a:t> shares against the call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 hedge eliminates the random component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r>
                  <a:rPr sz="2000"/>
                  <a:t>,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</m:oMath>
                </a14:m>
                <a:r>
                  <a:rPr sz="2000"/>
                  <a:t> only entered through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𝑑𝑊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Profound consequence:</a:t>
                </a:r>
                <a:r>
                  <a:rPr sz="2000"/>
                  <a:t> two investors who disagree about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</m:oMath>
                </a14:m>
                <a:r>
                  <a:rPr sz="2000"/>
                  <a:t> but agree on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sz="2000"/>
                  <a:t> will agree on the option price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This is equivalent to valuing the option in a </a:t>
                </a:r>
                <a:r>
                  <a:rPr sz="2000" b="1"/>
                  <a:t>risk-neutral world</a:t>
                </a:r>
                <a:r>
                  <a:rPr sz="2000"/>
                  <a:t> 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𝑟</m:t>
                    </m:r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In such a world, the expected stock return is the risk-free rate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 option price equals the discounted expected payoff under risk-neutral probabilities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This insight — that hedging makes risk preferences irrelevant — is the deepest idea in option pricing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 b="-281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Step 6: Solving the PDE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Boundary condition</a:t>
                </a:r>
                <a:r>
                  <a:rPr sz="2000"/>
                  <a:t> at maturity: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,</m:t>
                    </m:r>
                    <m:r>
                      <a:rPr lang="en-US">
                        <a:latin typeface="Cambria Math" panose="02040503050406030204"/>
                      </a:rPr>
                      <m:t>𝑇</m:t>
                    </m:r>
                    <m:r>
                      <a:rPr lang="en-US">
                        <a:latin typeface="Cambria Math" panose="02040503050406030204"/>
                      </a:rPr>
                      <m:t>)=</m:t>
                    </m:r>
                    <m:r>
                      <a:rPr lang="en-US">
                        <a:latin typeface="Cambria Math" panose="02040503050406030204"/>
                      </a:rPr>
                      <m:t>𝑚𝑎𝑥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Since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</m:oMath>
                </a14:m>
                <a:r>
                  <a:rPr sz="2000"/>
                  <a:t> is absent, we can value the option as if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𝑟</m:t>
                    </m:r>
                  </m:oMath>
                </a14:m>
                <a:r>
                  <a:rPr sz="2000"/>
                  <a:t> (risk-neutral valuation):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𝑒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r>
                          <a:rPr lang="en-US">
                            <a:latin typeface="Cambria Math" panose="02040503050406030204"/>
                          </a:rPr>
                          <m:t>𝑟𝑇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𝐸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𝑚𝑎𝑥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r>
                      <a:rPr lang="en-US">
                        <a:latin typeface="Cambria Math" panose="02040503050406030204"/>
                      </a:rPr>
                      <m:t>0</m:t>
                    </m:r>
                    <m:r>
                      <a:rPr lang="en-US">
                        <a:latin typeface="Cambria Math" panose="02040503050406030204"/>
                      </a:rPr>
                      <m:t>))</m:t>
                    </m:r>
                  </m:oMath>
                </a14:m>
                <a:endParaRPr sz="200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𝐸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</m:oMath>
                </a14:m>
                <a:r>
                  <a:rPr sz="2000"/>
                  <a:t> denotes expectation under the risk-neutral measure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Under risk-neutrality,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ln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~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/>
                      </a:rPr>
                      <m:t>ln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+(</m:t>
                    </m:r>
                    <m:r>
                      <a:rPr lang="en-US">
                        <a:latin typeface="Cambria Math" panose="02040503050406030204"/>
                      </a:rPr>
                      <m:t>𝑟</m:t>
                    </m:r>
                    <m:r>
                      <a:rPr lang="en-US">
                        <a:latin typeface="Cambria Math" panose="02040503050406030204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/</m:t>
                    </m:r>
                    <m:r>
                      <a:rPr lang="en-US">
                        <a:latin typeface="Cambria Math" panose="02040503050406030204"/>
                      </a:rPr>
                      <m:t>2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𝑇</m:t>
                    </m:r>
                    <m:r>
                      <a:rPr lang="en-US">
                        <a:latin typeface="Cambria Math" panose="02040503050406030204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𝑇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Evaluating the integral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/>
                          </a:rPr>
                          <m:t>𝑋</m:t>
                        </m:r>
                      </m:sub>
                      <m:sup>
                        <m:r>
                          <a:rPr lang="en-US">
                            <a:latin typeface="Cambria Math" panose="02040503050406030204"/>
                          </a:rPr>
                          <m:t>∞</m:t>
                        </m:r>
                      </m:sup>
                      <m:e>
                        <m:r>
                          <a:rPr lang="en-US">
                            <a:latin typeface="Cambria Math" panose="02040503050406030204"/>
                          </a:rPr>
                          <m:t>(</m:t>
                        </m:r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𝑔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  <m:r>
                      <a:rPr lang="en-US">
                        <a:latin typeface="Cambria Math" panose="02040503050406030204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sub>
                    </m:sSub>
                  </m:oMath>
                </a14:m>
                <a:r>
                  <a:rPr sz="2000"/>
                  <a:t> 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𝑔</m:t>
                    </m:r>
                  </m:oMath>
                </a14:m>
                <a:r>
                  <a:rPr sz="2000"/>
                  <a:t> is the lognormal density: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Split into two integrals, complete the square, and recognise the cumulative normal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(·)</m:t>
                    </m:r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The result: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𝐶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)−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/>
                          </a:rPr>
                          <m:t>𝑒</m:t>
                        </m:r>
                      </m:e>
                      <m:sup>
                        <m:r>
                          <a:rPr lang="en-US">
                            <a:latin typeface="Cambria Math" panose="02040503050406030204"/>
                          </a:rPr>
                          <m:t>−</m:t>
                        </m:r>
                        <m:r>
                          <a:rPr lang="en-US">
                            <a:latin typeface="Cambria Math" panose="02040503050406030204"/>
                          </a:rPr>
                          <m:t>𝑟𝑇</m:t>
                        </m:r>
                      </m:sup>
                    </m:sSup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sz="2000" b="1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Step 7: The Formula and Its Meaning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/>
                        </a:rPr>
                        <m:t>𝐶</m:t>
                      </m:r>
                      <m:r>
                        <a:rPr lang="en-US">
                          <a:latin typeface="Cambria Math" panose="02040503050406030204"/>
                        </a:rPr>
                        <m:t>=</m:t>
                      </m:r>
                      <m:r>
                        <a:rPr lang="en-US">
                          <a:latin typeface="Cambria Math" panose="02040503050406030204"/>
                        </a:rPr>
                        <m:t>𝑆</m:t>
                      </m:r>
                      <m:r>
                        <a:rPr lang="en-US">
                          <a:latin typeface="Cambria Math" panose="02040503050406030204"/>
                        </a:rPr>
                        <m:t>·</m:t>
                      </m:r>
                      <m:r>
                        <a:rPr lang="en-US">
                          <a:latin typeface="Cambria Math" panose="02040503050406030204"/>
                        </a:rPr>
                        <m:t>𝑁</m:t>
                      </m:r>
                      <m:r>
                        <a:rPr lang="en-US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/>
                        </a:rPr>
                        <m:t>)−</m:t>
                      </m:r>
                      <m:r>
                        <a:rPr lang="en-US">
                          <a:latin typeface="Cambria Math" panose="02040503050406030204"/>
                        </a:rPr>
                        <m:t>𝑃𝑉</m:t>
                      </m:r>
                      <m:r>
                        <a:rPr lang="en-US">
                          <a:latin typeface="Cambria Math" panose="02040503050406030204"/>
                        </a:rPr>
                        <m:t>(</m:t>
                      </m:r>
                      <m:r>
                        <a:rPr lang="en-US">
                          <a:latin typeface="Cambria Math" panose="02040503050406030204"/>
                        </a:rPr>
                        <m:t>𝑋</m:t>
                      </m:r>
                      <m:r>
                        <a:rPr lang="en-US">
                          <a:latin typeface="Cambria Math" panose="02040503050406030204"/>
                        </a:rPr>
                        <m:t>)·</m:t>
                      </m:r>
                      <m:r>
                        <a:rPr lang="en-US">
                          <a:latin typeface="Cambria Math" panose="02040503050406030204"/>
                        </a:rPr>
                        <m:t>𝑁</m:t>
                      </m:r>
                      <m:r>
                        <a:rPr lang="en-US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>
                              <a:latin typeface="Cambria Math" panose="02040503050406030204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/>
                          </a:rPr>
                          <m:t>ln</m:t>
                        </m:r>
                        <m:r>
                          <a:rPr lang="en-US">
                            <a:latin typeface="Cambria Math" panose="02040503050406030204"/>
                          </a:rPr>
                          <m:t>(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  <m:r>
                          <a:rPr lang="en-US">
                            <a:latin typeface="Cambria Math" panose="02040503050406030204"/>
                          </a:rPr>
                          <m:t>/</m:t>
                        </m:r>
                        <m:r>
                          <a:rPr lang="en-US">
                            <a:latin typeface="Cambria Math" panose="02040503050406030204"/>
                          </a:rPr>
                          <m:t>𝑋</m:t>
                        </m:r>
                        <m:r>
                          <a:rPr lang="en-US">
                            <a:latin typeface="Cambria Math" panose="02040503050406030204"/>
                          </a:rPr>
                          <m:t>)+(</m:t>
                        </m:r>
                        <m:r>
                          <a:rPr lang="en-US">
                            <a:latin typeface="Cambria Math" panose="02040503050406030204"/>
                          </a:rPr>
                          <m:t>𝑟</m:t>
                        </m:r>
                        <m:r>
                          <a:rPr lang="en-US">
                            <a:latin typeface="Cambria Math" panose="02040503050406030204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𝜎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/>
                          </a:rPr>
                          <m:t>/</m:t>
                        </m:r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  <m:r>
                          <a:rPr lang="en-US">
                            <a:latin typeface="Cambria Math" panose="02040503050406030204"/>
                          </a:rPr>
                          <m:t>)</m:t>
                        </m:r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𝑇</m:t>
                            </m:r>
                          </m:e>
                        </m:rad>
                      </m:den>
                    </m:f>
                  </m:oMath>
                </a14:m>
                <a:r>
                  <a:rPr sz="200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−</m:t>
                    </m:r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e>
                    </m:rad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= probability the option expires in the money (under risk-neutral measure)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𝑃𝑉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a:rPr lang="en-US">
                        <a:latin typeface="Cambria Math" panose="02040503050406030204"/>
                      </a:rPr>
                      <m:t>𝑋</m:t>
                    </m:r>
                    <m:r>
                      <a:rPr lang="en-US">
                        <a:latin typeface="Cambria Math" panose="02040503050406030204"/>
                      </a:rPr>
                      <m:t>)·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= expected present value of the exercise price payment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= probability-weighted fraction of the share you receive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𝑆</m:t>
                    </m:r>
                    <m:r>
                      <a:rPr lang="en-US">
                        <a:latin typeface="Cambria Math" panose="02040503050406030204"/>
                      </a:rPr>
                      <m:t>·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= expected present value of receiving the share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Note: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is computed under a different probability measure (share as numeraire) — this is 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endParaRPr sz="200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The difference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𝜎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/>
                          </a:rPr>
                          <m:t>𝑇</m:t>
                        </m:r>
                      </m:e>
                    </m:rad>
                  </m:oMath>
                </a14:m>
                <a:r>
                  <a:rPr sz="2000"/>
                  <a:t> captures the volatility adjustment between the two measures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/>
                  <a:t>The option delta</a:t>
                </a:r>
                <a:r>
                  <a:rPr sz="20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𝐶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𝜕</m:t>
                        </m:r>
                        <m:r>
                          <a:rPr lang="en-US">
                            <a:latin typeface="Cambria Math" panose="02040503050406030204"/>
                          </a:rPr>
                          <m:t>𝑆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r>
                      <a:rPr lang="en-US">
                        <a:latin typeface="Cambria Math" panose="02040503050406030204"/>
                      </a:rPr>
                      <m:t>𝑁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sz="2000"/>
                  <a:t> — exactly the hedge ratio we used to derive the PDE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The Big Intuition: Why Black-Scholes Works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Option pricing = replication, not forecasting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We never predict where the stock price will go — we build a portfolio that matches the option payoff in every scenario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Think of it like insurance pricing: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An insurer doesn’t predict whether your house will burn down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They calculate the cost of hedging the risk by diversifying across many policies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Similarly, Black-Scholes calculates the cost of continuously hedging the option by trading stock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The hedge eliminates all risk → risk preferences become irrelevant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A risk-averse investor and a risk-loving gambler agree on the option price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Because neither is bearing any risk — the hedge portfolio is risk-free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/>
                  <a:t>What matters is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sz="2000" b="1"/>
                  <a:t>, not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</m:oMath>
                </a14:m>
                <a:r>
                  <a:rPr sz="2000" b="1"/>
                  <a:t>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The expected return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𝜇</m:t>
                    </m:r>
                  </m:oMath>
                </a14:m>
                <a:r>
                  <a:rPr sz="2000"/>
                  <a:t> washes out through hedging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Only volatility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sz="2000"/>
                  <a:t> matters — it determines how much hedging costs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/>
                  <a:t>Higher volatility = more expensive to hedge = more valuable option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1" t="-995" b="-132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Black-Scholes: Summary of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457200" indent="-4572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sz="2000" b="1" dirty="0"/>
                  <a:t>Stock price follows GBM</a:t>
                </a:r>
                <a:r>
                  <a:rPr sz="2000" dirty="0"/>
                  <a:t> with constant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𝜎</m:t>
                    </m:r>
                  </m:oMath>
                </a14:m>
                <a:r>
                  <a:rPr sz="2000" dirty="0"/>
                  <a:t> (no jumps, constant volatility)</a:t>
                </a:r>
              </a:p>
              <a:p>
                <a:pPr marL="457200" indent="-4572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sz="2000" b="1" dirty="0"/>
                  <a:t>Continuous trading</a:t>
                </a:r>
                <a:r>
                  <a:rPr sz="2000" dirty="0"/>
                  <a:t> is possible (can rebalance the hedge at every instant)</a:t>
                </a:r>
              </a:p>
              <a:p>
                <a:pPr marL="457200" indent="-4572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sz="2000" b="1" dirty="0"/>
                  <a:t>No transaction costs</a:t>
                </a:r>
                <a:r>
                  <a:rPr sz="2000" dirty="0"/>
                  <a:t> or taxes (hedging is frictionless)</a:t>
                </a:r>
              </a:p>
              <a:p>
                <a:pPr marL="457200" indent="-4572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sz="2000" b="1" dirty="0"/>
                  <a:t>Risk-free rate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𝑟</m:t>
                    </m:r>
                  </m:oMath>
                </a14:m>
                <a:r>
                  <a:rPr sz="2000" b="1" dirty="0"/>
                  <a:t> is constant</a:t>
                </a:r>
                <a:r>
                  <a:rPr sz="2000" dirty="0"/>
                  <a:t> and borrowing/lending is unlimited</a:t>
                </a:r>
              </a:p>
              <a:p>
                <a:pPr marL="457200" indent="-4572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sz="2000" b="1" dirty="0"/>
                  <a:t>No dividends</a:t>
                </a:r>
                <a:r>
                  <a:rPr sz="2000" dirty="0"/>
                  <a:t> during the option’s life (can be relaxed with adjustments)</a:t>
                </a:r>
              </a:p>
              <a:p>
                <a:pPr marL="457200" indent="-457200">
                  <a:spcBef>
                    <a:spcPts val="200"/>
                  </a:spcBef>
                  <a:spcAft>
                    <a:spcPts val="200"/>
                  </a:spcAft>
                  <a:buFont typeface="+mj-lt"/>
                  <a:buAutoNum type="arabicPeriod"/>
                </a:pPr>
                <a:r>
                  <a:rPr sz="2000" b="1"/>
                  <a:t>European </a:t>
                </a:r>
                <a:r>
                  <a:rPr sz="2000" b="1" dirty="0"/>
                  <a:t>exercise only</a:t>
                </a:r>
                <a:r>
                  <a:rPr sz="2000" dirty="0"/>
                  <a:t> (American options require modifications)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 dirty="0"/>
                  <a:t>When assumptions fail: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Volatility is not constant → volatility smile/skew (implied vol varies by strike)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Jumps in stock prices → jump-diffusion models (Merton, 1976)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Transaction costs → hedge imperfectly, widen bid-ask spreads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Despite these limitations, Black-Scholes remains the benchmark — practitioners adjust around it rather than replacing it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3_MainContentSlideMaster">
  <a:themeElements>
    <a:clrScheme name="Custom 1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21D45154-5908-4760-96C7-F0E2BCA85E9B}" vid="{B9FDA032-B3B1-4FDF-8A44-9303BC60C76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7502</TotalTime>
  <Words>4966</Words>
  <Application>Microsoft Office PowerPoint</Application>
  <PresentationFormat>Widescreen</PresentationFormat>
  <Paragraphs>461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Cambria Math</vt:lpstr>
      <vt:lpstr>Gill Sans MT</vt:lpstr>
      <vt:lpstr>Wingdings 2</vt:lpstr>
      <vt:lpstr>Dividend</vt:lpstr>
      <vt:lpstr>3_MainContentSlideMaster</vt:lpstr>
      <vt:lpstr>Advanced Corporate Finance (LL4554V/LL5554V/LLJ5554V/LL6554V) 11. valuing options</vt:lpstr>
      <vt:lpstr>Today’s Roadmap</vt:lpstr>
      <vt:lpstr>Recap: Five Factors Driving Option Value</vt:lpstr>
      <vt:lpstr>Why Discounted Cash Flow Fails for Options</vt:lpstr>
      <vt:lpstr>A Simple One-Step Binomial Model</vt:lpstr>
      <vt:lpstr>The Replicating Portfolio Approach</vt:lpstr>
      <vt:lpstr>Option Delta (Hedge Ratio)</vt:lpstr>
      <vt:lpstr>Valuing the Amazon Call: Replicating Portfolio</vt:lpstr>
      <vt:lpstr>General Formulas for the Replicating Portfolio</vt:lpstr>
      <vt:lpstr>The Risk-Neutral Approach: Intuition</vt:lpstr>
      <vt:lpstr>Risk-Neutral Valuation: Three Steps</vt:lpstr>
      <vt:lpstr>The Risk-Neutral Probability</vt:lpstr>
      <vt:lpstr>Valuing the Amazon Put Option</vt:lpstr>
      <vt:lpstr>Put-Call Parity: A Consistency Check</vt:lpstr>
      <vt:lpstr>The Binomial Method: Adding Realism</vt:lpstr>
      <vt:lpstr>Two-Step Binomial: Amazon Example</vt:lpstr>
      <vt:lpstr>Working Backward Through the Binomial Tree</vt:lpstr>
      <vt:lpstr>Calibrating the Up and Down Moves</vt:lpstr>
      <vt:lpstr>Binomial Method: Convergence to Black-Scholes</vt:lpstr>
      <vt:lpstr>American Options and the Binomial Method</vt:lpstr>
      <vt:lpstr>The Black-Scholes Formula</vt:lpstr>
      <vt:lpstr>Black-Scholes: Computing d_1 and d_2</vt:lpstr>
      <vt:lpstr>Black-Scholes: Amazon Call Worked Example</vt:lpstr>
      <vt:lpstr>Black-Scholes as a Replicating Portfolio</vt:lpstr>
      <vt:lpstr>How Option Values Change with Inputs</vt:lpstr>
      <vt:lpstr>The Risk of an Option</vt:lpstr>
      <vt:lpstr>Application 1: Executive Stock Options</vt:lpstr>
      <vt:lpstr>Applications: Warrants and Portfolio Insurance</vt:lpstr>
      <vt:lpstr>Implied Volatility</vt:lpstr>
      <vt:lpstr>The VIX: The Fear Index</vt:lpstr>
      <vt:lpstr>Dividends and Option Valuation</vt:lpstr>
      <vt:lpstr>American Calls on Dividend-Paying Stocks</vt:lpstr>
      <vt:lpstr>American Puts and Early Exercise</vt:lpstr>
      <vt:lpstr>Valuing European Puts via Put-Call Parity</vt:lpstr>
      <vt:lpstr>Key Takeaways</vt:lpstr>
      <vt:lpstr>Appendix: Deriving the Black-Scholes Formula (Non-Examinable) (See canvas for more details)</vt:lpstr>
      <vt:lpstr>The Road to Black-Scholes: Overview</vt:lpstr>
      <vt:lpstr>Step 1: Modelling Stock Price Movements</vt:lpstr>
      <vt:lpstr>Step 1 (cont.): The Wiener Process W</vt:lpstr>
      <vt:lpstr>Step 2: Itô’s Lemma — Why We Need a New Chain Rule</vt:lpstr>
      <vt:lpstr>Step 2 (cont.): Applying Itô’s Lemma to ln(S)</vt:lpstr>
      <vt:lpstr>Step 3: Building a Risk-Free Portfolio</vt:lpstr>
      <vt:lpstr>Step 4: The Black-Scholes PDE</vt:lpstr>
      <vt:lpstr>Step 5: The Disappearing μ</vt:lpstr>
      <vt:lpstr>Step 6: Solving the PDE</vt:lpstr>
      <vt:lpstr>Step 7: The Formula and Its Meaning</vt:lpstr>
      <vt:lpstr>The Big Intuition: Why Black-Scholes Works</vt:lpstr>
      <vt:lpstr>Black-Scholes: Summary of Assumptions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Law (LC2008A) seminar 2: FOUNDATIONS OF COMPANY LAW (PART I)</dc:title>
  <dc:creator>Khoo Chian Yian Kenneth</dc:creator>
  <cp:lastModifiedBy>Kenneth Khoo</cp:lastModifiedBy>
  <cp:revision>515</cp:revision>
  <dcterms:created xsi:type="dcterms:W3CDTF">2020-08-16T02:59:54Z</dcterms:created>
  <dcterms:modified xsi:type="dcterms:W3CDTF">2026-03-20T04:15:25Z</dcterms:modified>
</cp:coreProperties>
</file>